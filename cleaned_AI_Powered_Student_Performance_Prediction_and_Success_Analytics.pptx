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10-10.svg" ContentType="image/svg+xml"/>
  <Override PartName="/ppt/media/image-10-12.svg" ContentType="image/svg+xml"/>
  <Override PartName="/ppt/media/image-10-2.svg" ContentType="image/svg+xml"/>
  <Override PartName="/ppt/media/image-10-4.svg" ContentType="image/svg+xml"/>
  <Override PartName="/ppt/media/image-10-6.svg" ContentType="image/svg+xml"/>
  <Override PartName="/ppt/media/image-10-8.svg" ContentType="image/svg+xml"/>
  <Override PartName="/ppt/media/image-4-2.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true" autoCompressPictures="0" embedTrueTypeFonts="true">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1695" cy="6858000"/>
  <p:notesSz cx="6858000" cy="12191695"/>
  <p:embeddedFontLst>
    <p:embeddedFont>
      <p:font typeface="Noto Sans Bold"/>
      <p:regular r:id="rId201314"/>
    </p:embeddedFont>
    <p:embeddedFont>
      <p:font typeface="Noto Sans"/>
      <p:regular r:id="rId201315"/>
    </p:embeddedFont>
    <p:embeddedFont>
      <p:font typeface="Noto Sans Medium"/>
      <p:regular r:id="rId201316"/>
    </p:embeddedFont>
    <p:embeddedFont>
      <p:font typeface="Sora Medium"/>
      <p:regular r:id="rId201317"/>
    </p:embeddedFont>
    <p:embeddedFont>
      <p:font typeface="Sora"/>
      <p:regular r:id="rId201318"/>
    </p:embeddedFont>
    <p:embeddedFont>
      <p:font typeface="Sora Bold"/>
      <p:regular r:id="rId201319"/>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 Id="rId201314" Type="http://schemas.openxmlformats.org/officeDocument/2006/relationships/font" Target="fonts/201314.fntdata"/><Relationship Id="rId201315" Type="http://schemas.openxmlformats.org/officeDocument/2006/relationships/font" Target="fonts/201315.fntdata"/><Relationship Id="rId201316" Type="http://schemas.openxmlformats.org/officeDocument/2006/relationships/font" Target="fonts/201316.fntdata"/><Relationship Id="rId201317" Type="http://schemas.openxmlformats.org/officeDocument/2006/relationships/font" Target="fonts/201317.fntdata"/><Relationship Id="rId201318" Type="http://schemas.openxmlformats.org/officeDocument/2006/relationships/font" Target="fonts/201318.fntdata"/><Relationship Id="rId201319" Type="http://schemas.openxmlformats.org/officeDocument/2006/relationships/font" Target="fonts/201319.fntdata"/><Relationship Id="rId201320" Type="http://schemas.openxmlformats.org/officeDocument/2006/relationships/font" Target="fonts/201320.fntdata"/><Relationship Id="rId201321" Type="http://schemas.openxmlformats.org/officeDocument/2006/relationships/font" Target="fonts/201321.fntdata"/><Relationship Id="rId201322" Type="http://schemas.openxmlformats.org/officeDocument/2006/relationships/font" Target="fonts/201322.fntdata"/><Relationship Id="rId201323" Type="http://schemas.openxmlformats.org/officeDocument/2006/relationships/font" Target="fonts/201323.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jpeg"/><Relationship Id="rId2" Type="http://schemas.openxmlformats.org/officeDocument/2006/relationships/image" Target="../media/image-1002-2.png"/><Relationship Id="rId3" Type="http://schemas.openxmlformats.org/officeDocument/2006/relationships/hyperlink" Target="https://gamma.app/?utm_source=made-with-gamma" TargetMode="External"/><Relationship Id="rId4"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bg>
      <p:bgPr>
        <a:solidFill>
          <a:srgbClr val="000000"/>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07070C"/>
          </a:solidFill>
          <a:ln/>
        </p:spPr>
        <p:txBody>
          <a:body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svg"/><Relationship Id="rId3" Type="http://schemas.openxmlformats.org/officeDocument/2006/relationships/image" Target="../media/image-4-1.png"/><Relationship Id="rId4" Type="http://schemas.openxmlformats.org/officeDocument/2006/relationships/image" Target="../media/image-4-2.svg"/><Relationship Id="rId5" Type="http://schemas.openxmlformats.org/officeDocument/2006/relationships/image" Target="../media/image-4-1.png"/><Relationship Id="rId6" Type="http://schemas.openxmlformats.org/officeDocument/2006/relationships/image" Target="../media/image-4-2.svg"/><Relationship Id="rId7" Type="http://schemas.openxmlformats.org/officeDocument/2006/relationships/image" Target="../media/image-4-1.png"/><Relationship Id="rId8" Type="http://schemas.openxmlformats.org/officeDocument/2006/relationships/image" Target="../media/image-4-2.svg"/><Relationship Id="rId9" Type="http://schemas.openxmlformats.org/officeDocument/2006/relationships/image" Target="../media/image-4-1.png"/><Relationship Id="rId10" Type="http://schemas.openxmlformats.org/officeDocument/2006/relationships/image" Target="../media/image-4-2.svg"/><Relationship Id="rId11" Type="http://schemas.openxmlformats.org/officeDocument/2006/relationships/slideLayout" Target="../slideLayouts/slideLayout2.xml"/><Relationship Id="rId1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svg"/><Relationship Id="rId3" Type="http://schemas.openxmlformats.org/officeDocument/2006/relationships/image" Target="../media/image-10-3.png"/><Relationship Id="rId4" Type="http://schemas.openxmlformats.org/officeDocument/2006/relationships/image" Target="../media/image-10-4.svg"/><Relationship Id="rId5" Type="http://schemas.openxmlformats.org/officeDocument/2006/relationships/image" Target="../media/image-10-5.png"/><Relationship Id="rId6" Type="http://schemas.openxmlformats.org/officeDocument/2006/relationships/image" Target="../media/image-10-6.svg"/><Relationship Id="rId7" Type="http://schemas.openxmlformats.org/officeDocument/2006/relationships/image" Target="../media/image-10-7.png"/><Relationship Id="rId8" Type="http://schemas.openxmlformats.org/officeDocument/2006/relationships/image" Target="../media/image-10-8.svg"/><Relationship Id="rId9" Type="http://schemas.openxmlformats.org/officeDocument/2006/relationships/image" Target="../media/image-10-9.png"/><Relationship Id="rId10" Type="http://schemas.openxmlformats.org/officeDocument/2006/relationships/image" Target="../media/image-10-10.svg"/><Relationship Id="rId11" Type="http://schemas.openxmlformats.org/officeDocument/2006/relationships/image" Target="../media/image-10-11.png"/><Relationship Id="rId12" Type="http://schemas.openxmlformats.org/officeDocument/2006/relationships/image" Target="../media/image-10-12.svg"/><Relationship Id="rId13" Type="http://schemas.openxmlformats.org/officeDocument/2006/relationships/image" Target="../media/image-10-13.png"/><Relationship Id="rId14" Type="http://schemas.openxmlformats.org/officeDocument/2006/relationships/slideLayout" Target="../slideLayouts/slideLayout2.xml"/><Relationship Id="rId15"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61475" y="1431826"/>
            <a:ext cx="10868745" cy="1181298"/>
          </a:xfrm>
          <a:prstGeom prst="rect">
            <a:avLst/>
          </a:prstGeom>
          <a:noFill/>
          <a:ln/>
        </p:spPr>
        <p:txBody>
          <a:bodyPr wrap="square" lIns="0" tIns="0" rIns="0" bIns="0" rtlCol="0" anchor="t">
            <a:normAutofit/>
          </a:bodyPr>
          <a:lstStyle/>
          <a:p>
            <a:pPr algn="l" indent="0" marL="0">
              <a:lnSpc>
                <a:spcPct val="104000"/>
              </a:lnSpc>
              <a:buNone/>
            </a:pPr>
            <a:r>
              <a:rPr lang="en-US" sz="3700" dirty="0">
                <a:solidFill>
                  <a:srgbClr val="97B8FF"/>
                </a:solidFill>
                <a:latin typeface="Sora Medium" pitchFamily="34" charset="0"/>
                <a:ea typeface="Sora Medium" pitchFamily="34" charset="-122"/>
                <a:cs typeface="Sora Medium" pitchFamily="34" charset="-120"/>
              </a:rPr>
              <a:t>AI-Powered Student Performance Prediction and Success Analytics System</a:t>
            </a:r>
            <a:endParaRPr lang="en-US" sz="3700" dirty="0"/>
          </a:p>
        </p:txBody>
      </p:sp>
      <p:sp>
        <p:nvSpPr>
          <p:cNvPr id="3" name="Text 1"/>
          <p:cNvSpPr/>
          <p:nvPr/>
        </p:nvSpPr>
        <p:spPr>
          <a:xfrm>
            <a:off x="661475" y="2991148"/>
            <a:ext cx="11478330" cy="302419"/>
          </a:xfrm>
          <a:prstGeom prst="rect">
            <a:avLst/>
          </a:prstGeom>
          <a:noFill/>
          <a:ln/>
        </p:spPr>
        <p:txBody>
          <a:bodyPr wrap="none" lIns="0" tIns="0" rIns="0" bIns="0" rtlCol="0" anchor="t"/>
          <a:lstStyle/>
          <a:p>
            <a:pPr algn="l" indent="0" marL="0">
              <a:lnSpc>
                <a:spcPct val="133000"/>
              </a:lnSpc>
              <a:buNone/>
            </a:pPr>
            <a:r>
              <a:rPr lang="en-US" sz="1450" dirty="0">
                <a:solidFill>
                  <a:srgbClr val="E0D6DE"/>
                </a:solidFill>
                <a:latin typeface="Noto Sans" pitchFamily="34" charset="0"/>
                <a:ea typeface="Noto Sans" pitchFamily="34" charset="-122"/>
                <a:cs typeface="Noto Sans" pitchFamily="34" charset="-120"/>
              </a:rPr>
              <a:t>Using Explainable Machine Learning and MLOps</a:t>
            </a:r>
            <a:endParaRPr lang="en-US" sz="1450" dirty="0"/>
          </a:p>
        </p:txBody>
      </p:sp>
      <p:sp>
        <p:nvSpPr>
          <p:cNvPr id="4" name="Shape 2"/>
          <p:cNvSpPr/>
          <p:nvPr/>
        </p:nvSpPr>
        <p:spPr>
          <a:xfrm>
            <a:off x="661475" y="3553420"/>
            <a:ext cx="10868745" cy="25400"/>
          </a:xfrm>
          <a:prstGeom prst="roundRect">
            <a:avLst>
              <a:gd name="adj" fmla="val 49999"/>
            </a:avLst>
          </a:prstGeom>
          <a:solidFill>
            <a:srgbClr val="E0D6DE">
              <a:alpha val="50000"/>
            </a:srgbClr>
          </a:solidFill>
          <a:ln/>
        </p:spPr>
        <p:txBody>
          <a:bodyPr/>
          <a:p/>
        </p:txBody>
      </p:sp>
      <p:sp>
        <p:nvSpPr>
          <p:cNvPr id="5" name="Text 3"/>
          <p:cNvSpPr/>
          <p:nvPr/>
        </p:nvSpPr>
        <p:spPr>
          <a:xfrm>
            <a:off x="661475" y="4008735"/>
            <a:ext cx="5203794" cy="1077317"/>
          </a:xfrm>
          <a:prstGeom prst="rect">
            <a:avLst/>
          </a:prstGeom>
          <a:noFill/>
          <a:ln/>
        </p:spPr>
        <p:txBody>
          <a:bodyPr wrap="square" lIns="0" tIns="0" rIns="0" bIns="0" rtlCol="0" anchor="t">
            <a:normAutofit/>
          </a:bodyPr>
          <a:lstStyle/>
          <a:p>
            <a:pPr algn="l" indent="0" marL="0">
              <a:lnSpc>
                <a:spcPct val="133000"/>
              </a:lnSpc>
              <a:spcAft>
                <a:spcPts val="1300"/>
              </a:spcAft>
              <a:buNone/>
            </a:pPr>
            <a:r>
              <a:rPr lang="en-US" sz="1450" b="1" dirty="0">
                <a:solidFill>
                  <a:srgbClr val="E0D6DE"/>
                </a:solidFill>
                <a:latin typeface="Noto Sans Bold" pitchFamily="34" charset="0"/>
                <a:ea typeface="Noto Sans Bold" pitchFamily="34" charset="-122"/>
                <a:cs typeface="Noto Sans Bold" pitchFamily="34" charset="-120"/>
              </a:rPr>
              <a:t>Team Members :  M Ruchee - Oddiraju Sridhruthi -  </a:t>
            </a:r>
            <a:pPr algn="l" indent="0" marL="0">
              <a:lnSpc>
                <a:spcPct val="133000"/>
              </a:lnSpc>
              <a:spcAft>
                <a:spcPts val="1300"/>
              </a:spcAft>
              <a:buNone/>
            </a:pPr>
            <a:r>
              <a:rPr lang="en-US" sz="1450" dirty="0">
                <a:solidFill>
                  <a:srgbClr val="E0D6DE"/>
                </a:solidFill>
                <a:latin typeface="Noto Sans" pitchFamily="34" charset="0"/>
                <a:ea typeface="Noto Sans" pitchFamily="34" charset="-122"/>
                <a:cs typeface="Noto Sans" pitchFamily="34" charset="-120"/>
              </a:rPr>
              <a:t>K.Poojasri Reddy</a:t>
            </a:r>
            <a:endParaRPr lang="en-US" sz="1450" dirty="0"/>
          </a:p>
          <a:p>
            <a:pPr algn="l" indent="0" marL="0">
              <a:lnSpc>
                <a:spcPct val="133000"/>
              </a:lnSpc>
              <a:buNone/>
            </a:pPr>
            <a:r>
              <a:rPr lang="en-US" sz="1450" b="1" dirty="0">
                <a:solidFill>
                  <a:srgbClr val="E0D6DE"/>
                </a:solidFill>
                <a:latin typeface="Noto Sans Bold" pitchFamily="34" charset="0"/>
                <a:ea typeface="Noto Sans Bold" pitchFamily="34" charset="-122"/>
                <a:cs typeface="Noto Sans Bold" pitchFamily="34" charset="-120"/>
              </a:rPr>
              <a:t>Department:</a:t>
            </a:r>
            <a:pPr algn="l" indent="0" marL="0">
              <a:lnSpc>
                <a:spcPct val="133000"/>
              </a:lnSpc>
              <a:buNone/>
            </a:pPr>
            <a:r>
              <a:rPr lang="en-US" sz="1450" dirty="0">
                <a:solidFill>
                  <a:srgbClr val="E0D6DE"/>
                </a:solidFill>
                <a:latin typeface="Noto Sans" pitchFamily="34" charset="0"/>
                <a:ea typeface="Noto Sans" pitchFamily="34" charset="-122"/>
                <a:cs typeface="Noto Sans" pitchFamily="34" charset="-120"/>
              </a:rPr>
              <a:t> Computer Science &amp; Engineering</a:t>
            </a:r>
            <a:endParaRPr lang="en-US" sz="1450" dirty="0"/>
          </a:p>
        </p:txBody>
      </p:sp>
      <p:sp>
        <p:nvSpPr>
          <p:cNvPr id="6" name="Text 4"/>
          <p:cNvSpPr/>
          <p:nvPr/>
        </p:nvSpPr>
        <p:spPr>
          <a:xfrm>
            <a:off x="6332776" y="4008735"/>
            <a:ext cx="5203794" cy="1247378"/>
          </a:xfrm>
          <a:prstGeom prst="rect">
            <a:avLst/>
          </a:prstGeom>
          <a:noFill/>
          <a:ln/>
        </p:spPr>
        <p:txBody>
          <a:bodyPr wrap="square" lIns="0" tIns="0" rIns="0" bIns="0" rtlCol="0" anchor="t"/>
          <a:lstStyle/>
          <a:p>
            <a:pPr algn="l" indent="0" marL="0">
              <a:lnSpc>
                <a:spcPct val="133000"/>
              </a:lnSpc>
              <a:spcAft>
                <a:spcPts val="1300"/>
              </a:spcAft>
              <a:buNone/>
            </a:pPr>
            <a:r>
              <a:rPr lang="en-US" sz="1450" b="1" dirty="0">
                <a:solidFill>
                  <a:srgbClr val="E0D6DE"/>
                </a:solidFill>
                <a:latin typeface="Noto Sans Bold" pitchFamily="34" charset="0"/>
                <a:ea typeface="Noto Sans Bold" pitchFamily="34" charset="-122"/>
                <a:cs typeface="Noto Sans Bold" pitchFamily="34" charset="-120"/>
              </a:rPr>
              <a:t>Guide Name:</a:t>
            </a:r>
            <a:pPr algn="l" indent="0" marL="0">
              <a:lnSpc>
                <a:spcPct val="133000"/>
              </a:lnSpc>
              <a:spcAft>
                <a:spcPts val="1300"/>
              </a:spcAft>
              <a:buNone/>
            </a:pPr>
            <a:r>
              <a:rPr lang="en-US" sz="1450" dirty="0">
                <a:solidFill>
                  <a:srgbClr val="E0D6DE"/>
                </a:solidFill>
                <a:latin typeface="Noto Sans" pitchFamily="34" charset="0"/>
                <a:ea typeface="Noto Sans" pitchFamily="34" charset="-122"/>
                <a:cs typeface="Noto Sans" pitchFamily="34" charset="-120"/>
              </a:rPr>
              <a:t> Dr. Sushama Dutta</a:t>
            </a:r>
            <a:endParaRPr lang="en-US" sz="1450" dirty="0"/>
          </a:p>
          <a:p>
            <a:pPr algn="l" indent="0" marL="0">
              <a:lnSpc>
                <a:spcPct val="133000"/>
              </a:lnSpc>
              <a:spcAft>
                <a:spcPts val="1300"/>
              </a:spcAft>
              <a:buNone/>
            </a:pPr>
            <a:r>
              <a:rPr lang="en-US" sz="1450" b="1" dirty="0">
                <a:solidFill>
                  <a:srgbClr val="E0D6DE"/>
                </a:solidFill>
                <a:latin typeface="Noto Sans Bold" pitchFamily="34" charset="0"/>
                <a:ea typeface="Noto Sans Bold" pitchFamily="34" charset="-122"/>
                <a:cs typeface="Noto Sans Bold" pitchFamily="34" charset="-120"/>
              </a:rPr>
              <a:t>University:</a:t>
            </a:r>
            <a:pPr algn="l" indent="0" marL="0">
              <a:lnSpc>
                <a:spcPct val="133000"/>
              </a:lnSpc>
              <a:spcAft>
                <a:spcPts val="1300"/>
              </a:spcAft>
              <a:buNone/>
            </a:pPr>
            <a:r>
              <a:rPr lang="en-US" sz="1450" dirty="0">
                <a:solidFill>
                  <a:srgbClr val="E0D6DE"/>
                </a:solidFill>
                <a:latin typeface="Noto Sans" pitchFamily="34" charset="0"/>
                <a:ea typeface="Noto Sans" pitchFamily="34" charset="-122"/>
                <a:cs typeface="Noto Sans" pitchFamily="34" charset="-120"/>
              </a:rPr>
              <a:t> KLH University</a:t>
            </a:r>
            <a:endParaRPr lang="en-US" sz="1450" dirty="0"/>
          </a:p>
          <a:p>
            <a:pPr algn="l" indent="0" marL="0">
              <a:lnSpc>
                <a:spcPct val="133000"/>
              </a:lnSpc>
              <a:buNone/>
            </a:pPr>
            <a:r>
              <a:rPr lang="en-US" sz="1450" b="1" dirty="0">
                <a:solidFill>
                  <a:srgbClr val="E0D6DE"/>
                </a:solidFill>
                <a:latin typeface="Noto Sans Bold" pitchFamily="34" charset="0"/>
                <a:ea typeface="Noto Sans Bold" pitchFamily="34" charset="-122"/>
                <a:cs typeface="Noto Sans Bold" pitchFamily="34" charset="-120"/>
              </a:rPr>
              <a:t>Academic Year:</a:t>
            </a:r>
            <a:pPr algn="l" indent="0" marL="0">
              <a:lnSpc>
                <a:spcPct val="133000"/>
              </a:lnSpc>
              <a:buNone/>
            </a:pPr>
            <a:r>
              <a:rPr lang="en-US" sz="1450" dirty="0">
                <a:solidFill>
                  <a:srgbClr val="E0D6DE"/>
                </a:solidFill>
                <a:latin typeface="Noto Sans" pitchFamily="34" charset="0"/>
                <a:ea typeface="Noto Sans" pitchFamily="34" charset="-122"/>
                <a:cs typeface="Noto Sans" pitchFamily="34" charset="-120"/>
              </a:rPr>
              <a:t> 2025 - 2029</a:t>
            </a:r>
            <a:endParaRPr lang="en-US" sz="14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661475" y="1539478"/>
            <a:ext cx="1625956" cy="287139"/>
          </a:xfrm>
          <a:prstGeom prst="roundRect">
            <a:avLst>
              <a:gd name="adj" fmla="val 7899"/>
            </a:avLst>
          </a:prstGeom>
          <a:noFill/>
          <a:ln w="6350">
            <a:solidFill>
              <a:srgbClr val="97B8FF"/>
            </a:solidFill>
            <a:prstDash val="solid"/>
          </a:ln>
        </p:spPr>
        <p:txBody>
          <a:bodyPr/>
          <a:p/>
        </p:txBody>
      </p:sp>
      <p:sp>
        <p:nvSpPr>
          <p:cNvPr id="3" name="Text 1"/>
          <p:cNvSpPr/>
          <p:nvPr/>
        </p:nvSpPr>
        <p:spPr>
          <a:xfrm>
            <a:off x="774879" y="1596132"/>
            <a:ext cx="2008733" cy="173831"/>
          </a:xfrm>
          <a:prstGeom prst="rect">
            <a:avLst/>
          </a:prstGeom>
          <a:noFill/>
          <a:ln/>
        </p:spPr>
        <p:txBody>
          <a:bodyPr wrap="none" lIns="0" tIns="0" rIns="0" bIns="0" rtlCol="0" anchor="t"/>
          <a:lstStyle/>
          <a:p>
            <a:pPr algn="l" indent="0" marL="0">
              <a:lnSpc>
                <a:spcPct val="96000"/>
              </a:lnSpc>
              <a:buNone/>
            </a:pPr>
            <a:r>
              <a:rPr lang="en-US" sz="1150" dirty="0">
                <a:solidFill>
                  <a:srgbClr val="97B8FF"/>
                </a:solidFill>
                <a:latin typeface="Noto Sans" pitchFamily="34" charset="0"/>
                <a:ea typeface="Noto Sans" pitchFamily="34" charset="-122"/>
                <a:cs typeface="Noto Sans" pitchFamily="34" charset="-120"/>
              </a:rPr>
              <a:t>PROJECT OVERVIEW</a:t>
            </a:r>
            <a:endParaRPr lang="en-US" sz="1150" dirty="0"/>
          </a:p>
        </p:txBody>
      </p:sp>
      <p:sp>
        <p:nvSpPr>
          <p:cNvPr id="4" name="Text 2"/>
          <p:cNvSpPr/>
          <p:nvPr/>
        </p:nvSpPr>
        <p:spPr>
          <a:xfrm>
            <a:off x="661475" y="1902222"/>
            <a:ext cx="10868745" cy="590649"/>
          </a:xfrm>
          <a:prstGeom prst="rect">
            <a:avLst/>
          </a:prstGeom>
          <a:noFill/>
          <a:ln/>
        </p:spPr>
        <p:txBody>
          <a:bodyPr wrap="none" lIns="0" tIns="0" rIns="0" bIns="0" rtlCol="0" anchor="t"/>
          <a:lstStyle/>
          <a:p>
            <a:pPr algn="l" indent="0" marL="0">
              <a:lnSpc>
                <a:spcPct val="104000"/>
              </a:lnSpc>
              <a:buNone/>
            </a:pPr>
            <a:r>
              <a:rPr lang="en-US" sz="3700" dirty="0">
                <a:solidFill>
                  <a:srgbClr val="97B8FF"/>
                </a:solidFill>
                <a:latin typeface="Sora Medium" pitchFamily="34" charset="0"/>
                <a:ea typeface="Sora Medium" pitchFamily="34" charset="-122"/>
                <a:cs typeface="Sora Medium" pitchFamily="34" charset="-120"/>
              </a:rPr>
              <a:t>Abstract</a:t>
            </a:r>
            <a:endParaRPr lang="en-US" sz="3700" dirty="0"/>
          </a:p>
        </p:txBody>
      </p:sp>
      <p:sp>
        <p:nvSpPr>
          <p:cNvPr id="5" name="Text 3"/>
          <p:cNvSpPr/>
          <p:nvPr/>
        </p:nvSpPr>
        <p:spPr>
          <a:xfrm>
            <a:off x="944936" y="2988965"/>
            <a:ext cx="10585284" cy="2116931"/>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E0D6DE"/>
                </a:solidFill>
                <a:latin typeface="Noto Sans" pitchFamily="34" charset="0"/>
                <a:ea typeface="Noto Sans" pitchFamily="34" charset="-122"/>
                <a:cs typeface="Noto Sans" pitchFamily="34" charset="-120"/>
              </a:rPr>
              <a:t>This project is an </a:t>
            </a:r>
            <a:pPr algn="l" indent="0" marL="0">
              <a:lnSpc>
                <a:spcPct val="133000"/>
              </a:lnSpc>
              <a:buNone/>
            </a:pPr>
            <a:r>
              <a:rPr lang="en-US" sz="1450" b="1" dirty="0">
                <a:solidFill>
                  <a:srgbClr val="E0D6DE"/>
                </a:solidFill>
                <a:latin typeface="Noto Sans Bold" pitchFamily="34" charset="0"/>
                <a:ea typeface="Noto Sans Bold" pitchFamily="34" charset="-122"/>
                <a:cs typeface="Noto Sans Bold" pitchFamily="34" charset="-120"/>
              </a:rPr>
              <a:t>AI-based Student Performance Prediction System</a:t>
            </a:r>
            <a:pPr algn="l" indent="0" marL="0">
              <a:lnSpc>
                <a:spcPct val="133000"/>
              </a:lnSpc>
              <a:buNone/>
            </a:pPr>
            <a:r>
              <a:rPr lang="en-US" sz="1450" dirty="0">
                <a:solidFill>
                  <a:srgbClr val="E0D6DE"/>
                </a:solidFill>
                <a:latin typeface="Noto Sans" pitchFamily="34" charset="0"/>
                <a:ea typeface="Noto Sans" pitchFamily="34" charset="-122"/>
                <a:cs typeface="Noto Sans" pitchFamily="34" charset="-120"/>
              </a:rPr>
              <a:t>. It predicts how well a student will perform by using details like </a:t>
            </a:r>
            <a:pPr algn="l" indent="0" marL="0">
              <a:lnSpc>
                <a:spcPct val="133000"/>
              </a:lnSpc>
              <a:buNone/>
            </a:pPr>
            <a:r>
              <a:rPr lang="en-US" sz="1450" b="1" dirty="0">
                <a:solidFill>
                  <a:srgbClr val="E0D6DE"/>
                </a:solidFill>
                <a:latin typeface="Noto Sans Bold" pitchFamily="34" charset="0"/>
                <a:ea typeface="Noto Sans Bold" pitchFamily="34" charset="-122"/>
                <a:cs typeface="Noto Sans Bold" pitchFamily="34" charset="-120"/>
              </a:rPr>
              <a:t>attendance, internal marks, assignment scores, CGPA, study hours, communication skills and project participation</a:t>
            </a:r>
            <a:pPr algn="l" indent="0" marL="0">
              <a:lnSpc>
                <a:spcPct val="133000"/>
              </a:lnSpc>
              <a:buNone/>
            </a:pPr>
            <a:r>
              <a:rPr lang="en-US" sz="1450" dirty="0">
                <a:solidFill>
                  <a:srgbClr val="E0D6DE"/>
                </a:solidFill>
                <a:latin typeface="Noto Sans" pitchFamily="34" charset="0"/>
                <a:ea typeface="Noto Sans" pitchFamily="34" charset="-122"/>
                <a:cs typeface="Noto Sans" pitchFamily="34" charset="-120"/>
              </a:rPr>
              <a:t>. The system uses </a:t>
            </a:r>
            <a:pPr algn="l" indent="0" marL="0">
              <a:lnSpc>
                <a:spcPct val="133000"/>
              </a:lnSpc>
              <a:buNone/>
            </a:pPr>
            <a:r>
              <a:rPr lang="en-US" sz="1450" b="1" dirty="0">
                <a:solidFill>
                  <a:srgbClr val="E0D6DE"/>
                </a:solidFill>
                <a:latin typeface="Noto Sans Bold" pitchFamily="34" charset="0"/>
                <a:ea typeface="Noto Sans Bold" pitchFamily="34" charset="-122"/>
                <a:cs typeface="Noto Sans Bold" pitchFamily="34" charset="-120"/>
              </a:rPr>
              <a:t>Machine Learning</a:t>
            </a:r>
            <a:pPr algn="l" indent="0" marL="0">
              <a:lnSpc>
                <a:spcPct val="133000"/>
              </a:lnSpc>
              <a:buNone/>
            </a:pPr>
            <a:r>
              <a:rPr lang="en-US" sz="1450" dirty="0">
                <a:solidFill>
                  <a:srgbClr val="E0D6DE"/>
                </a:solidFill>
                <a:latin typeface="Noto Sans" pitchFamily="34" charset="0"/>
                <a:ea typeface="Noto Sans" pitchFamily="34" charset="-122"/>
                <a:cs typeface="Noto Sans" pitchFamily="34" charset="-120"/>
              </a:rPr>
              <a:t> to make accurate predictions. It also uses </a:t>
            </a:r>
            <a:pPr algn="l" indent="0" marL="0">
              <a:lnSpc>
                <a:spcPct val="133000"/>
              </a:lnSpc>
              <a:buNone/>
            </a:pPr>
            <a:r>
              <a:rPr lang="en-US" sz="1450" b="1" dirty="0">
                <a:solidFill>
                  <a:srgbClr val="E0D6DE"/>
                </a:solidFill>
                <a:latin typeface="Noto Sans Bold" pitchFamily="34" charset="0"/>
                <a:ea typeface="Noto Sans Bold" pitchFamily="34" charset="-122"/>
                <a:cs typeface="Noto Sans Bold" pitchFamily="34" charset="-120"/>
              </a:rPr>
              <a:t>Explainable AI (XAI)</a:t>
            </a:r>
            <a:pPr algn="l" indent="0" marL="0">
              <a:lnSpc>
                <a:spcPct val="133000"/>
              </a:lnSpc>
              <a:buNone/>
            </a:pPr>
            <a:r>
              <a:rPr lang="en-US" sz="1450" dirty="0">
                <a:solidFill>
                  <a:srgbClr val="E0D6DE"/>
                </a:solidFill>
                <a:latin typeface="Noto Sans" pitchFamily="34" charset="0"/>
                <a:ea typeface="Noto Sans" pitchFamily="34" charset="-122"/>
                <a:cs typeface="Noto Sans" pitchFamily="34" charset="-120"/>
              </a:rPr>
              <a:t>, which shows the reasons behind each prediction so that teachers can understand the results easily. A </a:t>
            </a:r>
            <a:pPr algn="l" indent="0" marL="0">
              <a:lnSpc>
                <a:spcPct val="133000"/>
              </a:lnSpc>
              <a:buNone/>
            </a:pPr>
            <a:r>
              <a:rPr lang="en-US" sz="1450" b="1" dirty="0">
                <a:solidFill>
                  <a:srgbClr val="E0D6DE"/>
                </a:solidFill>
                <a:latin typeface="Noto Sans Bold" pitchFamily="34" charset="0"/>
                <a:ea typeface="Noto Sans Bold" pitchFamily="34" charset="-122"/>
                <a:cs typeface="Noto Sans Bold" pitchFamily="34" charset="-120"/>
              </a:rPr>
              <a:t>FastAPI</a:t>
            </a:r>
            <a:pPr algn="l" indent="0" marL="0">
              <a:lnSpc>
                <a:spcPct val="133000"/>
              </a:lnSpc>
              <a:buNone/>
            </a:pPr>
            <a:r>
              <a:rPr lang="en-US" sz="1450" dirty="0">
                <a:solidFill>
                  <a:srgbClr val="E0D6DE"/>
                </a:solidFill>
                <a:latin typeface="Noto Sans" pitchFamily="34" charset="0"/>
                <a:ea typeface="Noto Sans" pitchFamily="34" charset="-122"/>
                <a:cs typeface="Noto Sans" pitchFamily="34" charset="-120"/>
              </a:rPr>
              <a:t> is used to make the system available in real time, and </a:t>
            </a:r>
            <a:pPr algn="l" indent="0" marL="0">
              <a:lnSpc>
                <a:spcPct val="133000"/>
              </a:lnSpc>
              <a:buNone/>
            </a:pPr>
            <a:r>
              <a:rPr lang="en-US" sz="1450" b="1" dirty="0">
                <a:solidFill>
                  <a:srgbClr val="E0D6DE"/>
                </a:solidFill>
                <a:latin typeface="Noto Sans Bold" pitchFamily="34" charset="0"/>
                <a:ea typeface="Noto Sans Bold" pitchFamily="34" charset="-122"/>
                <a:cs typeface="Noto Sans Bold" pitchFamily="34" charset="-120"/>
              </a:rPr>
              <a:t>MLOps</a:t>
            </a:r>
            <a:pPr algn="l" indent="0" marL="0">
              <a:lnSpc>
                <a:spcPct val="133000"/>
              </a:lnSpc>
              <a:buNone/>
            </a:pPr>
            <a:r>
              <a:rPr lang="en-US" sz="1450" dirty="0">
                <a:solidFill>
                  <a:srgbClr val="E0D6DE"/>
                </a:solidFill>
                <a:latin typeface="Noto Sans" pitchFamily="34" charset="0"/>
                <a:ea typeface="Noto Sans" pitchFamily="34" charset="-122"/>
                <a:cs typeface="Noto Sans" pitchFamily="34" charset="-120"/>
              </a:rPr>
              <a:t> automatically checks if the model is still working well and retrains it when needed. This helps colleges identify students who may need extra support, give them personalized suggestions, and reduce dropout rates by taking action early.</a:t>
            </a:r>
            <a:endParaRPr lang="en-US" sz="1450" dirty="0"/>
          </a:p>
        </p:txBody>
      </p:sp>
      <p:sp>
        <p:nvSpPr>
          <p:cNvPr id="6" name="Shape 4"/>
          <p:cNvSpPr/>
          <p:nvPr/>
        </p:nvSpPr>
        <p:spPr>
          <a:xfrm>
            <a:off x="661475" y="2776339"/>
            <a:ext cx="25399" cy="2542183"/>
          </a:xfrm>
          <a:prstGeom prst="roundRect">
            <a:avLst>
              <a:gd name="adj" fmla="val 50001"/>
            </a:avLst>
          </a:prstGeom>
          <a:solidFill>
            <a:srgbClr val="97B8FF"/>
          </a:solidFill>
          <a:ln/>
        </p:spPr>
        <p:txBody>
          <a:body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661475" y="948432"/>
            <a:ext cx="1412542" cy="243979"/>
          </a:xfrm>
          <a:prstGeom prst="roundRect">
            <a:avLst>
              <a:gd name="adj" fmla="val 7902"/>
            </a:avLst>
          </a:prstGeom>
          <a:noFill/>
          <a:ln w="6350">
            <a:solidFill>
              <a:srgbClr val="97B8FF"/>
            </a:solidFill>
            <a:prstDash val="solid"/>
          </a:ln>
        </p:spPr>
        <p:txBody>
          <a:bodyPr/>
          <a:p/>
        </p:txBody>
      </p:sp>
      <p:sp>
        <p:nvSpPr>
          <p:cNvPr id="3" name="Text 1"/>
          <p:cNvSpPr/>
          <p:nvPr/>
        </p:nvSpPr>
        <p:spPr>
          <a:xfrm>
            <a:off x="757814" y="996553"/>
            <a:ext cx="1829449" cy="147737"/>
          </a:xfrm>
          <a:prstGeom prst="rect">
            <a:avLst/>
          </a:prstGeom>
          <a:noFill/>
          <a:ln/>
        </p:spPr>
        <p:txBody>
          <a:bodyPr wrap="none" lIns="0" tIns="0" rIns="0" bIns="0" rtlCol="0" anchor="t"/>
          <a:lstStyle/>
          <a:p>
            <a:pPr algn="l" indent="0" marL="0">
              <a:lnSpc>
                <a:spcPct val="96000"/>
              </a:lnSpc>
              <a:buNone/>
            </a:pPr>
            <a:r>
              <a:rPr lang="en-US" sz="1000" dirty="0">
                <a:solidFill>
                  <a:srgbClr val="97B8FF"/>
                </a:solidFill>
                <a:latin typeface="Noto Sans" pitchFamily="34" charset="0"/>
                <a:ea typeface="Noto Sans" pitchFamily="34" charset="-122"/>
                <a:cs typeface="Noto Sans" pitchFamily="34" charset="-120"/>
              </a:rPr>
              <a:t>LITERATURE REVIEW</a:t>
            </a:r>
            <a:endParaRPr lang="en-US" sz="1000" dirty="0"/>
          </a:p>
        </p:txBody>
      </p:sp>
      <p:sp>
        <p:nvSpPr>
          <p:cNvPr id="4" name="Text 2"/>
          <p:cNvSpPr/>
          <p:nvPr/>
        </p:nvSpPr>
        <p:spPr>
          <a:xfrm>
            <a:off x="661475" y="1246981"/>
            <a:ext cx="10868745" cy="502047"/>
          </a:xfrm>
          <a:prstGeom prst="rect">
            <a:avLst/>
          </a:prstGeom>
          <a:noFill/>
          <a:ln/>
        </p:spPr>
        <p:txBody>
          <a:bodyPr wrap="none" lIns="0" tIns="0" rIns="0" bIns="0" rtlCol="0" anchor="t"/>
          <a:lstStyle/>
          <a:p>
            <a:pPr algn="l" indent="0" marL="0">
              <a:lnSpc>
                <a:spcPct val="104000"/>
              </a:lnSpc>
              <a:buNone/>
            </a:pPr>
            <a:r>
              <a:rPr lang="en-US" sz="3150" dirty="0">
                <a:solidFill>
                  <a:srgbClr val="97B8FF"/>
                </a:solidFill>
                <a:latin typeface="Sora Medium" pitchFamily="34" charset="0"/>
                <a:ea typeface="Sora Medium" pitchFamily="34" charset="-122"/>
                <a:cs typeface="Sora Medium" pitchFamily="34" charset="-120"/>
              </a:rPr>
              <a:t>Recent Research Papers (2022–2026)</a:t>
            </a:r>
            <a:endParaRPr lang="en-US" sz="3150" dirty="0"/>
          </a:p>
        </p:txBody>
      </p:sp>
      <p:sp>
        <p:nvSpPr>
          <p:cNvPr id="5" name="Shape 3"/>
          <p:cNvSpPr/>
          <p:nvPr/>
        </p:nvSpPr>
        <p:spPr>
          <a:xfrm>
            <a:off x="661475" y="1953816"/>
            <a:ext cx="10868745" cy="3955653"/>
          </a:xfrm>
          <a:prstGeom prst="roundRect">
            <a:avLst>
              <a:gd name="adj" fmla="val 609"/>
            </a:avLst>
          </a:prstGeom>
          <a:noFill/>
          <a:ln w="6350">
            <a:solidFill>
              <a:srgbClr val="FFFFFF">
                <a:alpha val="24000"/>
              </a:srgbClr>
            </a:solidFill>
            <a:prstDash val="solid"/>
          </a:ln>
        </p:spPr>
        <p:txBody>
          <a:bodyPr/>
          <a:p/>
        </p:txBody>
      </p:sp>
      <p:sp>
        <p:nvSpPr>
          <p:cNvPr id="6" name="Shape 4"/>
          <p:cNvSpPr/>
          <p:nvPr/>
        </p:nvSpPr>
        <p:spPr>
          <a:xfrm>
            <a:off x="661475" y="2377480"/>
            <a:ext cx="10868745" cy="10042"/>
          </a:xfrm>
          <a:prstGeom prst="rect">
            <a:avLst/>
          </a:prstGeom>
          <a:solidFill>
            <a:srgbClr val="FFFFFF">
              <a:alpha val="24000"/>
            </a:srgbClr>
          </a:solidFill>
          <a:ln/>
        </p:spPr>
        <p:txBody>
          <a:bodyPr/>
          <a:p/>
        </p:txBody>
      </p:sp>
      <p:sp>
        <p:nvSpPr>
          <p:cNvPr id="7" name="Shape 5"/>
          <p:cNvSpPr/>
          <p:nvPr/>
        </p:nvSpPr>
        <p:spPr>
          <a:xfrm>
            <a:off x="661475" y="3035697"/>
            <a:ext cx="10868745" cy="10042"/>
          </a:xfrm>
          <a:prstGeom prst="rect">
            <a:avLst/>
          </a:prstGeom>
          <a:solidFill>
            <a:srgbClr val="FFFFFF">
              <a:alpha val="24000"/>
            </a:srgbClr>
          </a:solidFill>
          <a:ln/>
        </p:spPr>
        <p:txBody>
          <a:bodyPr/>
          <a:p/>
        </p:txBody>
      </p:sp>
      <p:sp>
        <p:nvSpPr>
          <p:cNvPr id="8" name="Shape 6"/>
          <p:cNvSpPr/>
          <p:nvPr/>
        </p:nvSpPr>
        <p:spPr>
          <a:xfrm>
            <a:off x="661475" y="3693914"/>
            <a:ext cx="10868745" cy="10042"/>
          </a:xfrm>
          <a:prstGeom prst="rect">
            <a:avLst/>
          </a:prstGeom>
          <a:solidFill>
            <a:srgbClr val="FFFFFF">
              <a:alpha val="24000"/>
            </a:srgbClr>
          </a:solidFill>
          <a:ln/>
        </p:spPr>
        <p:txBody>
          <a:bodyPr/>
          <a:p/>
        </p:txBody>
      </p:sp>
      <p:sp>
        <p:nvSpPr>
          <p:cNvPr id="9" name="Shape 7"/>
          <p:cNvSpPr/>
          <p:nvPr/>
        </p:nvSpPr>
        <p:spPr>
          <a:xfrm>
            <a:off x="661475" y="4589859"/>
            <a:ext cx="10868745" cy="10042"/>
          </a:xfrm>
          <a:prstGeom prst="rect">
            <a:avLst/>
          </a:prstGeom>
          <a:solidFill>
            <a:srgbClr val="FFFFFF">
              <a:alpha val="24000"/>
            </a:srgbClr>
          </a:solidFill>
          <a:ln/>
        </p:spPr>
        <p:txBody>
          <a:bodyPr/>
          <a:p/>
        </p:txBody>
      </p:sp>
      <p:sp>
        <p:nvSpPr>
          <p:cNvPr id="10" name="Shape 8"/>
          <p:cNvSpPr/>
          <p:nvPr/>
        </p:nvSpPr>
        <p:spPr>
          <a:xfrm>
            <a:off x="661475" y="5248077"/>
            <a:ext cx="10868745" cy="10042"/>
          </a:xfrm>
          <a:prstGeom prst="rect">
            <a:avLst/>
          </a:prstGeom>
          <a:solidFill>
            <a:srgbClr val="FFFFFF">
              <a:alpha val="24000"/>
            </a:srgbClr>
          </a:solidFill>
          <a:ln/>
        </p:spPr>
        <p:txBody>
          <a:bodyPr/>
          <a:p/>
        </p:txBody>
      </p:sp>
      <p:sp>
        <p:nvSpPr>
          <p:cNvPr id="11" name="Shape 9"/>
          <p:cNvSpPr/>
          <p:nvPr/>
        </p:nvSpPr>
        <p:spPr>
          <a:xfrm>
            <a:off x="1210935" y="1953816"/>
            <a:ext cx="10042" cy="3955653"/>
          </a:xfrm>
          <a:prstGeom prst="rect">
            <a:avLst/>
          </a:prstGeom>
          <a:solidFill>
            <a:srgbClr val="FFFFFF">
              <a:alpha val="24000"/>
            </a:srgbClr>
          </a:solidFill>
          <a:ln/>
        </p:spPr>
        <p:txBody>
          <a:bodyPr/>
          <a:p/>
        </p:txBody>
      </p:sp>
      <p:sp>
        <p:nvSpPr>
          <p:cNvPr id="12" name="Shape 10"/>
          <p:cNvSpPr/>
          <p:nvPr/>
        </p:nvSpPr>
        <p:spPr>
          <a:xfrm>
            <a:off x="3599169" y="1953816"/>
            <a:ext cx="10042" cy="3955653"/>
          </a:xfrm>
          <a:prstGeom prst="rect">
            <a:avLst/>
          </a:prstGeom>
          <a:solidFill>
            <a:srgbClr val="FFFFFF">
              <a:alpha val="24000"/>
            </a:srgbClr>
          </a:solidFill>
          <a:ln/>
        </p:spPr>
        <p:txBody>
          <a:bodyPr/>
          <a:p/>
        </p:txBody>
      </p:sp>
      <p:sp>
        <p:nvSpPr>
          <p:cNvPr id="13" name="Shape 11"/>
          <p:cNvSpPr/>
          <p:nvPr/>
        </p:nvSpPr>
        <p:spPr>
          <a:xfrm>
            <a:off x="5010422" y="1953816"/>
            <a:ext cx="10042" cy="3955653"/>
          </a:xfrm>
          <a:prstGeom prst="rect">
            <a:avLst/>
          </a:prstGeom>
          <a:solidFill>
            <a:srgbClr val="FFFFFF">
              <a:alpha val="24000"/>
            </a:srgbClr>
          </a:solidFill>
          <a:ln/>
        </p:spPr>
        <p:txBody>
          <a:bodyPr/>
          <a:p/>
        </p:txBody>
      </p:sp>
      <p:sp>
        <p:nvSpPr>
          <p:cNvPr id="14" name="Shape 12"/>
          <p:cNvSpPr/>
          <p:nvPr/>
        </p:nvSpPr>
        <p:spPr>
          <a:xfrm>
            <a:off x="5770319" y="1953816"/>
            <a:ext cx="10042" cy="3955653"/>
          </a:xfrm>
          <a:prstGeom prst="rect">
            <a:avLst/>
          </a:prstGeom>
          <a:solidFill>
            <a:srgbClr val="FFFFFF">
              <a:alpha val="24000"/>
            </a:srgbClr>
          </a:solidFill>
          <a:ln/>
        </p:spPr>
        <p:txBody>
          <a:bodyPr/>
          <a:p/>
        </p:txBody>
      </p:sp>
      <p:sp>
        <p:nvSpPr>
          <p:cNvPr id="15" name="Shape 13"/>
          <p:cNvSpPr/>
          <p:nvPr/>
        </p:nvSpPr>
        <p:spPr>
          <a:xfrm>
            <a:off x="7181571" y="1953816"/>
            <a:ext cx="10042" cy="3955653"/>
          </a:xfrm>
          <a:prstGeom prst="rect">
            <a:avLst/>
          </a:prstGeom>
          <a:solidFill>
            <a:srgbClr val="FFFFFF">
              <a:alpha val="24000"/>
            </a:srgbClr>
          </a:solidFill>
          <a:ln/>
        </p:spPr>
        <p:txBody>
          <a:bodyPr/>
          <a:p/>
        </p:txBody>
      </p:sp>
      <p:sp>
        <p:nvSpPr>
          <p:cNvPr id="16" name="Shape 14"/>
          <p:cNvSpPr/>
          <p:nvPr/>
        </p:nvSpPr>
        <p:spPr>
          <a:xfrm>
            <a:off x="8592823" y="1953816"/>
            <a:ext cx="10042" cy="3955653"/>
          </a:xfrm>
          <a:prstGeom prst="rect">
            <a:avLst/>
          </a:prstGeom>
          <a:solidFill>
            <a:srgbClr val="FFFFFF">
              <a:alpha val="24000"/>
            </a:srgbClr>
          </a:solidFill>
          <a:ln/>
        </p:spPr>
        <p:txBody>
          <a:bodyPr/>
          <a:p/>
        </p:txBody>
      </p:sp>
      <p:sp>
        <p:nvSpPr>
          <p:cNvPr id="17" name="Text 15"/>
          <p:cNvSpPr/>
          <p:nvPr/>
        </p:nvSpPr>
        <p:spPr>
          <a:xfrm>
            <a:off x="828853" y="2048371"/>
            <a:ext cx="827861" cy="237728"/>
          </a:xfrm>
          <a:prstGeom prst="rect">
            <a:avLst/>
          </a:prstGeom>
          <a:noFill/>
          <a:ln/>
        </p:spPr>
        <p:txBody>
          <a:bodyPr wrap="none" lIns="0" tIns="0" rIns="0" bIns="0" rtlCol="0" anchor="t"/>
          <a:lstStyle/>
          <a:p>
            <a:pPr algn="l" indent="0" marL="0">
              <a:lnSpc>
                <a:spcPct val="123000"/>
              </a:lnSpc>
              <a:buNone/>
            </a:pPr>
            <a:r>
              <a:rPr lang="en-US" sz="1250" b="1" dirty="0">
                <a:solidFill>
                  <a:srgbClr val="E0D6DE"/>
                </a:solidFill>
                <a:latin typeface="Noto Sans Bold" pitchFamily="34" charset="0"/>
                <a:ea typeface="Noto Sans Bold" pitchFamily="34" charset="-122"/>
                <a:cs typeface="Noto Sans Bold" pitchFamily="34" charset="-120"/>
              </a:rPr>
              <a:t>#</a:t>
            </a:r>
            <a:endParaRPr lang="en-US" sz="1250" dirty="0"/>
          </a:p>
        </p:txBody>
      </p:sp>
      <p:sp>
        <p:nvSpPr>
          <p:cNvPr id="18" name="Text 16"/>
          <p:cNvSpPr/>
          <p:nvPr/>
        </p:nvSpPr>
        <p:spPr>
          <a:xfrm>
            <a:off x="1374741" y="2048371"/>
            <a:ext cx="2670207" cy="237728"/>
          </a:xfrm>
          <a:prstGeom prst="rect">
            <a:avLst/>
          </a:prstGeom>
          <a:noFill/>
          <a:ln/>
        </p:spPr>
        <p:txBody>
          <a:bodyPr wrap="none" lIns="0" tIns="0" rIns="0" bIns="0" rtlCol="0" anchor="t"/>
          <a:lstStyle/>
          <a:p>
            <a:pPr algn="l" indent="0" marL="0">
              <a:lnSpc>
                <a:spcPct val="123000"/>
              </a:lnSpc>
              <a:buNone/>
            </a:pPr>
            <a:r>
              <a:rPr lang="en-US" sz="1250" b="1" dirty="0">
                <a:solidFill>
                  <a:srgbClr val="E0D6DE"/>
                </a:solidFill>
                <a:latin typeface="Noto Sans Bold" pitchFamily="34" charset="0"/>
                <a:ea typeface="Noto Sans Bold" pitchFamily="34" charset="-122"/>
                <a:cs typeface="Noto Sans Bold" pitchFamily="34" charset="-120"/>
              </a:rPr>
              <a:t>Paper Title</a:t>
            </a:r>
            <a:endParaRPr lang="en-US" sz="1250" dirty="0"/>
          </a:p>
        </p:txBody>
      </p:sp>
      <p:sp>
        <p:nvSpPr>
          <p:cNvPr id="19" name="Text 17"/>
          <p:cNvSpPr/>
          <p:nvPr/>
        </p:nvSpPr>
        <p:spPr>
          <a:xfrm>
            <a:off x="3762975" y="2048371"/>
            <a:ext cx="1693225" cy="237728"/>
          </a:xfrm>
          <a:prstGeom prst="rect">
            <a:avLst/>
          </a:prstGeom>
          <a:noFill/>
          <a:ln/>
        </p:spPr>
        <p:txBody>
          <a:bodyPr wrap="none" lIns="0" tIns="0" rIns="0" bIns="0" rtlCol="0" anchor="t"/>
          <a:lstStyle/>
          <a:p>
            <a:pPr algn="l" indent="0" marL="0">
              <a:lnSpc>
                <a:spcPct val="123000"/>
              </a:lnSpc>
              <a:buNone/>
            </a:pPr>
            <a:r>
              <a:rPr lang="en-US" sz="1250" b="1" dirty="0">
                <a:solidFill>
                  <a:srgbClr val="E0D6DE"/>
                </a:solidFill>
                <a:latin typeface="Noto Sans Bold" pitchFamily="34" charset="0"/>
                <a:ea typeface="Noto Sans Bold" pitchFamily="34" charset="-122"/>
                <a:cs typeface="Noto Sans Bold" pitchFamily="34" charset="-120"/>
              </a:rPr>
              <a:t>Authors</a:t>
            </a:r>
            <a:endParaRPr lang="en-US" sz="1250" dirty="0"/>
          </a:p>
        </p:txBody>
      </p:sp>
      <p:sp>
        <p:nvSpPr>
          <p:cNvPr id="20" name="Text 18"/>
          <p:cNvSpPr/>
          <p:nvPr/>
        </p:nvSpPr>
        <p:spPr>
          <a:xfrm>
            <a:off x="5174228" y="2048371"/>
            <a:ext cx="1041870" cy="237728"/>
          </a:xfrm>
          <a:prstGeom prst="rect">
            <a:avLst/>
          </a:prstGeom>
          <a:noFill/>
          <a:ln/>
        </p:spPr>
        <p:txBody>
          <a:bodyPr wrap="none" lIns="0" tIns="0" rIns="0" bIns="0" rtlCol="0" anchor="t"/>
          <a:lstStyle/>
          <a:p>
            <a:pPr algn="l" indent="0" marL="0">
              <a:lnSpc>
                <a:spcPct val="123000"/>
              </a:lnSpc>
              <a:buNone/>
            </a:pPr>
            <a:r>
              <a:rPr lang="en-US" sz="1250" b="1" dirty="0">
                <a:solidFill>
                  <a:srgbClr val="E0D6DE"/>
                </a:solidFill>
                <a:latin typeface="Noto Sans Bold" pitchFamily="34" charset="0"/>
                <a:ea typeface="Noto Sans Bold" pitchFamily="34" charset="-122"/>
                <a:cs typeface="Noto Sans Bold" pitchFamily="34" charset="-120"/>
              </a:rPr>
              <a:t>Year</a:t>
            </a:r>
            <a:endParaRPr lang="en-US" sz="1250" dirty="0"/>
          </a:p>
        </p:txBody>
      </p:sp>
      <p:sp>
        <p:nvSpPr>
          <p:cNvPr id="21" name="Text 19"/>
          <p:cNvSpPr/>
          <p:nvPr/>
        </p:nvSpPr>
        <p:spPr>
          <a:xfrm>
            <a:off x="5934125" y="2048371"/>
            <a:ext cx="1693225" cy="237728"/>
          </a:xfrm>
          <a:prstGeom prst="rect">
            <a:avLst/>
          </a:prstGeom>
          <a:noFill/>
          <a:ln/>
        </p:spPr>
        <p:txBody>
          <a:bodyPr wrap="none" lIns="0" tIns="0" rIns="0" bIns="0" rtlCol="0" anchor="t"/>
          <a:lstStyle/>
          <a:p>
            <a:pPr algn="l" indent="0" marL="0">
              <a:lnSpc>
                <a:spcPct val="123000"/>
              </a:lnSpc>
              <a:buNone/>
            </a:pPr>
            <a:r>
              <a:rPr lang="en-US" sz="1250" b="1" dirty="0">
                <a:solidFill>
                  <a:srgbClr val="E0D6DE"/>
                </a:solidFill>
                <a:latin typeface="Noto Sans Bold" pitchFamily="34" charset="0"/>
                <a:ea typeface="Noto Sans Bold" pitchFamily="34" charset="-122"/>
                <a:cs typeface="Noto Sans Bold" pitchFamily="34" charset="-120"/>
              </a:rPr>
              <a:t>Methodology</a:t>
            </a:r>
            <a:endParaRPr lang="en-US" sz="1250" dirty="0"/>
          </a:p>
        </p:txBody>
      </p:sp>
      <p:sp>
        <p:nvSpPr>
          <p:cNvPr id="22" name="Text 20"/>
          <p:cNvSpPr/>
          <p:nvPr/>
        </p:nvSpPr>
        <p:spPr>
          <a:xfrm>
            <a:off x="7345377" y="2048371"/>
            <a:ext cx="1693225" cy="237728"/>
          </a:xfrm>
          <a:prstGeom prst="rect">
            <a:avLst/>
          </a:prstGeom>
          <a:noFill/>
          <a:ln/>
        </p:spPr>
        <p:txBody>
          <a:bodyPr wrap="none" lIns="0" tIns="0" rIns="0" bIns="0" rtlCol="0" anchor="t"/>
          <a:lstStyle/>
          <a:p>
            <a:pPr algn="l" indent="0" marL="0">
              <a:lnSpc>
                <a:spcPct val="123000"/>
              </a:lnSpc>
              <a:buNone/>
            </a:pPr>
            <a:r>
              <a:rPr lang="en-US" sz="1250" b="1" dirty="0">
                <a:solidFill>
                  <a:srgbClr val="E0D6DE"/>
                </a:solidFill>
                <a:latin typeface="Noto Sans Bold" pitchFamily="34" charset="0"/>
                <a:ea typeface="Noto Sans Bold" pitchFamily="34" charset="-122"/>
                <a:cs typeface="Noto Sans Bold" pitchFamily="34" charset="-120"/>
              </a:rPr>
              <a:t>Algorithm</a:t>
            </a:r>
            <a:endParaRPr lang="en-US" sz="1250" dirty="0"/>
          </a:p>
        </p:txBody>
      </p:sp>
      <p:sp>
        <p:nvSpPr>
          <p:cNvPr id="23" name="Text 21"/>
          <p:cNvSpPr/>
          <p:nvPr/>
        </p:nvSpPr>
        <p:spPr>
          <a:xfrm>
            <a:off x="8756629" y="2048371"/>
            <a:ext cx="3216195" cy="237728"/>
          </a:xfrm>
          <a:prstGeom prst="rect">
            <a:avLst/>
          </a:prstGeom>
          <a:noFill/>
          <a:ln/>
        </p:spPr>
        <p:txBody>
          <a:bodyPr wrap="none" lIns="0" tIns="0" rIns="0" bIns="0" rtlCol="0" anchor="t"/>
          <a:lstStyle/>
          <a:p>
            <a:pPr algn="l" indent="0" marL="0">
              <a:lnSpc>
                <a:spcPct val="123000"/>
              </a:lnSpc>
              <a:buNone/>
            </a:pPr>
            <a:r>
              <a:rPr lang="en-US" sz="1250" b="1" dirty="0">
                <a:solidFill>
                  <a:srgbClr val="E0D6DE"/>
                </a:solidFill>
                <a:latin typeface="Noto Sans Bold" pitchFamily="34" charset="0"/>
                <a:ea typeface="Noto Sans Bold" pitchFamily="34" charset="-122"/>
                <a:cs typeface="Noto Sans Bold" pitchFamily="34" charset="-120"/>
              </a:rPr>
              <a:t>Key Findings &amp; Gap</a:t>
            </a:r>
            <a:endParaRPr lang="en-US" sz="1250" dirty="0"/>
          </a:p>
        </p:txBody>
      </p:sp>
      <p:sp>
        <p:nvSpPr>
          <p:cNvPr id="24" name="Text 22"/>
          <p:cNvSpPr/>
          <p:nvPr/>
        </p:nvSpPr>
        <p:spPr>
          <a:xfrm>
            <a:off x="828853" y="2468860"/>
            <a:ext cx="827861" cy="237728"/>
          </a:xfrm>
          <a:prstGeom prst="rect">
            <a:avLst/>
          </a:prstGeom>
          <a:noFill/>
          <a:ln/>
        </p:spPr>
        <p:txBody>
          <a:bodyPr wrap="none" lIns="0" tIns="0" rIns="0" bIns="0" rtlCol="0" anchor="t"/>
          <a:lstStyle/>
          <a:p>
            <a:pPr algn="l" indent="0" marL="0">
              <a:lnSpc>
                <a:spcPct val="123000"/>
              </a:lnSpc>
              <a:buNone/>
            </a:pPr>
            <a:r>
              <a:rPr lang="en-US" sz="1250" dirty="0">
                <a:solidFill>
                  <a:srgbClr val="E0D6DE"/>
                </a:solidFill>
                <a:latin typeface="Noto Sans" pitchFamily="34" charset="0"/>
                <a:ea typeface="Noto Sans" pitchFamily="34" charset="-122"/>
                <a:cs typeface="Noto Sans" pitchFamily="34" charset="-120"/>
              </a:rPr>
              <a:t>1</a:t>
            </a:r>
            <a:endParaRPr lang="en-US" sz="1250" dirty="0"/>
          </a:p>
        </p:txBody>
      </p:sp>
      <p:sp>
        <p:nvSpPr>
          <p:cNvPr id="25" name="Text 23"/>
          <p:cNvSpPr/>
          <p:nvPr/>
        </p:nvSpPr>
        <p:spPr>
          <a:xfrm>
            <a:off x="1374741" y="2468860"/>
            <a:ext cx="2060623" cy="475456"/>
          </a:xfrm>
          <a:prstGeom prst="rect">
            <a:avLst/>
          </a:prstGeom>
          <a:noFill/>
          <a:ln/>
        </p:spPr>
        <p:txBody>
          <a:bodyPr wrap="square" lIns="0" tIns="0" rIns="0" bIns="0" rtlCol="0" anchor="t">
            <a:normAutofit/>
          </a:bodyPr>
          <a:lstStyle/>
          <a:p>
            <a:pPr algn="l" indent="0" marL="0">
              <a:lnSpc>
                <a:spcPct val="123000"/>
              </a:lnSpc>
              <a:buNone/>
            </a:pPr>
            <a:r>
              <a:rPr lang="en-US" sz="1250" dirty="0">
                <a:solidFill>
                  <a:srgbClr val="E0D6DE"/>
                </a:solidFill>
                <a:latin typeface="Noto Sans" pitchFamily="34" charset="0"/>
                <a:ea typeface="Noto Sans" pitchFamily="34" charset="-122"/>
                <a:cs typeface="Noto Sans" pitchFamily="34" charset="-120"/>
              </a:rPr>
              <a:t>Student Performance Prediction Using ML</a:t>
            </a:r>
            <a:endParaRPr lang="en-US" sz="1250" dirty="0"/>
          </a:p>
        </p:txBody>
      </p:sp>
      <p:sp>
        <p:nvSpPr>
          <p:cNvPr id="26" name="Text 24"/>
          <p:cNvSpPr/>
          <p:nvPr/>
        </p:nvSpPr>
        <p:spPr>
          <a:xfrm>
            <a:off x="3762975" y="2468860"/>
            <a:ext cx="1693225" cy="237728"/>
          </a:xfrm>
          <a:prstGeom prst="rect">
            <a:avLst/>
          </a:prstGeom>
          <a:noFill/>
          <a:ln/>
        </p:spPr>
        <p:txBody>
          <a:bodyPr wrap="none" lIns="0" tIns="0" rIns="0" bIns="0" rtlCol="0" anchor="t"/>
          <a:lstStyle/>
          <a:p>
            <a:pPr algn="l" indent="0" marL="0">
              <a:lnSpc>
                <a:spcPct val="123000"/>
              </a:lnSpc>
              <a:buNone/>
            </a:pPr>
            <a:r>
              <a:rPr lang="en-US" sz="1250" dirty="0">
                <a:solidFill>
                  <a:srgbClr val="E0D6DE"/>
                </a:solidFill>
                <a:latin typeface="Noto Sans" pitchFamily="34" charset="0"/>
                <a:ea typeface="Noto Sans" pitchFamily="34" charset="-122"/>
                <a:cs typeface="Noto Sans" pitchFamily="34" charset="-120"/>
              </a:rPr>
              <a:t>Hussain et al.</a:t>
            </a:r>
            <a:endParaRPr lang="en-US" sz="1250" dirty="0"/>
          </a:p>
        </p:txBody>
      </p:sp>
      <p:sp>
        <p:nvSpPr>
          <p:cNvPr id="27" name="Text 25"/>
          <p:cNvSpPr/>
          <p:nvPr/>
        </p:nvSpPr>
        <p:spPr>
          <a:xfrm>
            <a:off x="5174228" y="2468860"/>
            <a:ext cx="1041870" cy="237728"/>
          </a:xfrm>
          <a:prstGeom prst="rect">
            <a:avLst/>
          </a:prstGeom>
          <a:noFill/>
          <a:ln/>
        </p:spPr>
        <p:txBody>
          <a:bodyPr wrap="none" lIns="0" tIns="0" rIns="0" bIns="0" rtlCol="0" anchor="t"/>
          <a:lstStyle/>
          <a:p>
            <a:pPr algn="l" indent="0" marL="0">
              <a:lnSpc>
                <a:spcPct val="123000"/>
              </a:lnSpc>
              <a:buNone/>
            </a:pPr>
            <a:r>
              <a:rPr lang="en-US" sz="1250" dirty="0">
                <a:solidFill>
                  <a:srgbClr val="E0D6DE"/>
                </a:solidFill>
                <a:latin typeface="Noto Sans" pitchFamily="34" charset="0"/>
                <a:ea typeface="Noto Sans" pitchFamily="34" charset="-122"/>
                <a:cs typeface="Noto Sans" pitchFamily="34" charset="-120"/>
              </a:rPr>
              <a:t>2023</a:t>
            </a:r>
            <a:endParaRPr lang="en-US" sz="1250" dirty="0"/>
          </a:p>
        </p:txBody>
      </p:sp>
      <p:sp>
        <p:nvSpPr>
          <p:cNvPr id="28" name="Text 26"/>
          <p:cNvSpPr/>
          <p:nvPr/>
        </p:nvSpPr>
        <p:spPr>
          <a:xfrm>
            <a:off x="5934125" y="2468860"/>
            <a:ext cx="1083640" cy="475456"/>
          </a:xfrm>
          <a:prstGeom prst="rect">
            <a:avLst/>
          </a:prstGeom>
          <a:noFill/>
          <a:ln/>
        </p:spPr>
        <p:txBody>
          <a:bodyPr wrap="square" lIns="0" tIns="0" rIns="0" bIns="0" rtlCol="0" anchor="t">
            <a:normAutofit/>
          </a:bodyPr>
          <a:lstStyle/>
          <a:p>
            <a:pPr algn="l" indent="0" marL="0">
              <a:lnSpc>
                <a:spcPct val="123000"/>
              </a:lnSpc>
              <a:buNone/>
            </a:pPr>
            <a:r>
              <a:rPr lang="en-US" sz="1250" dirty="0">
                <a:solidFill>
                  <a:srgbClr val="E0D6DE"/>
                </a:solidFill>
                <a:latin typeface="Noto Sans" pitchFamily="34" charset="0"/>
                <a:ea typeface="Noto Sans" pitchFamily="34" charset="-122"/>
                <a:cs typeface="Noto Sans" pitchFamily="34" charset="-120"/>
              </a:rPr>
              <a:t>Supervised learning</a:t>
            </a:r>
            <a:endParaRPr lang="en-US" sz="1250" dirty="0"/>
          </a:p>
        </p:txBody>
      </p:sp>
      <p:sp>
        <p:nvSpPr>
          <p:cNvPr id="29" name="Text 27"/>
          <p:cNvSpPr/>
          <p:nvPr/>
        </p:nvSpPr>
        <p:spPr>
          <a:xfrm>
            <a:off x="7345377" y="2468860"/>
            <a:ext cx="1083640" cy="475456"/>
          </a:xfrm>
          <a:prstGeom prst="rect">
            <a:avLst/>
          </a:prstGeom>
          <a:noFill/>
          <a:ln/>
        </p:spPr>
        <p:txBody>
          <a:bodyPr wrap="square" lIns="0" tIns="0" rIns="0" bIns="0" rtlCol="0" anchor="t">
            <a:normAutofit/>
          </a:bodyPr>
          <a:lstStyle/>
          <a:p>
            <a:pPr algn="l" indent="0" marL="0">
              <a:lnSpc>
                <a:spcPct val="123000"/>
              </a:lnSpc>
              <a:buNone/>
            </a:pPr>
            <a:r>
              <a:rPr lang="en-US" sz="1250" dirty="0">
                <a:solidFill>
                  <a:srgbClr val="E0D6DE"/>
                </a:solidFill>
                <a:latin typeface="Noto Sans" pitchFamily="34" charset="0"/>
                <a:ea typeface="Noto Sans" pitchFamily="34" charset="-122"/>
                <a:cs typeface="Noto Sans" pitchFamily="34" charset="-120"/>
              </a:rPr>
              <a:t>Random Forest</a:t>
            </a:r>
            <a:endParaRPr lang="en-US" sz="1250" dirty="0"/>
          </a:p>
        </p:txBody>
      </p:sp>
      <p:sp>
        <p:nvSpPr>
          <p:cNvPr id="30" name="Text 28"/>
          <p:cNvSpPr/>
          <p:nvPr/>
        </p:nvSpPr>
        <p:spPr>
          <a:xfrm>
            <a:off x="8756629" y="2468860"/>
            <a:ext cx="3216195" cy="237728"/>
          </a:xfrm>
          <a:prstGeom prst="rect">
            <a:avLst/>
          </a:prstGeom>
          <a:noFill/>
          <a:ln/>
        </p:spPr>
        <p:txBody>
          <a:bodyPr wrap="none" lIns="0" tIns="0" rIns="0" bIns="0" rtlCol="0" anchor="t"/>
          <a:lstStyle/>
          <a:p>
            <a:pPr algn="l" indent="0" marL="0">
              <a:lnSpc>
                <a:spcPct val="123000"/>
              </a:lnSpc>
              <a:buNone/>
            </a:pPr>
            <a:r>
              <a:rPr lang="en-US" sz="1250" dirty="0">
                <a:solidFill>
                  <a:srgbClr val="E0D6DE"/>
                </a:solidFill>
                <a:latin typeface="Noto Sans" pitchFamily="34" charset="0"/>
                <a:ea typeface="Noto Sans" pitchFamily="34" charset="-122"/>
                <a:cs typeface="Noto Sans" pitchFamily="34" charset="-120"/>
              </a:rPr>
              <a:t>87% accuracy; lacks explainability</a:t>
            </a:r>
            <a:endParaRPr lang="en-US" sz="1250" dirty="0"/>
          </a:p>
        </p:txBody>
      </p:sp>
      <p:sp>
        <p:nvSpPr>
          <p:cNvPr id="31" name="Text 29"/>
          <p:cNvSpPr/>
          <p:nvPr/>
        </p:nvSpPr>
        <p:spPr>
          <a:xfrm>
            <a:off x="828853" y="3127077"/>
            <a:ext cx="827861" cy="237728"/>
          </a:xfrm>
          <a:prstGeom prst="rect">
            <a:avLst/>
          </a:prstGeom>
          <a:noFill/>
          <a:ln/>
        </p:spPr>
        <p:txBody>
          <a:bodyPr wrap="none" lIns="0" tIns="0" rIns="0" bIns="0" rtlCol="0" anchor="t"/>
          <a:lstStyle/>
          <a:p>
            <a:pPr algn="l" indent="0" marL="0">
              <a:lnSpc>
                <a:spcPct val="123000"/>
              </a:lnSpc>
              <a:buNone/>
            </a:pPr>
            <a:r>
              <a:rPr lang="en-US" sz="1250" dirty="0">
                <a:solidFill>
                  <a:srgbClr val="E0D6DE"/>
                </a:solidFill>
                <a:latin typeface="Noto Sans" pitchFamily="34" charset="0"/>
                <a:ea typeface="Noto Sans" pitchFamily="34" charset="-122"/>
                <a:cs typeface="Noto Sans" pitchFamily="34" charset="-120"/>
              </a:rPr>
              <a:t>2</a:t>
            </a:r>
            <a:endParaRPr lang="en-US" sz="1250" dirty="0"/>
          </a:p>
        </p:txBody>
      </p:sp>
      <p:sp>
        <p:nvSpPr>
          <p:cNvPr id="32" name="Text 30"/>
          <p:cNvSpPr/>
          <p:nvPr/>
        </p:nvSpPr>
        <p:spPr>
          <a:xfrm>
            <a:off x="1374741" y="3127077"/>
            <a:ext cx="2060623" cy="475456"/>
          </a:xfrm>
          <a:prstGeom prst="rect">
            <a:avLst/>
          </a:prstGeom>
          <a:noFill/>
          <a:ln/>
        </p:spPr>
        <p:txBody>
          <a:bodyPr wrap="square" lIns="0" tIns="0" rIns="0" bIns="0" rtlCol="0" anchor="t">
            <a:normAutofit/>
          </a:bodyPr>
          <a:lstStyle/>
          <a:p>
            <a:pPr algn="l" indent="0" marL="0">
              <a:lnSpc>
                <a:spcPct val="123000"/>
              </a:lnSpc>
              <a:buNone/>
            </a:pPr>
            <a:r>
              <a:rPr lang="en-US" sz="1250" dirty="0">
                <a:solidFill>
                  <a:srgbClr val="E0D6DE"/>
                </a:solidFill>
                <a:latin typeface="Noto Sans" pitchFamily="34" charset="0"/>
                <a:ea typeface="Noto Sans" pitchFamily="34" charset="-122"/>
                <a:cs typeface="Noto Sans" pitchFamily="34" charset="-120"/>
              </a:rPr>
              <a:t>Early Dropout Prediction in MOOCs</a:t>
            </a:r>
            <a:endParaRPr lang="en-US" sz="1250" dirty="0"/>
          </a:p>
        </p:txBody>
      </p:sp>
      <p:sp>
        <p:nvSpPr>
          <p:cNvPr id="33" name="Text 31"/>
          <p:cNvSpPr/>
          <p:nvPr/>
        </p:nvSpPr>
        <p:spPr>
          <a:xfrm>
            <a:off x="3762975" y="3127077"/>
            <a:ext cx="1693225" cy="237728"/>
          </a:xfrm>
          <a:prstGeom prst="rect">
            <a:avLst/>
          </a:prstGeom>
          <a:noFill/>
          <a:ln/>
        </p:spPr>
        <p:txBody>
          <a:bodyPr wrap="none" lIns="0" tIns="0" rIns="0" bIns="0" rtlCol="0" anchor="t"/>
          <a:lstStyle/>
          <a:p>
            <a:pPr algn="l" indent="0" marL="0">
              <a:lnSpc>
                <a:spcPct val="123000"/>
              </a:lnSpc>
              <a:buNone/>
            </a:pPr>
            <a:r>
              <a:rPr lang="en-US" sz="1250" dirty="0">
                <a:solidFill>
                  <a:srgbClr val="E0D6DE"/>
                </a:solidFill>
                <a:latin typeface="Noto Sans" pitchFamily="34" charset="0"/>
                <a:ea typeface="Noto Sans" pitchFamily="34" charset="-122"/>
                <a:cs typeface="Noto Sans" pitchFamily="34" charset="-120"/>
              </a:rPr>
              <a:t>Chen &amp; Wang</a:t>
            </a:r>
            <a:endParaRPr lang="en-US" sz="1250" dirty="0"/>
          </a:p>
        </p:txBody>
      </p:sp>
      <p:sp>
        <p:nvSpPr>
          <p:cNvPr id="34" name="Text 32"/>
          <p:cNvSpPr/>
          <p:nvPr/>
        </p:nvSpPr>
        <p:spPr>
          <a:xfrm>
            <a:off x="5174228" y="3127077"/>
            <a:ext cx="1041870" cy="237728"/>
          </a:xfrm>
          <a:prstGeom prst="rect">
            <a:avLst/>
          </a:prstGeom>
          <a:noFill/>
          <a:ln/>
        </p:spPr>
        <p:txBody>
          <a:bodyPr wrap="none" lIns="0" tIns="0" rIns="0" bIns="0" rtlCol="0" anchor="t"/>
          <a:lstStyle/>
          <a:p>
            <a:pPr algn="l" indent="0" marL="0">
              <a:lnSpc>
                <a:spcPct val="123000"/>
              </a:lnSpc>
              <a:buNone/>
            </a:pPr>
            <a:r>
              <a:rPr lang="en-US" sz="1250" dirty="0">
                <a:solidFill>
                  <a:srgbClr val="E0D6DE"/>
                </a:solidFill>
                <a:latin typeface="Noto Sans" pitchFamily="34" charset="0"/>
                <a:ea typeface="Noto Sans" pitchFamily="34" charset="-122"/>
                <a:cs typeface="Noto Sans" pitchFamily="34" charset="-120"/>
              </a:rPr>
              <a:t>2022</a:t>
            </a:r>
            <a:endParaRPr lang="en-US" sz="1250" dirty="0"/>
          </a:p>
        </p:txBody>
      </p:sp>
      <p:sp>
        <p:nvSpPr>
          <p:cNvPr id="35" name="Text 33"/>
          <p:cNvSpPr/>
          <p:nvPr/>
        </p:nvSpPr>
        <p:spPr>
          <a:xfrm>
            <a:off x="5934125" y="3127077"/>
            <a:ext cx="1083640" cy="475456"/>
          </a:xfrm>
          <a:prstGeom prst="rect">
            <a:avLst/>
          </a:prstGeom>
          <a:noFill/>
          <a:ln/>
        </p:spPr>
        <p:txBody>
          <a:bodyPr wrap="square" lIns="0" tIns="0" rIns="0" bIns="0" rtlCol="0" anchor="t">
            <a:normAutofit/>
          </a:bodyPr>
          <a:lstStyle/>
          <a:p>
            <a:pPr algn="l" indent="0" marL="0">
              <a:lnSpc>
                <a:spcPct val="123000"/>
              </a:lnSpc>
              <a:buNone/>
            </a:pPr>
            <a:r>
              <a:rPr lang="en-US" sz="1250" dirty="0">
                <a:solidFill>
                  <a:srgbClr val="E0D6DE"/>
                </a:solidFill>
                <a:latin typeface="Noto Sans" pitchFamily="34" charset="0"/>
                <a:ea typeface="Noto Sans" pitchFamily="34" charset="-122"/>
                <a:cs typeface="Noto Sans" pitchFamily="34" charset="-120"/>
              </a:rPr>
              <a:t>Behavioral analytics</a:t>
            </a:r>
            <a:endParaRPr lang="en-US" sz="1250" dirty="0"/>
          </a:p>
        </p:txBody>
      </p:sp>
      <p:sp>
        <p:nvSpPr>
          <p:cNvPr id="36" name="Text 34"/>
          <p:cNvSpPr/>
          <p:nvPr/>
        </p:nvSpPr>
        <p:spPr>
          <a:xfrm>
            <a:off x="7345377" y="3127077"/>
            <a:ext cx="1693225" cy="237728"/>
          </a:xfrm>
          <a:prstGeom prst="rect">
            <a:avLst/>
          </a:prstGeom>
          <a:noFill/>
          <a:ln/>
        </p:spPr>
        <p:txBody>
          <a:bodyPr wrap="none" lIns="0" tIns="0" rIns="0" bIns="0" rtlCol="0" anchor="t"/>
          <a:lstStyle/>
          <a:p>
            <a:pPr algn="l" indent="0" marL="0">
              <a:lnSpc>
                <a:spcPct val="123000"/>
              </a:lnSpc>
              <a:buNone/>
            </a:pPr>
            <a:r>
              <a:rPr lang="en-US" sz="1250" dirty="0">
                <a:solidFill>
                  <a:srgbClr val="E0D6DE"/>
                </a:solidFill>
                <a:latin typeface="Noto Sans" pitchFamily="34" charset="0"/>
                <a:ea typeface="Noto Sans" pitchFamily="34" charset="-122"/>
                <a:cs typeface="Noto Sans" pitchFamily="34" charset="-120"/>
              </a:rPr>
              <a:t>XGBoost</a:t>
            </a:r>
            <a:endParaRPr lang="en-US" sz="1250" dirty="0"/>
          </a:p>
        </p:txBody>
      </p:sp>
      <p:sp>
        <p:nvSpPr>
          <p:cNvPr id="37" name="Text 35"/>
          <p:cNvSpPr/>
          <p:nvPr/>
        </p:nvSpPr>
        <p:spPr>
          <a:xfrm>
            <a:off x="8756629" y="3127077"/>
            <a:ext cx="2606610" cy="475456"/>
          </a:xfrm>
          <a:prstGeom prst="rect">
            <a:avLst/>
          </a:prstGeom>
          <a:noFill/>
          <a:ln/>
        </p:spPr>
        <p:txBody>
          <a:bodyPr wrap="square" lIns="0" tIns="0" rIns="0" bIns="0" rtlCol="0" anchor="t">
            <a:normAutofit/>
          </a:bodyPr>
          <a:lstStyle/>
          <a:p>
            <a:pPr algn="l" indent="0" marL="0">
              <a:lnSpc>
                <a:spcPct val="123000"/>
              </a:lnSpc>
              <a:buNone/>
            </a:pPr>
            <a:r>
              <a:rPr lang="en-US" sz="1250" dirty="0">
                <a:solidFill>
                  <a:srgbClr val="E0D6DE"/>
                </a:solidFill>
                <a:latin typeface="Noto Sans" pitchFamily="34" charset="0"/>
                <a:ea typeface="Noto Sans" pitchFamily="34" charset="-122"/>
                <a:cs typeface="Noto Sans" pitchFamily="34" charset="-120"/>
              </a:rPr>
              <a:t>AUC 0.91; no personalized guidance</a:t>
            </a:r>
            <a:endParaRPr lang="en-US" sz="1250" dirty="0"/>
          </a:p>
        </p:txBody>
      </p:sp>
      <p:sp>
        <p:nvSpPr>
          <p:cNvPr id="38" name="Text 36"/>
          <p:cNvSpPr/>
          <p:nvPr/>
        </p:nvSpPr>
        <p:spPr>
          <a:xfrm>
            <a:off x="828853" y="3785295"/>
            <a:ext cx="827861" cy="237728"/>
          </a:xfrm>
          <a:prstGeom prst="rect">
            <a:avLst/>
          </a:prstGeom>
          <a:noFill/>
          <a:ln/>
        </p:spPr>
        <p:txBody>
          <a:bodyPr wrap="none" lIns="0" tIns="0" rIns="0" bIns="0" rtlCol="0" anchor="t"/>
          <a:lstStyle/>
          <a:p>
            <a:pPr algn="l" indent="0" marL="0">
              <a:lnSpc>
                <a:spcPct val="123000"/>
              </a:lnSpc>
              <a:buNone/>
            </a:pPr>
            <a:r>
              <a:rPr lang="en-US" sz="1250" dirty="0">
                <a:solidFill>
                  <a:srgbClr val="E0D6DE"/>
                </a:solidFill>
                <a:latin typeface="Noto Sans" pitchFamily="34" charset="0"/>
                <a:ea typeface="Noto Sans" pitchFamily="34" charset="-122"/>
                <a:cs typeface="Noto Sans" pitchFamily="34" charset="-120"/>
              </a:rPr>
              <a:t>3</a:t>
            </a:r>
            <a:endParaRPr lang="en-US" sz="1250" dirty="0"/>
          </a:p>
        </p:txBody>
      </p:sp>
      <p:sp>
        <p:nvSpPr>
          <p:cNvPr id="39" name="Text 37"/>
          <p:cNvSpPr/>
          <p:nvPr/>
        </p:nvSpPr>
        <p:spPr>
          <a:xfrm>
            <a:off x="1374741" y="3785295"/>
            <a:ext cx="2060623" cy="475456"/>
          </a:xfrm>
          <a:prstGeom prst="rect">
            <a:avLst/>
          </a:prstGeom>
          <a:noFill/>
          <a:ln/>
        </p:spPr>
        <p:txBody>
          <a:bodyPr wrap="square" lIns="0" tIns="0" rIns="0" bIns="0" rtlCol="0" anchor="t">
            <a:normAutofit/>
          </a:bodyPr>
          <a:lstStyle/>
          <a:p>
            <a:pPr algn="l" indent="0" marL="0">
              <a:lnSpc>
                <a:spcPct val="123000"/>
              </a:lnSpc>
              <a:buNone/>
            </a:pPr>
            <a:r>
              <a:rPr lang="en-US" sz="1250" dirty="0">
                <a:solidFill>
                  <a:srgbClr val="E0D6DE"/>
                </a:solidFill>
                <a:latin typeface="Noto Sans" pitchFamily="34" charset="0"/>
                <a:ea typeface="Noto Sans" pitchFamily="34" charset="-122"/>
                <a:cs typeface="Noto Sans" pitchFamily="34" charset="-120"/>
              </a:rPr>
              <a:t>Explainable AI for Academic Risk</a:t>
            </a:r>
            <a:endParaRPr lang="en-US" sz="1250" dirty="0"/>
          </a:p>
        </p:txBody>
      </p:sp>
      <p:sp>
        <p:nvSpPr>
          <p:cNvPr id="40" name="Text 38"/>
          <p:cNvSpPr/>
          <p:nvPr/>
        </p:nvSpPr>
        <p:spPr>
          <a:xfrm>
            <a:off x="3762975" y="3785295"/>
            <a:ext cx="1693225" cy="237728"/>
          </a:xfrm>
          <a:prstGeom prst="rect">
            <a:avLst/>
          </a:prstGeom>
          <a:noFill/>
          <a:ln/>
        </p:spPr>
        <p:txBody>
          <a:bodyPr wrap="none" lIns="0" tIns="0" rIns="0" bIns="0" rtlCol="0" anchor="t"/>
          <a:lstStyle/>
          <a:p>
            <a:pPr algn="l" indent="0" marL="0">
              <a:lnSpc>
                <a:spcPct val="123000"/>
              </a:lnSpc>
              <a:buNone/>
            </a:pPr>
            <a:r>
              <a:rPr lang="en-US" sz="1250" dirty="0">
                <a:solidFill>
                  <a:srgbClr val="E0D6DE"/>
                </a:solidFill>
                <a:latin typeface="Noto Sans" pitchFamily="34" charset="0"/>
                <a:ea typeface="Noto Sans" pitchFamily="34" charset="-122"/>
                <a:cs typeface="Noto Sans" pitchFamily="34" charset="-120"/>
              </a:rPr>
              <a:t>Al-Zoubi et al.</a:t>
            </a:r>
            <a:endParaRPr lang="en-US" sz="1250" dirty="0"/>
          </a:p>
        </p:txBody>
      </p:sp>
      <p:sp>
        <p:nvSpPr>
          <p:cNvPr id="41" name="Text 39"/>
          <p:cNvSpPr/>
          <p:nvPr/>
        </p:nvSpPr>
        <p:spPr>
          <a:xfrm>
            <a:off x="5174228" y="3785295"/>
            <a:ext cx="1041870" cy="237728"/>
          </a:xfrm>
          <a:prstGeom prst="rect">
            <a:avLst/>
          </a:prstGeom>
          <a:noFill/>
          <a:ln/>
        </p:spPr>
        <p:txBody>
          <a:bodyPr wrap="none" lIns="0" tIns="0" rIns="0" bIns="0" rtlCol="0" anchor="t"/>
          <a:lstStyle/>
          <a:p>
            <a:pPr algn="l" indent="0" marL="0">
              <a:lnSpc>
                <a:spcPct val="123000"/>
              </a:lnSpc>
              <a:buNone/>
            </a:pPr>
            <a:r>
              <a:rPr lang="en-US" sz="1250" dirty="0">
                <a:solidFill>
                  <a:srgbClr val="E0D6DE"/>
                </a:solidFill>
                <a:latin typeface="Noto Sans" pitchFamily="34" charset="0"/>
                <a:ea typeface="Noto Sans" pitchFamily="34" charset="-122"/>
                <a:cs typeface="Noto Sans" pitchFamily="34" charset="-120"/>
              </a:rPr>
              <a:t>2024</a:t>
            </a:r>
            <a:endParaRPr lang="en-US" sz="1250" dirty="0"/>
          </a:p>
        </p:txBody>
      </p:sp>
      <p:sp>
        <p:nvSpPr>
          <p:cNvPr id="42" name="Text 40"/>
          <p:cNvSpPr/>
          <p:nvPr/>
        </p:nvSpPr>
        <p:spPr>
          <a:xfrm>
            <a:off x="5934125" y="3785295"/>
            <a:ext cx="1083640" cy="713184"/>
          </a:xfrm>
          <a:prstGeom prst="rect">
            <a:avLst/>
          </a:prstGeom>
          <a:noFill/>
          <a:ln/>
        </p:spPr>
        <p:txBody>
          <a:bodyPr wrap="square" lIns="0" tIns="0" rIns="0" bIns="0" rtlCol="0" anchor="t">
            <a:normAutofit/>
          </a:bodyPr>
          <a:lstStyle/>
          <a:p>
            <a:pPr algn="l" indent="0" marL="0">
              <a:lnSpc>
                <a:spcPct val="123000"/>
              </a:lnSpc>
              <a:buNone/>
            </a:pPr>
            <a:r>
              <a:rPr lang="en-US" sz="1250" dirty="0">
                <a:solidFill>
                  <a:srgbClr val="E0D6DE"/>
                </a:solidFill>
                <a:latin typeface="Noto Sans" pitchFamily="34" charset="0"/>
                <a:ea typeface="Noto Sans" pitchFamily="34" charset="-122"/>
                <a:cs typeface="Noto Sans" pitchFamily="34" charset="-120"/>
              </a:rPr>
              <a:t>SHAP + logistic regression</a:t>
            </a:r>
            <a:endParaRPr lang="en-US" sz="1250" dirty="0"/>
          </a:p>
        </p:txBody>
      </p:sp>
      <p:sp>
        <p:nvSpPr>
          <p:cNvPr id="43" name="Text 41"/>
          <p:cNvSpPr/>
          <p:nvPr/>
        </p:nvSpPr>
        <p:spPr>
          <a:xfrm>
            <a:off x="7345377" y="3785295"/>
            <a:ext cx="1693225" cy="237728"/>
          </a:xfrm>
          <a:prstGeom prst="rect">
            <a:avLst/>
          </a:prstGeom>
          <a:noFill/>
          <a:ln/>
        </p:spPr>
        <p:txBody>
          <a:bodyPr wrap="none" lIns="0" tIns="0" rIns="0" bIns="0" rtlCol="0" anchor="t"/>
          <a:lstStyle/>
          <a:p>
            <a:pPr algn="l" indent="0" marL="0">
              <a:lnSpc>
                <a:spcPct val="123000"/>
              </a:lnSpc>
              <a:buNone/>
            </a:pPr>
            <a:r>
              <a:rPr lang="en-US" sz="1250" dirty="0">
                <a:solidFill>
                  <a:srgbClr val="E0D6DE"/>
                </a:solidFill>
                <a:latin typeface="Noto Sans" pitchFamily="34" charset="0"/>
                <a:ea typeface="Noto Sans" pitchFamily="34" charset="-122"/>
                <a:cs typeface="Noto Sans" pitchFamily="34" charset="-120"/>
              </a:rPr>
              <a:t>LR + SHAP</a:t>
            </a:r>
            <a:endParaRPr lang="en-US" sz="1250" dirty="0"/>
          </a:p>
        </p:txBody>
      </p:sp>
      <p:sp>
        <p:nvSpPr>
          <p:cNvPr id="44" name="Text 42"/>
          <p:cNvSpPr/>
          <p:nvPr/>
        </p:nvSpPr>
        <p:spPr>
          <a:xfrm>
            <a:off x="8756629" y="3785295"/>
            <a:ext cx="2606610" cy="475456"/>
          </a:xfrm>
          <a:prstGeom prst="rect">
            <a:avLst/>
          </a:prstGeom>
          <a:noFill/>
          <a:ln/>
        </p:spPr>
        <p:txBody>
          <a:bodyPr wrap="square" lIns="0" tIns="0" rIns="0" bIns="0" rtlCol="0" anchor="t">
            <a:normAutofit/>
          </a:bodyPr>
          <a:lstStyle/>
          <a:p>
            <a:pPr algn="l" indent="0" marL="0">
              <a:lnSpc>
                <a:spcPct val="123000"/>
              </a:lnSpc>
              <a:buNone/>
            </a:pPr>
            <a:r>
              <a:rPr lang="en-US" sz="1250" dirty="0">
                <a:solidFill>
                  <a:srgbClr val="E0D6DE"/>
                </a:solidFill>
                <a:latin typeface="Noto Sans" pitchFamily="34" charset="0"/>
                <a:ea typeface="Noto Sans" pitchFamily="34" charset="-122"/>
                <a:cs typeface="Noto Sans" pitchFamily="34" charset="-120"/>
              </a:rPr>
              <a:t>Interpretable; no deployment pipeline</a:t>
            </a:r>
            <a:endParaRPr lang="en-US" sz="1250" dirty="0"/>
          </a:p>
        </p:txBody>
      </p:sp>
      <p:sp>
        <p:nvSpPr>
          <p:cNvPr id="45" name="Text 43"/>
          <p:cNvSpPr/>
          <p:nvPr/>
        </p:nvSpPr>
        <p:spPr>
          <a:xfrm>
            <a:off x="828853" y="4681240"/>
            <a:ext cx="827861" cy="237728"/>
          </a:xfrm>
          <a:prstGeom prst="rect">
            <a:avLst/>
          </a:prstGeom>
          <a:noFill/>
          <a:ln/>
        </p:spPr>
        <p:txBody>
          <a:bodyPr wrap="none" lIns="0" tIns="0" rIns="0" bIns="0" rtlCol="0" anchor="t"/>
          <a:lstStyle/>
          <a:p>
            <a:pPr algn="l" indent="0" marL="0">
              <a:lnSpc>
                <a:spcPct val="123000"/>
              </a:lnSpc>
              <a:buNone/>
            </a:pPr>
            <a:r>
              <a:rPr lang="en-US" sz="1250" dirty="0">
                <a:solidFill>
                  <a:srgbClr val="E0D6DE"/>
                </a:solidFill>
                <a:latin typeface="Noto Sans" pitchFamily="34" charset="0"/>
                <a:ea typeface="Noto Sans" pitchFamily="34" charset="-122"/>
                <a:cs typeface="Noto Sans" pitchFamily="34" charset="-120"/>
              </a:rPr>
              <a:t>4</a:t>
            </a:r>
            <a:endParaRPr lang="en-US" sz="1250" dirty="0"/>
          </a:p>
        </p:txBody>
      </p:sp>
      <p:sp>
        <p:nvSpPr>
          <p:cNvPr id="46" name="Text 44"/>
          <p:cNvSpPr/>
          <p:nvPr/>
        </p:nvSpPr>
        <p:spPr>
          <a:xfrm>
            <a:off x="1374741" y="4681240"/>
            <a:ext cx="2060623" cy="475456"/>
          </a:xfrm>
          <a:prstGeom prst="rect">
            <a:avLst/>
          </a:prstGeom>
          <a:noFill/>
          <a:ln/>
        </p:spPr>
        <p:txBody>
          <a:bodyPr wrap="square" lIns="0" tIns="0" rIns="0" bIns="0" rtlCol="0" anchor="t">
            <a:normAutofit/>
          </a:bodyPr>
          <a:lstStyle/>
          <a:p>
            <a:pPr algn="l" indent="0" marL="0">
              <a:lnSpc>
                <a:spcPct val="123000"/>
              </a:lnSpc>
              <a:buNone/>
            </a:pPr>
            <a:r>
              <a:rPr lang="en-US" sz="1250" dirty="0">
                <a:solidFill>
                  <a:srgbClr val="E0D6DE"/>
                </a:solidFill>
                <a:latin typeface="Noto Sans" pitchFamily="34" charset="0"/>
                <a:ea typeface="Noto Sans" pitchFamily="34" charset="-122"/>
                <a:cs typeface="Noto Sans" pitchFamily="34" charset="-120"/>
              </a:rPr>
              <a:t>Automated Student Success System</a:t>
            </a:r>
            <a:endParaRPr lang="en-US" sz="1250" dirty="0"/>
          </a:p>
        </p:txBody>
      </p:sp>
      <p:sp>
        <p:nvSpPr>
          <p:cNvPr id="47" name="Text 45"/>
          <p:cNvSpPr/>
          <p:nvPr/>
        </p:nvSpPr>
        <p:spPr>
          <a:xfrm>
            <a:off x="3762975" y="4681240"/>
            <a:ext cx="1693225" cy="237728"/>
          </a:xfrm>
          <a:prstGeom prst="rect">
            <a:avLst/>
          </a:prstGeom>
          <a:noFill/>
          <a:ln/>
        </p:spPr>
        <p:txBody>
          <a:bodyPr wrap="none" lIns="0" tIns="0" rIns="0" bIns="0" rtlCol="0" anchor="t"/>
          <a:lstStyle/>
          <a:p>
            <a:pPr algn="l" indent="0" marL="0">
              <a:lnSpc>
                <a:spcPct val="123000"/>
              </a:lnSpc>
              <a:buNone/>
            </a:pPr>
            <a:r>
              <a:rPr lang="en-US" sz="1250" dirty="0">
                <a:solidFill>
                  <a:srgbClr val="E0D6DE"/>
                </a:solidFill>
                <a:latin typeface="Noto Sans" pitchFamily="34" charset="0"/>
                <a:ea typeface="Noto Sans" pitchFamily="34" charset="-122"/>
                <a:cs typeface="Noto Sans" pitchFamily="34" charset="-120"/>
              </a:rPr>
              <a:t>Kumar et al.</a:t>
            </a:r>
            <a:endParaRPr lang="en-US" sz="1250" dirty="0"/>
          </a:p>
        </p:txBody>
      </p:sp>
      <p:sp>
        <p:nvSpPr>
          <p:cNvPr id="48" name="Text 46"/>
          <p:cNvSpPr/>
          <p:nvPr/>
        </p:nvSpPr>
        <p:spPr>
          <a:xfrm>
            <a:off x="5174228" y="4681240"/>
            <a:ext cx="1041870" cy="237728"/>
          </a:xfrm>
          <a:prstGeom prst="rect">
            <a:avLst/>
          </a:prstGeom>
          <a:noFill/>
          <a:ln/>
        </p:spPr>
        <p:txBody>
          <a:bodyPr wrap="none" lIns="0" tIns="0" rIns="0" bIns="0" rtlCol="0" anchor="t"/>
          <a:lstStyle/>
          <a:p>
            <a:pPr algn="l" indent="0" marL="0">
              <a:lnSpc>
                <a:spcPct val="123000"/>
              </a:lnSpc>
              <a:buNone/>
            </a:pPr>
            <a:r>
              <a:rPr lang="en-US" sz="1250" dirty="0">
                <a:solidFill>
                  <a:srgbClr val="E0D6DE"/>
                </a:solidFill>
                <a:latin typeface="Noto Sans" pitchFamily="34" charset="0"/>
                <a:ea typeface="Noto Sans" pitchFamily="34" charset="-122"/>
                <a:cs typeface="Noto Sans" pitchFamily="34" charset="-120"/>
              </a:rPr>
              <a:t>2023</a:t>
            </a:r>
            <a:endParaRPr lang="en-US" sz="1250" dirty="0"/>
          </a:p>
        </p:txBody>
      </p:sp>
      <p:sp>
        <p:nvSpPr>
          <p:cNvPr id="49" name="Text 47"/>
          <p:cNvSpPr/>
          <p:nvPr/>
        </p:nvSpPr>
        <p:spPr>
          <a:xfrm>
            <a:off x="5934125" y="4681240"/>
            <a:ext cx="1083640" cy="475456"/>
          </a:xfrm>
          <a:prstGeom prst="rect">
            <a:avLst/>
          </a:prstGeom>
          <a:noFill/>
          <a:ln/>
        </p:spPr>
        <p:txBody>
          <a:bodyPr wrap="square" lIns="0" tIns="0" rIns="0" bIns="0" rtlCol="0" anchor="t">
            <a:normAutofit/>
          </a:bodyPr>
          <a:lstStyle/>
          <a:p>
            <a:pPr algn="l" indent="0" marL="0">
              <a:lnSpc>
                <a:spcPct val="123000"/>
              </a:lnSpc>
              <a:buNone/>
            </a:pPr>
            <a:r>
              <a:rPr lang="en-US" sz="1250" dirty="0">
                <a:solidFill>
                  <a:srgbClr val="E0D6DE"/>
                </a:solidFill>
                <a:latin typeface="Noto Sans" pitchFamily="34" charset="0"/>
                <a:ea typeface="Noto Sans" pitchFamily="34" charset="-122"/>
                <a:cs typeface="Noto Sans" pitchFamily="34" charset="-120"/>
              </a:rPr>
              <a:t>Ensemble + feedback loop</a:t>
            </a:r>
            <a:endParaRPr lang="en-US" sz="1250" dirty="0"/>
          </a:p>
        </p:txBody>
      </p:sp>
      <p:sp>
        <p:nvSpPr>
          <p:cNvPr id="50" name="Text 48"/>
          <p:cNvSpPr/>
          <p:nvPr/>
        </p:nvSpPr>
        <p:spPr>
          <a:xfrm>
            <a:off x="7345377" y="4681240"/>
            <a:ext cx="1083640" cy="475456"/>
          </a:xfrm>
          <a:prstGeom prst="rect">
            <a:avLst/>
          </a:prstGeom>
          <a:noFill/>
          <a:ln/>
        </p:spPr>
        <p:txBody>
          <a:bodyPr wrap="square" lIns="0" tIns="0" rIns="0" bIns="0" rtlCol="0" anchor="t">
            <a:normAutofit/>
          </a:bodyPr>
          <a:lstStyle/>
          <a:p>
            <a:pPr algn="l" indent="0" marL="0">
              <a:lnSpc>
                <a:spcPct val="123000"/>
              </a:lnSpc>
              <a:buNone/>
            </a:pPr>
            <a:r>
              <a:rPr lang="en-US" sz="1250" dirty="0">
                <a:solidFill>
                  <a:srgbClr val="E0D6DE"/>
                </a:solidFill>
                <a:latin typeface="Noto Sans" pitchFamily="34" charset="0"/>
                <a:ea typeface="Noto Sans" pitchFamily="34" charset="-122"/>
                <a:cs typeface="Noto Sans" pitchFamily="34" charset="-120"/>
              </a:rPr>
              <a:t>Gradient Boosting</a:t>
            </a:r>
            <a:endParaRPr lang="en-US" sz="1250" dirty="0"/>
          </a:p>
        </p:txBody>
      </p:sp>
      <p:sp>
        <p:nvSpPr>
          <p:cNvPr id="51" name="Text 49"/>
          <p:cNvSpPr/>
          <p:nvPr/>
        </p:nvSpPr>
        <p:spPr>
          <a:xfrm>
            <a:off x="8756629" y="4681240"/>
            <a:ext cx="3216195" cy="237728"/>
          </a:xfrm>
          <a:prstGeom prst="rect">
            <a:avLst/>
          </a:prstGeom>
          <a:noFill/>
          <a:ln/>
        </p:spPr>
        <p:txBody>
          <a:bodyPr wrap="none" lIns="0" tIns="0" rIns="0" bIns="0" rtlCol="0" anchor="t"/>
          <a:lstStyle/>
          <a:p>
            <a:pPr algn="l" indent="0" marL="0">
              <a:lnSpc>
                <a:spcPct val="123000"/>
              </a:lnSpc>
              <a:buNone/>
            </a:pPr>
            <a:r>
              <a:rPr lang="en-US" sz="1250" dirty="0">
                <a:solidFill>
                  <a:srgbClr val="E0D6DE"/>
                </a:solidFill>
                <a:latin typeface="Noto Sans" pitchFamily="34" charset="0"/>
                <a:ea typeface="Noto Sans" pitchFamily="34" charset="-122"/>
                <a:cs typeface="Noto Sans" pitchFamily="34" charset="-120"/>
              </a:rPr>
              <a:t>Improved retention; no retraining</a:t>
            </a:r>
            <a:endParaRPr lang="en-US" sz="1250" dirty="0"/>
          </a:p>
        </p:txBody>
      </p:sp>
      <p:sp>
        <p:nvSpPr>
          <p:cNvPr id="52" name="Text 50"/>
          <p:cNvSpPr/>
          <p:nvPr/>
        </p:nvSpPr>
        <p:spPr>
          <a:xfrm>
            <a:off x="828853" y="5339457"/>
            <a:ext cx="827861" cy="237728"/>
          </a:xfrm>
          <a:prstGeom prst="rect">
            <a:avLst/>
          </a:prstGeom>
          <a:noFill/>
          <a:ln/>
        </p:spPr>
        <p:txBody>
          <a:bodyPr wrap="none" lIns="0" tIns="0" rIns="0" bIns="0" rtlCol="0" anchor="t"/>
          <a:lstStyle/>
          <a:p>
            <a:pPr algn="l" indent="0" marL="0">
              <a:lnSpc>
                <a:spcPct val="123000"/>
              </a:lnSpc>
              <a:buNone/>
            </a:pPr>
            <a:r>
              <a:rPr lang="en-US" sz="1250" dirty="0">
                <a:solidFill>
                  <a:srgbClr val="E0D6DE"/>
                </a:solidFill>
                <a:latin typeface="Noto Sans" pitchFamily="34" charset="0"/>
                <a:ea typeface="Noto Sans" pitchFamily="34" charset="-122"/>
                <a:cs typeface="Noto Sans" pitchFamily="34" charset="-120"/>
              </a:rPr>
              <a:t>5</a:t>
            </a:r>
            <a:endParaRPr lang="en-US" sz="1250" dirty="0"/>
          </a:p>
        </p:txBody>
      </p:sp>
      <p:sp>
        <p:nvSpPr>
          <p:cNvPr id="53" name="Text 51"/>
          <p:cNvSpPr/>
          <p:nvPr/>
        </p:nvSpPr>
        <p:spPr>
          <a:xfrm>
            <a:off x="1374741" y="5339457"/>
            <a:ext cx="2060623" cy="475456"/>
          </a:xfrm>
          <a:prstGeom prst="rect">
            <a:avLst/>
          </a:prstGeom>
          <a:noFill/>
          <a:ln/>
        </p:spPr>
        <p:txBody>
          <a:bodyPr wrap="square" lIns="0" tIns="0" rIns="0" bIns="0" rtlCol="0" anchor="t">
            <a:normAutofit/>
          </a:bodyPr>
          <a:lstStyle/>
          <a:p>
            <a:pPr algn="l" indent="0" marL="0">
              <a:lnSpc>
                <a:spcPct val="123000"/>
              </a:lnSpc>
              <a:buNone/>
            </a:pPr>
            <a:r>
              <a:rPr lang="en-US" sz="1250" dirty="0">
                <a:solidFill>
                  <a:srgbClr val="E0D6DE"/>
                </a:solidFill>
                <a:latin typeface="Noto Sans" pitchFamily="34" charset="0"/>
                <a:ea typeface="Noto Sans" pitchFamily="34" charset="-122"/>
                <a:cs typeface="Noto Sans" pitchFamily="34" charset="-120"/>
              </a:rPr>
              <a:t>MLOps Framework for Education</a:t>
            </a:r>
            <a:endParaRPr lang="en-US" sz="1250" dirty="0"/>
          </a:p>
        </p:txBody>
      </p:sp>
      <p:sp>
        <p:nvSpPr>
          <p:cNvPr id="54" name="Text 52"/>
          <p:cNvSpPr/>
          <p:nvPr/>
        </p:nvSpPr>
        <p:spPr>
          <a:xfrm>
            <a:off x="3762975" y="5339457"/>
            <a:ext cx="1693225" cy="237728"/>
          </a:xfrm>
          <a:prstGeom prst="rect">
            <a:avLst/>
          </a:prstGeom>
          <a:noFill/>
          <a:ln/>
        </p:spPr>
        <p:txBody>
          <a:bodyPr wrap="none" lIns="0" tIns="0" rIns="0" bIns="0" rtlCol="0" anchor="t"/>
          <a:lstStyle/>
          <a:p>
            <a:pPr algn="l" indent="0" marL="0">
              <a:lnSpc>
                <a:spcPct val="123000"/>
              </a:lnSpc>
              <a:buNone/>
            </a:pPr>
            <a:r>
              <a:rPr lang="en-US" sz="1250" dirty="0">
                <a:solidFill>
                  <a:srgbClr val="E0D6DE"/>
                </a:solidFill>
                <a:latin typeface="Noto Sans" pitchFamily="34" charset="0"/>
                <a:ea typeface="Noto Sans" pitchFamily="34" charset="-122"/>
                <a:cs typeface="Noto Sans" pitchFamily="34" charset="-120"/>
              </a:rPr>
              <a:t>Patel &amp; Singh</a:t>
            </a:r>
            <a:endParaRPr lang="en-US" sz="1250" dirty="0"/>
          </a:p>
        </p:txBody>
      </p:sp>
      <p:sp>
        <p:nvSpPr>
          <p:cNvPr id="55" name="Text 53"/>
          <p:cNvSpPr/>
          <p:nvPr/>
        </p:nvSpPr>
        <p:spPr>
          <a:xfrm>
            <a:off x="5174228" y="5339457"/>
            <a:ext cx="1041870" cy="237728"/>
          </a:xfrm>
          <a:prstGeom prst="rect">
            <a:avLst/>
          </a:prstGeom>
          <a:noFill/>
          <a:ln/>
        </p:spPr>
        <p:txBody>
          <a:bodyPr wrap="none" lIns="0" tIns="0" rIns="0" bIns="0" rtlCol="0" anchor="t"/>
          <a:lstStyle/>
          <a:p>
            <a:pPr algn="l" indent="0" marL="0">
              <a:lnSpc>
                <a:spcPct val="123000"/>
              </a:lnSpc>
              <a:buNone/>
            </a:pPr>
            <a:r>
              <a:rPr lang="en-US" sz="1250" dirty="0">
                <a:solidFill>
                  <a:srgbClr val="E0D6DE"/>
                </a:solidFill>
                <a:latin typeface="Noto Sans" pitchFamily="34" charset="0"/>
                <a:ea typeface="Noto Sans" pitchFamily="34" charset="-122"/>
                <a:cs typeface="Noto Sans" pitchFamily="34" charset="-120"/>
              </a:rPr>
              <a:t>2025</a:t>
            </a:r>
            <a:endParaRPr lang="en-US" sz="1250" dirty="0"/>
          </a:p>
        </p:txBody>
      </p:sp>
      <p:sp>
        <p:nvSpPr>
          <p:cNvPr id="56" name="Text 54"/>
          <p:cNvSpPr/>
          <p:nvPr/>
        </p:nvSpPr>
        <p:spPr>
          <a:xfrm>
            <a:off x="5934125" y="5339457"/>
            <a:ext cx="1083640" cy="475456"/>
          </a:xfrm>
          <a:prstGeom prst="rect">
            <a:avLst/>
          </a:prstGeom>
          <a:noFill/>
          <a:ln/>
        </p:spPr>
        <p:txBody>
          <a:bodyPr wrap="square" lIns="0" tIns="0" rIns="0" bIns="0" rtlCol="0" anchor="t">
            <a:normAutofit/>
          </a:bodyPr>
          <a:lstStyle/>
          <a:p>
            <a:pPr algn="l" indent="0" marL="0">
              <a:lnSpc>
                <a:spcPct val="123000"/>
              </a:lnSpc>
              <a:buNone/>
            </a:pPr>
            <a:r>
              <a:rPr lang="en-US" sz="1250" dirty="0">
                <a:solidFill>
                  <a:srgbClr val="E0D6DE"/>
                </a:solidFill>
                <a:latin typeface="Noto Sans" pitchFamily="34" charset="0"/>
                <a:ea typeface="Noto Sans" pitchFamily="34" charset="-122"/>
                <a:cs typeface="Noto Sans" pitchFamily="34" charset="-120"/>
              </a:rPr>
              <a:t>CI/CD + monitoring</a:t>
            </a:r>
            <a:endParaRPr lang="en-US" sz="1250" dirty="0"/>
          </a:p>
        </p:txBody>
      </p:sp>
      <p:sp>
        <p:nvSpPr>
          <p:cNvPr id="57" name="Text 55"/>
          <p:cNvSpPr/>
          <p:nvPr/>
        </p:nvSpPr>
        <p:spPr>
          <a:xfrm>
            <a:off x="7345377" y="5339457"/>
            <a:ext cx="1083640" cy="475456"/>
          </a:xfrm>
          <a:prstGeom prst="rect">
            <a:avLst/>
          </a:prstGeom>
          <a:noFill/>
          <a:ln/>
        </p:spPr>
        <p:txBody>
          <a:bodyPr wrap="square" lIns="0" tIns="0" rIns="0" bIns="0" rtlCol="0" anchor="t">
            <a:normAutofit/>
          </a:bodyPr>
          <a:lstStyle/>
          <a:p>
            <a:pPr algn="l" indent="0" marL="0">
              <a:lnSpc>
                <a:spcPct val="123000"/>
              </a:lnSpc>
              <a:buNone/>
            </a:pPr>
            <a:r>
              <a:rPr lang="en-US" sz="1250" dirty="0">
                <a:solidFill>
                  <a:srgbClr val="E0D6DE"/>
                </a:solidFill>
                <a:latin typeface="Noto Sans" pitchFamily="34" charset="0"/>
                <a:ea typeface="Noto Sans" pitchFamily="34" charset="-122"/>
                <a:cs typeface="Noto Sans" pitchFamily="34" charset="-120"/>
              </a:rPr>
              <a:t>Neural Network</a:t>
            </a:r>
            <a:endParaRPr lang="en-US" sz="1250" dirty="0"/>
          </a:p>
        </p:txBody>
      </p:sp>
      <p:sp>
        <p:nvSpPr>
          <p:cNvPr id="58" name="Text 56"/>
          <p:cNvSpPr/>
          <p:nvPr/>
        </p:nvSpPr>
        <p:spPr>
          <a:xfrm>
            <a:off x="8756629" y="5339457"/>
            <a:ext cx="2606610" cy="475456"/>
          </a:xfrm>
          <a:prstGeom prst="rect">
            <a:avLst/>
          </a:prstGeom>
          <a:noFill/>
          <a:ln/>
        </p:spPr>
        <p:txBody>
          <a:bodyPr wrap="square" lIns="0" tIns="0" rIns="0" bIns="0" rtlCol="0" anchor="t">
            <a:normAutofit/>
          </a:bodyPr>
          <a:lstStyle/>
          <a:p>
            <a:pPr algn="l" indent="0" marL="0">
              <a:lnSpc>
                <a:spcPct val="123000"/>
              </a:lnSpc>
              <a:buNone/>
            </a:pPr>
            <a:r>
              <a:rPr lang="en-US" sz="1250" dirty="0">
                <a:solidFill>
                  <a:srgbClr val="E0D6DE"/>
                </a:solidFill>
                <a:latin typeface="Noto Sans" pitchFamily="34" charset="0"/>
                <a:ea typeface="Noto Sans" pitchFamily="34" charset="-122"/>
                <a:cs typeface="Noto Sans" pitchFamily="34" charset="-120"/>
              </a:rPr>
              <a:t>Scalable pipeline; lacks XAI integration</a:t>
            </a:r>
            <a:endParaRPr lang="en-US" sz="1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661475" y="536575"/>
            <a:ext cx="1162914" cy="201116"/>
          </a:xfrm>
          <a:prstGeom prst="roundRect">
            <a:avLst>
              <a:gd name="adj" fmla="val 7895"/>
            </a:avLst>
          </a:prstGeom>
          <a:noFill/>
          <a:ln w="6350">
            <a:solidFill>
              <a:srgbClr val="97B8FF"/>
            </a:solidFill>
            <a:prstDash val="solid"/>
          </a:ln>
        </p:spPr>
        <p:txBody>
          <a:bodyPr/>
          <a:p/>
        </p:txBody>
      </p:sp>
      <p:sp>
        <p:nvSpPr>
          <p:cNvPr id="3" name="Text 1"/>
          <p:cNvSpPr/>
          <p:nvPr/>
        </p:nvSpPr>
        <p:spPr>
          <a:xfrm>
            <a:off x="740848" y="576263"/>
            <a:ext cx="1613753" cy="121741"/>
          </a:xfrm>
          <a:prstGeom prst="rect">
            <a:avLst/>
          </a:prstGeom>
          <a:noFill/>
          <a:ln/>
        </p:spPr>
        <p:txBody>
          <a:bodyPr wrap="none" lIns="0" tIns="0" rIns="0" bIns="0" rtlCol="0" anchor="t"/>
          <a:lstStyle/>
          <a:p>
            <a:pPr algn="l" indent="0" marL="0">
              <a:lnSpc>
                <a:spcPct val="96000"/>
              </a:lnSpc>
              <a:buNone/>
            </a:pPr>
            <a:r>
              <a:rPr lang="en-US" sz="800" dirty="0">
                <a:solidFill>
                  <a:srgbClr val="97B8FF"/>
                </a:solidFill>
                <a:latin typeface="Noto Sans" pitchFamily="34" charset="0"/>
                <a:ea typeface="Noto Sans" pitchFamily="34" charset="-122"/>
                <a:cs typeface="Noto Sans" pitchFamily="34" charset="-120"/>
              </a:rPr>
              <a:t>LITERATURE REVIEW</a:t>
            </a:r>
            <a:endParaRPr lang="en-US" sz="800" dirty="0"/>
          </a:p>
        </p:txBody>
      </p:sp>
      <p:sp>
        <p:nvSpPr>
          <p:cNvPr id="4" name="Text 2"/>
          <p:cNvSpPr/>
          <p:nvPr/>
        </p:nvSpPr>
        <p:spPr>
          <a:xfrm>
            <a:off x="661475" y="774700"/>
            <a:ext cx="10868745" cy="413445"/>
          </a:xfrm>
          <a:prstGeom prst="rect">
            <a:avLst/>
          </a:prstGeom>
          <a:noFill/>
          <a:ln/>
        </p:spPr>
        <p:txBody>
          <a:bodyPr wrap="none" lIns="0" tIns="0" rIns="0" bIns="0" rtlCol="0" anchor="t"/>
          <a:lstStyle/>
          <a:p>
            <a:pPr algn="l" indent="0" marL="0">
              <a:lnSpc>
                <a:spcPct val="104000"/>
              </a:lnSpc>
              <a:buNone/>
            </a:pPr>
            <a:r>
              <a:rPr lang="en-US" sz="2600" dirty="0">
                <a:solidFill>
                  <a:srgbClr val="97B8FF"/>
                </a:solidFill>
                <a:latin typeface="Sora Medium" pitchFamily="34" charset="0"/>
                <a:ea typeface="Sora Medium" pitchFamily="34" charset="-122"/>
                <a:cs typeface="Sora Medium" pitchFamily="34" charset="-120"/>
              </a:rPr>
              <a:t>Gist of Five Research Papers</a:t>
            </a:r>
            <a:endParaRPr lang="en-US" sz="2600" dirty="0"/>
          </a:p>
        </p:txBody>
      </p:sp>
      <p:pic>
        <p:nvPicPr>
          <p:cNvPr id="5"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661475" y="1327051"/>
            <a:ext cx="10868745" cy="924818"/>
          </a:xfrm>
          <a:prstGeom prst="rect">
            <a:avLst/>
          </a:prstGeom>
        </p:spPr>
      </p:pic>
      <p:sp>
        <p:nvSpPr>
          <p:cNvPr id="6" name="Text 3"/>
          <p:cNvSpPr/>
          <p:nvPr/>
        </p:nvSpPr>
        <p:spPr>
          <a:xfrm>
            <a:off x="845918" y="1665387"/>
            <a:ext cx="198433" cy="248047"/>
          </a:xfrm>
          <a:prstGeom prst="rect">
            <a:avLst/>
          </a:prstGeom>
          <a:noFill/>
          <a:ln/>
        </p:spPr>
        <p:txBody>
          <a:bodyPr wrap="none" lIns="0" tIns="0" rIns="0" bIns="0" rtlCol="0" anchor="ctr"/>
          <a:lstStyle/>
          <a:p>
            <a:pPr algn="ctr" indent="0" marL="0">
              <a:lnSpc>
                <a:spcPct val="100000"/>
              </a:lnSpc>
              <a:buNone/>
            </a:pPr>
            <a:r>
              <a:rPr lang="en-US" sz="1550" dirty="0">
                <a:solidFill>
                  <a:srgbClr val="E0D6DE"/>
                </a:solidFill>
                <a:latin typeface="Sora Medium" pitchFamily="34" charset="0"/>
                <a:ea typeface="Sora Medium" pitchFamily="34" charset="-122"/>
                <a:cs typeface="Sora Medium" pitchFamily="34" charset="-120"/>
              </a:rPr>
              <a:t>1</a:t>
            </a:r>
            <a:endParaRPr lang="en-US" sz="1550" dirty="0"/>
          </a:p>
        </p:txBody>
      </p:sp>
      <p:sp>
        <p:nvSpPr>
          <p:cNvPr id="7" name="Text 4"/>
          <p:cNvSpPr/>
          <p:nvPr/>
        </p:nvSpPr>
        <p:spPr>
          <a:xfrm>
            <a:off x="1302313" y="1478359"/>
            <a:ext cx="10076603" cy="206673"/>
          </a:xfrm>
          <a:prstGeom prst="rect">
            <a:avLst/>
          </a:prstGeom>
          <a:noFill/>
          <a:ln/>
        </p:spPr>
        <p:txBody>
          <a:bodyPr wrap="none" lIns="0" tIns="0" rIns="0" bIns="0" rtlCol="0" anchor="t"/>
          <a:lstStyle/>
          <a:p>
            <a:pPr algn="l" indent="0" marL="0">
              <a:lnSpc>
                <a:spcPct val="104000"/>
              </a:lnSpc>
              <a:buNone/>
            </a:pPr>
            <a:r>
              <a:rPr lang="en-US" sz="1300" dirty="0">
                <a:solidFill>
                  <a:srgbClr val="E0D6DE"/>
                </a:solidFill>
                <a:latin typeface="Sora Medium" pitchFamily="34" charset="0"/>
                <a:ea typeface="Sora Medium" pitchFamily="34" charset="-122"/>
                <a:cs typeface="Sora Medium" pitchFamily="34" charset="-120"/>
              </a:rPr>
              <a:t>Student Performance Prediction Using ML</a:t>
            </a:r>
            <a:endParaRPr lang="en-US" sz="1300" dirty="0"/>
          </a:p>
        </p:txBody>
      </p:sp>
      <p:sp>
        <p:nvSpPr>
          <p:cNvPr id="8" name="Text 5"/>
          <p:cNvSpPr/>
          <p:nvPr/>
        </p:nvSpPr>
        <p:spPr>
          <a:xfrm>
            <a:off x="1302313" y="1740595"/>
            <a:ext cx="10076603" cy="359966"/>
          </a:xfrm>
          <a:prstGeom prst="rect">
            <a:avLst/>
          </a:prstGeom>
          <a:noFill/>
          <a:ln/>
        </p:spPr>
        <p:txBody>
          <a:bodyPr wrap="square" lIns="0" tIns="0" rIns="0" bIns="0" rtlCol="0" anchor="t">
            <a:normAutofit/>
          </a:bodyPr>
          <a:lstStyle/>
          <a:p>
            <a:pPr algn="l" indent="0" marL="0">
              <a:lnSpc>
                <a:spcPct val="113000"/>
              </a:lnSpc>
              <a:buNone/>
            </a:pPr>
            <a:r>
              <a:rPr lang="en-US" sz="1000" b="1" dirty="0">
                <a:solidFill>
                  <a:srgbClr val="E0D6DE"/>
                </a:solidFill>
                <a:latin typeface="Noto Sans Bold" pitchFamily="34" charset="0"/>
                <a:ea typeface="Noto Sans Bold" pitchFamily="34" charset="-122"/>
                <a:cs typeface="Noto Sans Bold" pitchFamily="34" charset="-120"/>
              </a:rPr>
              <a:t>Novelty:</a:t>
            </a:r>
            <a:pPr algn="l" indent="0" marL="0">
              <a:lnSpc>
                <a:spcPct val="113000"/>
              </a:lnSpc>
              <a:buNone/>
            </a:pPr>
            <a:r>
              <a:rPr lang="en-US" sz="1000" dirty="0">
                <a:solidFill>
                  <a:srgbClr val="E0D6DE"/>
                </a:solidFill>
                <a:latin typeface="Noto Sans" pitchFamily="34" charset="0"/>
                <a:ea typeface="Noto Sans" pitchFamily="34" charset="-122"/>
                <a:cs typeface="Noto Sans" pitchFamily="34" charset="-120"/>
              </a:rPr>
              <a:t> Multi-feature RF model for grade prediction. </a:t>
            </a:r>
            <a:pPr algn="l" indent="0" marL="0">
              <a:lnSpc>
                <a:spcPct val="113000"/>
              </a:lnSpc>
              <a:buNone/>
            </a:pPr>
            <a:r>
              <a:rPr lang="en-US" sz="1000" b="1" dirty="0">
                <a:solidFill>
                  <a:srgbClr val="E0D6DE"/>
                </a:solidFill>
                <a:latin typeface="Noto Sans Bold" pitchFamily="34" charset="0"/>
                <a:ea typeface="Noto Sans Bold" pitchFamily="34" charset="-122"/>
                <a:cs typeface="Noto Sans Bold" pitchFamily="34" charset="-120"/>
              </a:rPr>
              <a:t>Methodology:</a:t>
            </a:r>
            <a:pPr algn="l" indent="0" marL="0">
              <a:lnSpc>
                <a:spcPct val="113000"/>
              </a:lnSpc>
              <a:buNone/>
            </a:pPr>
            <a:r>
              <a:rPr lang="en-US" sz="1000" dirty="0">
                <a:solidFill>
                  <a:srgbClr val="E0D6DE"/>
                </a:solidFill>
                <a:latin typeface="Noto Sans" pitchFamily="34" charset="0"/>
                <a:ea typeface="Noto Sans" pitchFamily="34" charset="-122"/>
                <a:cs typeface="Noto Sans" pitchFamily="34" charset="-120"/>
              </a:rPr>
              <a:t> Supervised learning on academic records. </a:t>
            </a:r>
            <a:pPr algn="l" indent="0" marL="0">
              <a:lnSpc>
                <a:spcPct val="113000"/>
              </a:lnSpc>
              <a:buNone/>
            </a:pPr>
            <a:r>
              <a:rPr lang="en-US" sz="1000" b="1" dirty="0">
                <a:solidFill>
                  <a:srgbClr val="E0D6DE"/>
                </a:solidFill>
                <a:latin typeface="Noto Sans Bold" pitchFamily="34" charset="0"/>
                <a:ea typeface="Noto Sans Bold" pitchFamily="34" charset="-122"/>
                <a:cs typeface="Noto Sans Bold" pitchFamily="34" charset="-120"/>
              </a:rPr>
              <a:t>Algorithm:</a:t>
            </a:r>
            <a:pPr algn="l" indent="0" marL="0">
              <a:lnSpc>
                <a:spcPct val="113000"/>
              </a:lnSpc>
              <a:buNone/>
            </a:pPr>
            <a:r>
              <a:rPr lang="en-US" sz="1000" dirty="0">
                <a:solidFill>
                  <a:srgbClr val="E0D6DE"/>
                </a:solidFill>
                <a:latin typeface="Noto Sans" pitchFamily="34" charset="0"/>
                <a:ea typeface="Noto Sans" pitchFamily="34" charset="-122"/>
                <a:cs typeface="Noto Sans" pitchFamily="34" charset="-120"/>
              </a:rPr>
              <a:t> Random Forest. </a:t>
            </a:r>
            <a:pPr algn="l" indent="0" marL="0">
              <a:lnSpc>
                <a:spcPct val="113000"/>
              </a:lnSpc>
              <a:buNone/>
            </a:pPr>
            <a:r>
              <a:rPr lang="en-US" sz="1000" b="1" dirty="0">
                <a:solidFill>
                  <a:srgbClr val="E0D6DE"/>
                </a:solidFill>
                <a:latin typeface="Noto Sans Bold" pitchFamily="34" charset="0"/>
                <a:ea typeface="Noto Sans Bold" pitchFamily="34" charset="-122"/>
                <a:cs typeface="Noto Sans Bold" pitchFamily="34" charset="-120"/>
              </a:rPr>
              <a:t>Limitation:</a:t>
            </a:r>
            <a:pPr algn="l" indent="0" marL="0">
              <a:lnSpc>
                <a:spcPct val="113000"/>
              </a:lnSpc>
              <a:buNone/>
            </a:pPr>
            <a:r>
              <a:rPr lang="en-US" sz="1000" dirty="0">
                <a:solidFill>
                  <a:srgbClr val="E0D6DE"/>
                </a:solidFill>
                <a:latin typeface="Noto Sans" pitchFamily="34" charset="0"/>
                <a:ea typeface="Noto Sans" pitchFamily="34" charset="-122"/>
                <a:cs typeface="Noto Sans" pitchFamily="34" charset="-120"/>
              </a:rPr>
              <a:t> No explainability or deployment strategy.</a:t>
            </a:r>
            <a:endParaRPr lang="en-US" sz="1000" dirty="0"/>
          </a:p>
        </p:txBody>
      </p:sp>
      <p:pic>
        <p:nvPicPr>
          <p:cNvPr id="9"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61475" y="2344440"/>
            <a:ext cx="10868745" cy="924818"/>
          </a:xfrm>
          <a:prstGeom prst="rect">
            <a:avLst/>
          </a:prstGeom>
        </p:spPr>
      </p:pic>
      <p:sp>
        <p:nvSpPr>
          <p:cNvPr id="10" name="Text 6"/>
          <p:cNvSpPr/>
          <p:nvPr/>
        </p:nvSpPr>
        <p:spPr>
          <a:xfrm>
            <a:off x="845918" y="2682776"/>
            <a:ext cx="198433" cy="248047"/>
          </a:xfrm>
          <a:prstGeom prst="rect">
            <a:avLst/>
          </a:prstGeom>
          <a:noFill/>
          <a:ln/>
        </p:spPr>
        <p:txBody>
          <a:bodyPr wrap="none" lIns="0" tIns="0" rIns="0" bIns="0" rtlCol="0" anchor="ctr"/>
          <a:lstStyle/>
          <a:p>
            <a:pPr algn="ctr" indent="0" marL="0">
              <a:lnSpc>
                <a:spcPct val="100000"/>
              </a:lnSpc>
              <a:buNone/>
            </a:pPr>
            <a:r>
              <a:rPr lang="en-US" sz="1550" dirty="0">
                <a:solidFill>
                  <a:srgbClr val="E0D6DE"/>
                </a:solidFill>
                <a:latin typeface="Sora Medium" pitchFamily="34" charset="0"/>
                <a:ea typeface="Sora Medium" pitchFamily="34" charset="-122"/>
                <a:cs typeface="Sora Medium" pitchFamily="34" charset="-120"/>
              </a:rPr>
              <a:t>2</a:t>
            </a:r>
            <a:endParaRPr lang="en-US" sz="1550" dirty="0"/>
          </a:p>
        </p:txBody>
      </p:sp>
      <p:sp>
        <p:nvSpPr>
          <p:cNvPr id="11" name="Text 7"/>
          <p:cNvSpPr/>
          <p:nvPr/>
        </p:nvSpPr>
        <p:spPr>
          <a:xfrm>
            <a:off x="1302313" y="2495748"/>
            <a:ext cx="10076603" cy="206673"/>
          </a:xfrm>
          <a:prstGeom prst="rect">
            <a:avLst/>
          </a:prstGeom>
          <a:noFill/>
          <a:ln/>
        </p:spPr>
        <p:txBody>
          <a:bodyPr wrap="none" lIns="0" tIns="0" rIns="0" bIns="0" rtlCol="0" anchor="t"/>
          <a:lstStyle/>
          <a:p>
            <a:pPr algn="l" indent="0" marL="0">
              <a:lnSpc>
                <a:spcPct val="104000"/>
              </a:lnSpc>
              <a:buNone/>
            </a:pPr>
            <a:r>
              <a:rPr lang="en-US" sz="1300" dirty="0">
                <a:solidFill>
                  <a:srgbClr val="E0D6DE"/>
                </a:solidFill>
                <a:latin typeface="Sora Medium" pitchFamily="34" charset="0"/>
                <a:ea typeface="Sora Medium" pitchFamily="34" charset="-122"/>
                <a:cs typeface="Sora Medium" pitchFamily="34" charset="-120"/>
              </a:rPr>
              <a:t>Early Dropout Prediction in MOOCs</a:t>
            </a:r>
            <a:endParaRPr lang="en-US" sz="1300" dirty="0"/>
          </a:p>
        </p:txBody>
      </p:sp>
      <p:sp>
        <p:nvSpPr>
          <p:cNvPr id="12" name="Text 8"/>
          <p:cNvSpPr/>
          <p:nvPr/>
        </p:nvSpPr>
        <p:spPr>
          <a:xfrm>
            <a:off x="1302313" y="2757984"/>
            <a:ext cx="10076603" cy="359966"/>
          </a:xfrm>
          <a:prstGeom prst="rect">
            <a:avLst/>
          </a:prstGeom>
          <a:noFill/>
          <a:ln/>
        </p:spPr>
        <p:txBody>
          <a:bodyPr wrap="square" lIns="0" tIns="0" rIns="0" bIns="0" rtlCol="0" anchor="t">
            <a:normAutofit/>
          </a:bodyPr>
          <a:lstStyle/>
          <a:p>
            <a:pPr algn="l" indent="0" marL="0">
              <a:lnSpc>
                <a:spcPct val="113000"/>
              </a:lnSpc>
              <a:buNone/>
            </a:pPr>
            <a:r>
              <a:rPr lang="en-US" sz="1000" b="1" dirty="0">
                <a:solidFill>
                  <a:srgbClr val="E0D6DE"/>
                </a:solidFill>
                <a:latin typeface="Noto Sans Bold" pitchFamily="34" charset="0"/>
                <a:ea typeface="Noto Sans Bold" pitchFamily="34" charset="-122"/>
                <a:cs typeface="Noto Sans Bold" pitchFamily="34" charset="-120"/>
              </a:rPr>
              <a:t>Novelty:</a:t>
            </a:r>
            <a:pPr algn="l" indent="0" marL="0">
              <a:lnSpc>
                <a:spcPct val="113000"/>
              </a:lnSpc>
              <a:buNone/>
            </a:pPr>
            <a:r>
              <a:rPr lang="en-US" sz="1000" dirty="0">
                <a:solidFill>
                  <a:srgbClr val="E0D6DE"/>
                </a:solidFill>
                <a:latin typeface="Noto Sans" pitchFamily="34" charset="0"/>
                <a:ea typeface="Noto Sans" pitchFamily="34" charset="-122"/>
                <a:cs typeface="Noto Sans" pitchFamily="34" charset="-120"/>
              </a:rPr>
              <a:t> Behavioral clickstream analysis for dropout signals. </a:t>
            </a:r>
            <a:pPr algn="l" indent="0" marL="0">
              <a:lnSpc>
                <a:spcPct val="113000"/>
              </a:lnSpc>
              <a:buNone/>
            </a:pPr>
            <a:r>
              <a:rPr lang="en-US" sz="1000" b="1" dirty="0">
                <a:solidFill>
                  <a:srgbClr val="E0D6DE"/>
                </a:solidFill>
                <a:latin typeface="Noto Sans Bold" pitchFamily="34" charset="0"/>
                <a:ea typeface="Noto Sans Bold" pitchFamily="34" charset="-122"/>
                <a:cs typeface="Noto Sans Bold" pitchFamily="34" charset="-120"/>
              </a:rPr>
              <a:t>Methodology:</a:t>
            </a:r>
            <a:pPr algn="l" indent="0" marL="0">
              <a:lnSpc>
                <a:spcPct val="113000"/>
              </a:lnSpc>
              <a:buNone/>
            </a:pPr>
            <a:r>
              <a:rPr lang="en-US" sz="1000" dirty="0">
                <a:solidFill>
                  <a:srgbClr val="E0D6DE"/>
                </a:solidFill>
                <a:latin typeface="Noto Sans" pitchFamily="34" charset="0"/>
                <a:ea typeface="Noto Sans" pitchFamily="34" charset="-122"/>
                <a:cs typeface="Noto Sans" pitchFamily="34" charset="-120"/>
              </a:rPr>
              <a:t> Temporal feature engineering. </a:t>
            </a:r>
            <a:pPr algn="l" indent="0" marL="0">
              <a:lnSpc>
                <a:spcPct val="113000"/>
              </a:lnSpc>
              <a:buNone/>
            </a:pPr>
            <a:r>
              <a:rPr lang="en-US" sz="1000" b="1" dirty="0">
                <a:solidFill>
                  <a:srgbClr val="E0D6DE"/>
                </a:solidFill>
                <a:latin typeface="Noto Sans Bold" pitchFamily="34" charset="0"/>
                <a:ea typeface="Noto Sans Bold" pitchFamily="34" charset="-122"/>
                <a:cs typeface="Noto Sans Bold" pitchFamily="34" charset="-120"/>
              </a:rPr>
              <a:t>Algorithm:</a:t>
            </a:r>
            <a:pPr algn="l" indent="0" marL="0">
              <a:lnSpc>
                <a:spcPct val="113000"/>
              </a:lnSpc>
              <a:buNone/>
            </a:pPr>
            <a:r>
              <a:rPr lang="en-US" sz="1000" dirty="0">
                <a:solidFill>
                  <a:srgbClr val="E0D6DE"/>
                </a:solidFill>
                <a:latin typeface="Noto Sans" pitchFamily="34" charset="0"/>
                <a:ea typeface="Noto Sans" pitchFamily="34" charset="-122"/>
                <a:cs typeface="Noto Sans" pitchFamily="34" charset="-120"/>
              </a:rPr>
              <a:t> XGBoost. </a:t>
            </a:r>
            <a:pPr algn="l" indent="0" marL="0">
              <a:lnSpc>
                <a:spcPct val="113000"/>
              </a:lnSpc>
              <a:buNone/>
            </a:pPr>
            <a:r>
              <a:rPr lang="en-US" sz="1000" b="1" dirty="0">
                <a:solidFill>
                  <a:srgbClr val="E0D6DE"/>
                </a:solidFill>
                <a:latin typeface="Noto Sans Bold" pitchFamily="34" charset="0"/>
                <a:ea typeface="Noto Sans Bold" pitchFamily="34" charset="-122"/>
                <a:cs typeface="Noto Sans Bold" pitchFamily="34" charset="-120"/>
              </a:rPr>
              <a:t>Limitation:</a:t>
            </a:r>
            <a:pPr algn="l" indent="0" marL="0">
              <a:lnSpc>
                <a:spcPct val="113000"/>
              </a:lnSpc>
              <a:buNone/>
            </a:pPr>
            <a:r>
              <a:rPr lang="en-US" sz="1000" dirty="0">
                <a:solidFill>
                  <a:srgbClr val="E0D6DE"/>
                </a:solidFill>
                <a:latin typeface="Noto Sans" pitchFamily="34" charset="0"/>
                <a:ea typeface="Noto Sans" pitchFamily="34" charset="-122"/>
                <a:cs typeface="Noto Sans" pitchFamily="34" charset="-120"/>
              </a:rPr>
              <a:t> Domain-specific; no personalized recommendations.</a:t>
            </a:r>
            <a:endParaRPr lang="en-US" sz="1000" dirty="0"/>
          </a:p>
        </p:txBody>
      </p:sp>
      <p:pic>
        <p:nvPicPr>
          <p:cNvPr id="13"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61475" y="3361829"/>
            <a:ext cx="10868745" cy="924818"/>
          </a:xfrm>
          <a:prstGeom prst="rect">
            <a:avLst/>
          </a:prstGeom>
        </p:spPr>
      </p:pic>
      <p:sp>
        <p:nvSpPr>
          <p:cNvPr id="14" name="Text 9"/>
          <p:cNvSpPr/>
          <p:nvPr/>
        </p:nvSpPr>
        <p:spPr>
          <a:xfrm>
            <a:off x="845918" y="3700165"/>
            <a:ext cx="198433" cy="248047"/>
          </a:xfrm>
          <a:prstGeom prst="rect">
            <a:avLst/>
          </a:prstGeom>
          <a:noFill/>
          <a:ln/>
        </p:spPr>
        <p:txBody>
          <a:bodyPr wrap="none" lIns="0" tIns="0" rIns="0" bIns="0" rtlCol="0" anchor="ctr"/>
          <a:lstStyle/>
          <a:p>
            <a:pPr algn="ctr" indent="0" marL="0">
              <a:lnSpc>
                <a:spcPct val="100000"/>
              </a:lnSpc>
              <a:buNone/>
            </a:pPr>
            <a:r>
              <a:rPr lang="en-US" sz="1550" dirty="0">
                <a:solidFill>
                  <a:srgbClr val="E0D6DE"/>
                </a:solidFill>
                <a:latin typeface="Sora Medium" pitchFamily="34" charset="0"/>
                <a:ea typeface="Sora Medium" pitchFamily="34" charset="-122"/>
                <a:cs typeface="Sora Medium" pitchFamily="34" charset="-120"/>
              </a:rPr>
              <a:t>3</a:t>
            </a:r>
            <a:endParaRPr lang="en-US" sz="1550" dirty="0"/>
          </a:p>
        </p:txBody>
      </p:sp>
      <p:sp>
        <p:nvSpPr>
          <p:cNvPr id="15" name="Text 10"/>
          <p:cNvSpPr/>
          <p:nvPr/>
        </p:nvSpPr>
        <p:spPr>
          <a:xfrm>
            <a:off x="1302313" y="3513138"/>
            <a:ext cx="10076603" cy="206673"/>
          </a:xfrm>
          <a:prstGeom prst="rect">
            <a:avLst/>
          </a:prstGeom>
          <a:noFill/>
          <a:ln/>
        </p:spPr>
        <p:txBody>
          <a:bodyPr wrap="none" lIns="0" tIns="0" rIns="0" bIns="0" rtlCol="0" anchor="t"/>
          <a:lstStyle/>
          <a:p>
            <a:pPr algn="l" indent="0" marL="0">
              <a:lnSpc>
                <a:spcPct val="104000"/>
              </a:lnSpc>
              <a:buNone/>
            </a:pPr>
            <a:r>
              <a:rPr lang="en-US" sz="1300" dirty="0">
                <a:solidFill>
                  <a:srgbClr val="E0D6DE"/>
                </a:solidFill>
                <a:latin typeface="Sora Medium" pitchFamily="34" charset="0"/>
                <a:ea typeface="Sora Medium" pitchFamily="34" charset="-122"/>
                <a:cs typeface="Sora Medium" pitchFamily="34" charset="-120"/>
              </a:rPr>
              <a:t>Explainable AI for Academic Risk</a:t>
            </a:r>
            <a:endParaRPr lang="en-US" sz="1300" dirty="0"/>
          </a:p>
        </p:txBody>
      </p:sp>
      <p:sp>
        <p:nvSpPr>
          <p:cNvPr id="16" name="Text 11"/>
          <p:cNvSpPr/>
          <p:nvPr/>
        </p:nvSpPr>
        <p:spPr>
          <a:xfrm>
            <a:off x="1302313" y="3775373"/>
            <a:ext cx="10076603" cy="359966"/>
          </a:xfrm>
          <a:prstGeom prst="rect">
            <a:avLst/>
          </a:prstGeom>
          <a:noFill/>
          <a:ln/>
        </p:spPr>
        <p:txBody>
          <a:bodyPr wrap="square" lIns="0" tIns="0" rIns="0" bIns="0" rtlCol="0" anchor="t">
            <a:normAutofit/>
          </a:bodyPr>
          <a:lstStyle/>
          <a:p>
            <a:pPr algn="l" indent="0" marL="0">
              <a:lnSpc>
                <a:spcPct val="113000"/>
              </a:lnSpc>
              <a:buNone/>
            </a:pPr>
            <a:r>
              <a:rPr lang="en-US" sz="1000" b="1" dirty="0">
                <a:solidFill>
                  <a:srgbClr val="E0D6DE"/>
                </a:solidFill>
                <a:latin typeface="Noto Sans Bold" pitchFamily="34" charset="0"/>
                <a:ea typeface="Noto Sans Bold" pitchFamily="34" charset="-122"/>
                <a:cs typeface="Noto Sans Bold" pitchFamily="34" charset="-120"/>
              </a:rPr>
              <a:t>Novelty:</a:t>
            </a:r>
            <a:pPr algn="l" indent="0" marL="0">
              <a:lnSpc>
                <a:spcPct val="113000"/>
              </a:lnSpc>
              <a:buNone/>
            </a:pPr>
            <a:r>
              <a:rPr lang="en-US" sz="1000" dirty="0">
                <a:solidFill>
                  <a:srgbClr val="E0D6DE"/>
                </a:solidFill>
                <a:latin typeface="Noto Sans" pitchFamily="34" charset="0"/>
                <a:ea typeface="Noto Sans" pitchFamily="34" charset="-122"/>
                <a:cs typeface="Noto Sans" pitchFamily="34" charset="-120"/>
              </a:rPr>
              <a:t> SHAP values for interpretable risk scores. </a:t>
            </a:r>
            <a:pPr algn="l" indent="0" marL="0">
              <a:lnSpc>
                <a:spcPct val="113000"/>
              </a:lnSpc>
              <a:buNone/>
            </a:pPr>
            <a:r>
              <a:rPr lang="en-US" sz="1000" b="1" dirty="0">
                <a:solidFill>
                  <a:srgbClr val="E0D6DE"/>
                </a:solidFill>
                <a:latin typeface="Noto Sans Bold" pitchFamily="34" charset="0"/>
                <a:ea typeface="Noto Sans Bold" pitchFamily="34" charset="-122"/>
                <a:cs typeface="Noto Sans Bold" pitchFamily="34" charset="-120"/>
              </a:rPr>
              <a:t>Methodology:</a:t>
            </a:r>
            <a:pPr algn="l" indent="0" marL="0">
              <a:lnSpc>
                <a:spcPct val="113000"/>
              </a:lnSpc>
              <a:buNone/>
            </a:pPr>
            <a:r>
              <a:rPr lang="en-US" sz="1000" dirty="0">
                <a:solidFill>
                  <a:srgbClr val="E0D6DE"/>
                </a:solidFill>
                <a:latin typeface="Noto Sans" pitchFamily="34" charset="0"/>
                <a:ea typeface="Noto Sans" pitchFamily="34" charset="-122"/>
                <a:cs typeface="Noto Sans" pitchFamily="34" charset="-120"/>
              </a:rPr>
              <a:t> Logistic regression + SHAP. </a:t>
            </a:r>
            <a:pPr algn="l" indent="0" marL="0">
              <a:lnSpc>
                <a:spcPct val="113000"/>
              </a:lnSpc>
              <a:buNone/>
            </a:pPr>
            <a:r>
              <a:rPr lang="en-US" sz="1000" b="1" dirty="0">
                <a:solidFill>
                  <a:srgbClr val="E0D6DE"/>
                </a:solidFill>
                <a:latin typeface="Noto Sans Bold" pitchFamily="34" charset="0"/>
                <a:ea typeface="Noto Sans Bold" pitchFamily="34" charset="-122"/>
                <a:cs typeface="Noto Sans Bold" pitchFamily="34" charset="-120"/>
              </a:rPr>
              <a:t>Algorithm:</a:t>
            </a:r>
            <a:pPr algn="l" indent="0" marL="0">
              <a:lnSpc>
                <a:spcPct val="113000"/>
              </a:lnSpc>
              <a:buNone/>
            </a:pPr>
            <a:r>
              <a:rPr lang="en-US" sz="1000" dirty="0">
                <a:solidFill>
                  <a:srgbClr val="E0D6DE"/>
                </a:solidFill>
                <a:latin typeface="Noto Sans" pitchFamily="34" charset="0"/>
                <a:ea typeface="Noto Sans" pitchFamily="34" charset="-122"/>
                <a:cs typeface="Noto Sans" pitchFamily="34" charset="-120"/>
              </a:rPr>
              <a:t> LR + SHAP. </a:t>
            </a:r>
            <a:pPr algn="l" indent="0" marL="0">
              <a:lnSpc>
                <a:spcPct val="113000"/>
              </a:lnSpc>
              <a:buNone/>
            </a:pPr>
            <a:r>
              <a:rPr lang="en-US" sz="1000" b="1" dirty="0">
                <a:solidFill>
                  <a:srgbClr val="E0D6DE"/>
                </a:solidFill>
                <a:latin typeface="Noto Sans Bold" pitchFamily="34" charset="0"/>
                <a:ea typeface="Noto Sans Bold" pitchFamily="34" charset="-122"/>
                <a:cs typeface="Noto Sans Bold" pitchFamily="34" charset="-120"/>
              </a:rPr>
              <a:t>Limitation:</a:t>
            </a:r>
            <a:pPr algn="l" indent="0" marL="0">
              <a:lnSpc>
                <a:spcPct val="113000"/>
              </a:lnSpc>
              <a:buNone/>
            </a:pPr>
            <a:r>
              <a:rPr lang="en-US" sz="1000" dirty="0">
                <a:solidFill>
                  <a:srgbClr val="E0D6DE"/>
                </a:solidFill>
                <a:latin typeface="Noto Sans" pitchFamily="34" charset="0"/>
                <a:ea typeface="Noto Sans" pitchFamily="34" charset="-122"/>
                <a:cs typeface="Noto Sans" pitchFamily="34" charset="-120"/>
              </a:rPr>
              <a:t> No MLOps or automated retraining.</a:t>
            </a:r>
            <a:endParaRPr lang="en-US" sz="1000" dirty="0"/>
          </a:p>
        </p:txBody>
      </p:sp>
      <p:pic>
        <p:nvPicPr>
          <p:cNvPr id="17"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661475" y="4379218"/>
            <a:ext cx="10868745" cy="924818"/>
          </a:xfrm>
          <a:prstGeom prst="rect">
            <a:avLst/>
          </a:prstGeom>
        </p:spPr>
      </p:pic>
      <p:sp>
        <p:nvSpPr>
          <p:cNvPr id="18" name="Text 12"/>
          <p:cNvSpPr/>
          <p:nvPr/>
        </p:nvSpPr>
        <p:spPr>
          <a:xfrm>
            <a:off x="845918" y="4717554"/>
            <a:ext cx="198433" cy="248047"/>
          </a:xfrm>
          <a:prstGeom prst="rect">
            <a:avLst/>
          </a:prstGeom>
          <a:noFill/>
          <a:ln/>
        </p:spPr>
        <p:txBody>
          <a:bodyPr wrap="none" lIns="0" tIns="0" rIns="0" bIns="0" rtlCol="0" anchor="ctr"/>
          <a:lstStyle/>
          <a:p>
            <a:pPr algn="ctr" indent="0" marL="0">
              <a:lnSpc>
                <a:spcPct val="100000"/>
              </a:lnSpc>
              <a:buNone/>
            </a:pPr>
            <a:r>
              <a:rPr lang="en-US" sz="1550" dirty="0">
                <a:solidFill>
                  <a:srgbClr val="E0D6DE"/>
                </a:solidFill>
                <a:latin typeface="Sora Medium" pitchFamily="34" charset="0"/>
                <a:ea typeface="Sora Medium" pitchFamily="34" charset="-122"/>
                <a:cs typeface="Sora Medium" pitchFamily="34" charset="-120"/>
              </a:rPr>
              <a:t>4</a:t>
            </a:r>
            <a:endParaRPr lang="en-US" sz="1550" dirty="0"/>
          </a:p>
        </p:txBody>
      </p:sp>
      <p:sp>
        <p:nvSpPr>
          <p:cNvPr id="19" name="Text 13"/>
          <p:cNvSpPr/>
          <p:nvPr/>
        </p:nvSpPr>
        <p:spPr>
          <a:xfrm>
            <a:off x="1302313" y="4530527"/>
            <a:ext cx="10076603" cy="206673"/>
          </a:xfrm>
          <a:prstGeom prst="rect">
            <a:avLst/>
          </a:prstGeom>
          <a:noFill/>
          <a:ln/>
        </p:spPr>
        <p:txBody>
          <a:bodyPr wrap="none" lIns="0" tIns="0" rIns="0" bIns="0" rtlCol="0" anchor="t"/>
          <a:lstStyle/>
          <a:p>
            <a:pPr algn="l" indent="0" marL="0">
              <a:lnSpc>
                <a:spcPct val="104000"/>
              </a:lnSpc>
              <a:buNone/>
            </a:pPr>
            <a:r>
              <a:rPr lang="en-US" sz="1300" dirty="0">
                <a:solidFill>
                  <a:srgbClr val="E0D6DE"/>
                </a:solidFill>
                <a:latin typeface="Sora Medium" pitchFamily="34" charset="0"/>
                <a:ea typeface="Sora Medium" pitchFamily="34" charset="-122"/>
                <a:cs typeface="Sora Medium" pitchFamily="34" charset="-120"/>
              </a:rPr>
              <a:t>Automated Student Success System</a:t>
            </a:r>
            <a:endParaRPr lang="en-US" sz="1300" dirty="0"/>
          </a:p>
        </p:txBody>
      </p:sp>
      <p:sp>
        <p:nvSpPr>
          <p:cNvPr id="20" name="Text 14"/>
          <p:cNvSpPr/>
          <p:nvPr/>
        </p:nvSpPr>
        <p:spPr>
          <a:xfrm>
            <a:off x="1302313" y="4792762"/>
            <a:ext cx="10076603" cy="359966"/>
          </a:xfrm>
          <a:prstGeom prst="rect">
            <a:avLst/>
          </a:prstGeom>
          <a:noFill/>
          <a:ln/>
        </p:spPr>
        <p:txBody>
          <a:bodyPr wrap="square" lIns="0" tIns="0" rIns="0" bIns="0" rtlCol="0" anchor="t">
            <a:normAutofit/>
          </a:bodyPr>
          <a:lstStyle/>
          <a:p>
            <a:pPr algn="l" indent="0" marL="0">
              <a:lnSpc>
                <a:spcPct val="113000"/>
              </a:lnSpc>
              <a:buNone/>
            </a:pPr>
            <a:r>
              <a:rPr lang="en-US" sz="1000" b="1" dirty="0">
                <a:solidFill>
                  <a:srgbClr val="E0D6DE"/>
                </a:solidFill>
                <a:latin typeface="Noto Sans Bold" pitchFamily="34" charset="0"/>
                <a:ea typeface="Noto Sans Bold" pitchFamily="34" charset="-122"/>
                <a:cs typeface="Noto Sans Bold" pitchFamily="34" charset="-120"/>
              </a:rPr>
              <a:t>Novelty:</a:t>
            </a:r>
            <a:pPr algn="l" indent="0" marL="0">
              <a:lnSpc>
                <a:spcPct val="113000"/>
              </a:lnSpc>
              <a:buNone/>
            </a:pPr>
            <a:r>
              <a:rPr lang="en-US" sz="1000" dirty="0">
                <a:solidFill>
                  <a:srgbClr val="E0D6DE"/>
                </a:solidFill>
                <a:latin typeface="Noto Sans" pitchFamily="34" charset="0"/>
                <a:ea typeface="Noto Sans" pitchFamily="34" charset="-122"/>
                <a:cs typeface="Noto Sans" pitchFamily="34" charset="-120"/>
              </a:rPr>
              <a:t> Ensemble model with feedback loop. </a:t>
            </a:r>
            <a:pPr algn="l" indent="0" marL="0">
              <a:lnSpc>
                <a:spcPct val="113000"/>
              </a:lnSpc>
              <a:buNone/>
            </a:pPr>
            <a:r>
              <a:rPr lang="en-US" sz="1000" b="1" dirty="0">
                <a:solidFill>
                  <a:srgbClr val="E0D6DE"/>
                </a:solidFill>
                <a:latin typeface="Noto Sans Bold" pitchFamily="34" charset="0"/>
                <a:ea typeface="Noto Sans Bold" pitchFamily="34" charset="-122"/>
                <a:cs typeface="Noto Sans Bold" pitchFamily="34" charset="-120"/>
              </a:rPr>
              <a:t>Methodology:</a:t>
            </a:r>
            <a:pPr algn="l" indent="0" marL="0">
              <a:lnSpc>
                <a:spcPct val="113000"/>
              </a:lnSpc>
              <a:buNone/>
            </a:pPr>
            <a:r>
              <a:rPr lang="en-US" sz="1000" dirty="0">
                <a:solidFill>
                  <a:srgbClr val="E0D6DE"/>
                </a:solidFill>
                <a:latin typeface="Noto Sans" pitchFamily="34" charset="0"/>
                <a:ea typeface="Noto Sans" pitchFamily="34" charset="-122"/>
                <a:cs typeface="Noto Sans" pitchFamily="34" charset="-120"/>
              </a:rPr>
              <a:t> Gradient boosting + intervention tracking. </a:t>
            </a:r>
            <a:pPr algn="l" indent="0" marL="0">
              <a:lnSpc>
                <a:spcPct val="113000"/>
              </a:lnSpc>
              <a:buNone/>
            </a:pPr>
            <a:r>
              <a:rPr lang="en-US" sz="1000" b="1" dirty="0">
                <a:solidFill>
                  <a:srgbClr val="E0D6DE"/>
                </a:solidFill>
                <a:latin typeface="Noto Sans Bold" pitchFamily="34" charset="0"/>
                <a:ea typeface="Noto Sans Bold" pitchFamily="34" charset="-122"/>
                <a:cs typeface="Noto Sans Bold" pitchFamily="34" charset="-120"/>
              </a:rPr>
              <a:t>Algorithm:</a:t>
            </a:r>
            <a:pPr algn="l" indent="0" marL="0">
              <a:lnSpc>
                <a:spcPct val="113000"/>
              </a:lnSpc>
              <a:buNone/>
            </a:pPr>
            <a:r>
              <a:rPr lang="en-US" sz="1000" dirty="0">
                <a:solidFill>
                  <a:srgbClr val="E0D6DE"/>
                </a:solidFill>
                <a:latin typeface="Noto Sans" pitchFamily="34" charset="0"/>
                <a:ea typeface="Noto Sans" pitchFamily="34" charset="-122"/>
                <a:cs typeface="Noto Sans" pitchFamily="34" charset="-120"/>
              </a:rPr>
              <a:t> Gradient Boosting. </a:t>
            </a:r>
            <a:pPr algn="l" indent="0" marL="0">
              <a:lnSpc>
                <a:spcPct val="113000"/>
              </a:lnSpc>
              <a:buNone/>
            </a:pPr>
            <a:r>
              <a:rPr lang="en-US" sz="1000" b="1" dirty="0">
                <a:solidFill>
                  <a:srgbClr val="E0D6DE"/>
                </a:solidFill>
                <a:latin typeface="Noto Sans Bold" pitchFamily="34" charset="0"/>
                <a:ea typeface="Noto Sans Bold" pitchFamily="34" charset="-122"/>
                <a:cs typeface="Noto Sans Bold" pitchFamily="34" charset="-120"/>
              </a:rPr>
              <a:t>Limitation:</a:t>
            </a:r>
            <a:pPr algn="l" indent="0" marL="0">
              <a:lnSpc>
                <a:spcPct val="113000"/>
              </a:lnSpc>
              <a:buNone/>
            </a:pPr>
            <a:r>
              <a:rPr lang="en-US" sz="1000" dirty="0">
                <a:solidFill>
                  <a:srgbClr val="E0D6DE"/>
                </a:solidFill>
                <a:latin typeface="Noto Sans" pitchFamily="34" charset="0"/>
                <a:ea typeface="Noto Sans" pitchFamily="34" charset="-122"/>
                <a:cs typeface="Noto Sans" pitchFamily="34" charset="-120"/>
              </a:rPr>
              <a:t> Static model; no drift monitoring.</a:t>
            </a:r>
            <a:endParaRPr lang="en-US" sz="1000" dirty="0"/>
          </a:p>
        </p:txBody>
      </p:sp>
      <p:pic>
        <p:nvPicPr>
          <p:cNvPr id="21" name="Image 4" descr="preencoded.png">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661475" y="5396607"/>
            <a:ext cx="10868745" cy="924818"/>
          </a:xfrm>
          <a:prstGeom prst="rect">
            <a:avLst/>
          </a:prstGeom>
        </p:spPr>
      </p:pic>
      <p:sp>
        <p:nvSpPr>
          <p:cNvPr id="22" name="Text 15"/>
          <p:cNvSpPr/>
          <p:nvPr/>
        </p:nvSpPr>
        <p:spPr>
          <a:xfrm>
            <a:off x="845918" y="5734943"/>
            <a:ext cx="198433" cy="248047"/>
          </a:xfrm>
          <a:prstGeom prst="rect">
            <a:avLst/>
          </a:prstGeom>
          <a:noFill/>
          <a:ln/>
        </p:spPr>
        <p:txBody>
          <a:bodyPr wrap="none" lIns="0" tIns="0" rIns="0" bIns="0" rtlCol="0" anchor="ctr"/>
          <a:lstStyle/>
          <a:p>
            <a:pPr algn="ctr" indent="0" marL="0">
              <a:lnSpc>
                <a:spcPct val="100000"/>
              </a:lnSpc>
              <a:buNone/>
            </a:pPr>
            <a:r>
              <a:rPr lang="en-US" sz="1550" dirty="0">
                <a:solidFill>
                  <a:srgbClr val="E0D6DE"/>
                </a:solidFill>
                <a:latin typeface="Sora Medium" pitchFamily="34" charset="0"/>
                <a:ea typeface="Sora Medium" pitchFamily="34" charset="-122"/>
                <a:cs typeface="Sora Medium" pitchFamily="34" charset="-120"/>
              </a:rPr>
              <a:t>5</a:t>
            </a:r>
            <a:endParaRPr lang="en-US" sz="1550" dirty="0"/>
          </a:p>
        </p:txBody>
      </p:sp>
      <p:sp>
        <p:nvSpPr>
          <p:cNvPr id="23" name="Text 16"/>
          <p:cNvSpPr/>
          <p:nvPr/>
        </p:nvSpPr>
        <p:spPr>
          <a:xfrm>
            <a:off x="1302313" y="5547916"/>
            <a:ext cx="10076603" cy="206673"/>
          </a:xfrm>
          <a:prstGeom prst="rect">
            <a:avLst/>
          </a:prstGeom>
          <a:noFill/>
          <a:ln/>
        </p:spPr>
        <p:txBody>
          <a:bodyPr wrap="none" lIns="0" tIns="0" rIns="0" bIns="0" rtlCol="0" anchor="t"/>
          <a:lstStyle/>
          <a:p>
            <a:pPr algn="l" indent="0" marL="0">
              <a:lnSpc>
                <a:spcPct val="104000"/>
              </a:lnSpc>
              <a:buNone/>
            </a:pPr>
            <a:r>
              <a:rPr lang="en-US" sz="1300" dirty="0">
                <a:solidFill>
                  <a:srgbClr val="E0D6DE"/>
                </a:solidFill>
                <a:latin typeface="Sora Medium" pitchFamily="34" charset="0"/>
                <a:ea typeface="Sora Medium" pitchFamily="34" charset="-122"/>
                <a:cs typeface="Sora Medium" pitchFamily="34" charset="-120"/>
              </a:rPr>
              <a:t>MLOps Framework for Education</a:t>
            </a:r>
            <a:endParaRPr lang="en-US" sz="1300" dirty="0"/>
          </a:p>
        </p:txBody>
      </p:sp>
      <p:sp>
        <p:nvSpPr>
          <p:cNvPr id="24" name="Text 17"/>
          <p:cNvSpPr/>
          <p:nvPr/>
        </p:nvSpPr>
        <p:spPr>
          <a:xfrm>
            <a:off x="1302313" y="5810151"/>
            <a:ext cx="10076603" cy="359966"/>
          </a:xfrm>
          <a:prstGeom prst="rect">
            <a:avLst/>
          </a:prstGeom>
          <a:noFill/>
          <a:ln/>
        </p:spPr>
        <p:txBody>
          <a:bodyPr wrap="square" lIns="0" tIns="0" rIns="0" bIns="0" rtlCol="0" anchor="t">
            <a:normAutofit/>
          </a:bodyPr>
          <a:lstStyle/>
          <a:p>
            <a:pPr algn="l" indent="0" marL="0">
              <a:lnSpc>
                <a:spcPct val="113000"/>
              </a:lnSpc>
              <a:buNone/>
            </a:pPr>
            <a:r>
              <a:rPr lang="en-US" sz="1000" b="1" dirty="0">
                <a:solidFill>
                  <a:srgbClr val="E0D6DE"/>
                </a:solidFill>
                <a:latin typeface="Noto Sans Bold" pitchFamily="34" charset="0"/>
                <a:ea typeface="Noto Sans Bold" pitchFamily="34" charset="-122"/>
                <a:cs typeface="Noto Sans Bold" pitchFamily="34" charset="-120"/>
              </a:rPr>
              <a:t>Novelty:</a:t>
            </a:r>
            <a:pPr algn="l" indent="0" marL="0">
              <a:lnSpc>
                <a:spcPct val="113000"/>
              </a:lnSpc>
              <a:buNone/>
            </a:pPr>
            <a:r>
              <a:rPr lang="en-US" sz="1000" dirty="0">
                <a:solidFill>
                  <a:srgbClr val="E0D6DE"/>
                </a:solidFill>
                <a:latin typeface="Noto Sans" pitchFamily="34" charset="0"/>
                <a:ea typeface="Noto Sans" pitchFamily="34" charset="-122"/>
                <a:cs typeface="Noto Sans" pitchFamily="34" charset="-120"/>
              </a:rPr>
              <a:t> End-to-end CI/CD pipeline for educational ML. </a:t>
            </a:r>
            <a:pPr algn="l" indent="0" marL="0">
              <a:lnSpc>
                <a:spcPct val="113000"/>
              </a:lnSpc>
              <a:buNone/>
            </a:pPr>
            <a:r>
              <a:rPr lang="en-US" sz="1000" b="1" dirty="0">
                <a:solidFill>
                  <a:srgbClr val="E0D6DE"/>
                </a:solidFill>
                <a:latin typeface="Noto Sans Bold" pitchFamily="34" charset="0"/>
                <a:ea typeface="Noto Sans Bold" pitchFamily="34" charset="-122"/>
                <a:cs typeface="Noto Sans Bold" pitchFamily="34" charset="-120"/>
              </a:rPr>
              <a:t>Methodology:</a:t>
            </a:r>
            <a:pPr algn="l" indent="0" marL="0">
              <a:lnSpc>
                <a:spcPct val="113000"/>
              </a:lnSpc>
              <a:buNone/>
            </a:pPr>
            <a:r>
              <a:rPr lang="en-US" sz="1000" dirty="0">
                <a:solidFill>
                  <a:srgbClr val="E0D6DE"/>
                </a:solidFill>
                <a:latin typeface="Noto Sans" pitchFamily="34" charset="0"/>
                <a:ea typeface="Noto Sans" pitchFamily="34" charset="-122"/>
                <a:cs typeface="Noto Sans" pitchFamily="34" charset="-120"/>
              </a:rPr>
              <a:t> Docker + Kubernetes orchestration. </a:t>
            </a:r>
            <a:pPr algn="l" indent="0" marL="0">
              <a:lnSpc>
                <a:spcPct val="113000"/>
              </a:lnSpc>
              <a:buNone/>
            </a:pPr>
            <a:r>
              <a:rPr lang="en-US" sz="1000" b="1" dirty="0">
                <a:solidFill>
                  <a:srgbClr val="E0D6DE"/>
                </a:solidFill>
                <a:latin typeface="Noto Sans Bold" pitchFamily="34" charset="0"/>
                <a:ea typeface="Noto Sans Bold" pitchFamily="34" charset="-122"/>
                <a:cs typeface="Noto Sans Bold" pitchFamily="34" charset="-120"/>
              </a:rPr>
              <a:t>Algorithm:</a:t>
            </a:r>
            <a:pPr algn="l" indent="0" marL="0">
              <a:lnSpc>
                <a:spcPct val="113000"/>
              </a:lnSpc>
              <a:buNone/>
            </a:pPr>
            <a:r>
              <a:rPr lang="en-US" sz="1000" dirty="0">
                <a:solidFill>
                  <a:srgbClr val="E0D6DE"/>
                </a:solidFill>
                <a:latin typeface="Noto Sans" pitchFamily="34" charset="0"/>
                <a:ea typeface="Noto Sans" pitchFamily="34" charset="-122"/>
                <a:cs typeface="Noto Sans" pitchFamily="34" charset="-120"/>
              </a:rPr>
              <a:t> Neural Network. </a:t>
            </a:r>
            <a:pPr algn="l" indent="0" marL="0">
              <a:lnSpc>
                <a:spcPct val="113000"/>
              </a:lnSpc>
              <a:buNone/>
            </a:pPr>
            <a:r>
              <a:rPr lang="en-US" sz="1000" b="1" dirty="0">
                <a:solidFill>
                  <a:srgbClr val="E0D6DE"/>
                </a:solidFill>
                <a:latin typeface="Noto Sans Bold" pitchFamily="34" charset="0"/>
                <a:ea typeface="Noto Sans Bold" pitchFamily="34" charset="-122"/>
                <a:cs typeface="Noto Sans Bold" pitchFamily="34" charset="-120"/>
              </a:rPr>
              <a:t>Limitation:</a:t>
            </a:r>
            <a:pPr algn="l" indent="0" marL="0">
              <a:lnSpc>
                <a:spcPct val="113000"/>
              </a:lnSpc>
              <a:buNone/>
            </a:pPr>
            <a:r>
              <a:rPr lang="en-US" sz="1000" dirty="0">
                <a:solidFill>
                  <a:srgbClr val="E0D6DE"/>
                </a:solidFill>
                <a:latin typeface="Noto Sans" pitchFamily="34" charset="0"/>
                <a:ea typeface="Noto Sans" pitchFamily="34" charset="-122"/>
                <a:cs typeface="Noto Sans" pitchFamily="34" charset="-120"/>
              </a:rPr>
              <a:t> Black-box model; lacks XAI.</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661475" y="787995"/>
            <a:ext cx="1176507" cy="258465"/>
          </a:xfrm>
          <a:prstGeom prst="roundRect">
            <a:avLst>
              <a:gd name="adj" fmla="val 7898"/>
            </a:avLst>
          </a:prstGeom>
          <a:noFill/>
          <a:ln w="6350">
            <a:solidFill>
              <a:srgbClr val="97B8FF"/>
            </a:solidFill>
            <a:prstDash val="solid"/>
          </a:ln>
        </p:spPr>
        <p:txBody>
          <a:bodyPr/>
          <a:p/>
        </p:txBody>
      </p:sp>
      <p:sp>
        <p:nvSpPr>
          <p:cNvPr id="3" name="Text 1"/>
          <p:cNvSpPr/>
          <p:nvPr/>
        </p:nvSpPr>
        <p:spPr>
          <a:xfrm>
            <a:off x="763469" y="838994"/>
            <a:ext cx="1582103" cy="156468"/>
          </a:xfrm>
          <a:prstGeom prst="rect">
            <a:avLst/>
          </a:prstGeom>
          <a:noFill/>
          <a:ln/>
        </p:spPr>
        <p:txBody>
          <a:bodyPr wrap="none" lIns="0" tIns="0" rIns="0" bIns="0" rtlCol="0" anchor="t"/>
          <a:lstStyle/>
          <a:p>
            <a:pPr algn="l" indent="0" marL="0">
              <a:lnSpc>
                <a:spcPct val="96000"/>
              </a:lnSpc>
              <a:buNone/>
            </a:pPr>
            <a:r>
              <a:rPr lang="en-US" sz="1050" dirty="0">
                <a:solidFill>
                  <a:srgbClr val="97B8FF"/>
                </a:solidFill>
                <a:latin typeface="Noto Sans" pitchFamily="34" charset="0"/>
                <a:ea typeface="Noto Sans" pitchFamily="34" charset="-122"/>
                <a:cs typeface="Noto Sans" pitchFamily="34" charset="-120"/>
              </a:rPr>
              <a:t>RESEARCH GAP</a:t>
            </a:r>
            <a:endParaRPr lang="en-US" sz="1050" dirty="0"/>
          </a:p>
        </p:txBody>
      </p:sp>
      <p:sp>
        <p:nvSpPr>
          <p:cNvPr id="4" name="Text 2"/>
          <p:cNvSpPr/>
          <p:nvPr/>
        </p:nvSpPr>
        <p:spPr>
          <a:xfrm>
            <a:off x="661475" y="1107678"/>
            <a:ext cx="10868745" cy="531614"/>
          </a:xfrm>
          <a:prstGeom prst="rect">
            <a:avLst/>
          </a:prstGeom>
          <a:noFill/>
          <a:ln/>
        </p:spPr>
        <p:txBody>
          <a:bodyPr wrap="none" lIns="0" tIns="0" rIns="0" bIns="0" rtlCol="0" anchor="t"/>
          <a:lstStyle/>
          <a:p>
            <a:pPr algn="l" indent="0" marL="0">
              <a:lnSpc>
                <a:spcPct val="104000"/>
              </a:lnSpc>
              <a:buNone/>
            </a:pPr>
            <a:r>
              <a:rPr lang="en-US" sz="3300" dirty="0">
                <a:solidFill>
                  <a:srgbClr val="97B8FF"/>
                </a:solidFill>
                <a:latin typeface="Sora Medium" pitchFamily="34" charset="0"/>
                <a:ea typeface="Sora Medium" pitchFamily="34" charset="-122"/>
                <a:cs typeface="Sora Medium" pitchFamily="34" charset="-120"/>
              </a:rPr>
              <a:t>Novelty &amp; Problem Statement</a:t>
            </a:r>
            <a:endParaRPr lang="en-US" sz="3300" dirty="0"/>
          </a:p>
        </p:txBody>
      </p:sp>
      <p:sp>
        <p:nvSpPr>
          <p:cNvPr id="5" name="Text 3"/>
          <p:cNvSpPr/>
          <p:nvPr/>
        </p:nvSpPr>
        <p:spPr>
          <a:xfrm>
            <a:off x="661475" y="2021979"/>
            <a:ext cx="5226911" cy="265708"/>
          </a:xfrm>
          <a:prstGeom prst="rect">
            <a:avLst/>
          </a:prstGeom>
          <a:noFill/>
          <a:ln/>
        </p:spPr>
        <p:txBody>
          <a:bodyPr wrap="none" lIns="0" tIns="0" rIns="0" bIns="0" rtlCol="0" anchor="t"/>
          <a:lstStyle/>
          <a:p>
            <a:pPr algn="l" indent="0" marL="0">
              <a:lnSpc>
                <a:spcPct val="104000"/>
              </a:lnSpc>
              <a:buNone/>
            </a:pPr>
            <a:r>
              <a:rPr lang="en-US" sz="1650" dirty="0">
                <a:solidFill>
                  <a:srgbClr val="97B8FF"/>
                </a:solidFill>
                <a:latin typeface="Sora Medium" pitchFamily="34" charset="0"/>
                <a:ea typeface="Sora Medium" pitchFamily="34" charset="-122"/>
                <a:cs typeface="Sora Medium" pitchFamily="34" charset="-120"/>
              </a:rPr>
              <a:t>Problem Statement</a:t>
            </a:r>
            <a:endParaRPr lang="en-US" sz="1650" dirty="0"/>
          </a:p>
        </p:txBody>
      </p:sp>
      <p:sp>
        <p:nvSpPr>
          <p:cNvPr id="6" name="Text 4"/>
          <p:cNvSpPr/>
          <p:nvPr/>
        </p:nvSpPr>
        <p:spPr>
          <a:xfrm>
            <a:off x="916560" y="2597646"/>
            <a:ext cx="4971826" cy="2068513"/>
          </a:xfrm>
          <a:prstGeom prst="rect">
            <a:avLst/>
          </a:prstGeom>
          <a:noFill/>
          <a:ln/>
        </p:spPr>
        <p:txBody>
          <a:bodyPr wrap="square" lIns="0" tIns="0" rIns="0" bIns="0" rtlCol="0" anchor="t">
            <a:normAutofit/>
          </a:bodyPr>
          <a:lstStyle/>
          <a:p>
            <a:pPr algn="l" indent="0" marL="0">
              <a:lnSpc>
                <a:spcPct val="127000"/>
              </a:lnSpc>
              <a:buNone/>
            </a:pPr>
            <a:r>
              <a:rPr lang="en-US" sz="1300" dirty="0">
                <a:solidFill>
                  <a:srgbClr val="E0D6DE"/>
                </a:solidFill>
                <a:latin typeface="Noto Sans" pitchFamily="34" charset="0"/>
                <a:ea typeface="Noto Sans" pitchFamily="34" charset="-122"/>
                <a:cs typeface="Noto Sans" pitchFamily="34" charset="-120"/>
              </a:rPr>
              <a:t>Existing systems can predict student performance, but they have some problems. They do not explain </a:t>
            </a:r>
            <a:pPr algn="l" indent="0" marL="0">
              <a:lnSpc>
                <a:spcPct val="127000"/>
              </a:lnSpc>
              <a:buNone/>
            </a:pPr>
            <a:r>
              <a:rPr lang="en-US" sz="1300" b="1" dirty="0">
                <a:solidFill>
                  <a:srgbClr val="E0D6DE"/>
                </a:solidFill>
                <a:latin typeface="Noto Sans Bold" pitchFamily="34" charset="0"/>
                <a:ea typeface="Noto Sans Bold" pitchFamily="34" charset="-122"/>
                <a:cs typeface="Noto Sans Bold" pitchFamily="34" charset="-120"/>
              </a:rPr>
              <a:t>why</a:t>
            </a:r>
            <a:pPr algn="l" indent="0" marL="0">
              <a:lnSpc>
                <a:spcPct val="127000"/>
              </a:lnSpc>
              <a:buNone/>
            </a:pPr>
            <a:r>
              <a:rPr lang="en-US" sz="1300" dirty="0">
                <a:solidFill>
                  <a:srgbClr val="E0D6DE"/>
                </a:solidFill>
                <a:latin typeface="Noto Sans" pitchFamily="34" charset="0"/>
                <a:ea typeface="Noto Sans" pitchFamily="34" charset="-122"/>
                <a:cs typeface="Noto Sans" pitchFamily="34" charset="-120"/>
              </a:rPr>
              <a:t> a prediction was made, so teachers cannot easily understand the result. They also do not give </a:t>
            </a:r>
            <a:pPr algn="l" indent="0" marL="0">
              <a:lnSpc>
                <a:spcPct val="127000"/>
              </a:lnSpc>
              <a:buNone/>
            </a:pPr>
            <a:r>
              <a:rPr lang="en-US" sz="1300" b="1" dirty="0">
                <a:solidFill>
                  <a:srgbClr val="E0D6DE"/>
                </a:solidFill>
                <a:latin typeface="Noto Sans Bold" pitchFamily="34" charset="0"/>
                <a:ea typeface="Noto Sans Bold" pitchFamily="34" charset="-122"/>
                <a:cs typeface="Noto Sans Bold" pitchFamily="34" charset="-120"/>
              </a:rPr>
              <a:t>personalized suggestions</a:t>
            </a:r>
            <a:pPr algn="l" indent="0" marL="0">
              <a:lnSpc>
                <a:spcPct val="127000"/>
              </a:lnSpc>
              <a:buNone/>
            </a:pPr>
            <a:r>
              <a:rPr lang="en-US" sz="1300" dirty="0">
                <a:solidFill>
                  <a:srgbClr val="E0D6DE"/>
                </a:solidFill>
                <a:latin typeface="Noto Sans" pitchFamily="34" charset="0"/>
                <a:ea typeface="Noto Sans" pitchFamily="34" charset="-122"/>
                <a:cs typeface="Noto Sans" pitchFamily="34" charset="-120"/>
              </a:rPr>
              <a:t> to help students improve. Most systems do not </a:t>
            </a:r>
            <a:pPr algn="l" indent="0" marL="0">
              <a:lnSpc>
                <a:spcPct val="127000"/>
              </a:lnSpc>
              <a:buNone/>
            </a:pPr>
            <a:r>
              <a:rPr lang="en-US" sz="1300" b="1" dirty="0">
                <a:solidFill>
                  <a:srgbClr val="E0D6DE"/>
                </a:solidFill>
                <a:latin typeface="Noto Sans Bold" pitchFamily="34" charset="0"/>
                <a:ea typeface="Noto Sans Bold" pitchFamily="34" charset="-122"/>
                <a:cs typeface="Noto Sans Bold" pitchFamily="34" charset="-120"/>
              </a:rPr>
              <a:t>continuously monitor</a:t>
            </a:r>
            <a:pPr algn="l" indent="0" marL="0">
              <a:lnSpc>
                <a:spcPct val="127000"/>
              </a:lnSpc>
              <a:buNone/>
            </a:pPr>
            <a:r>
              <a:rPr lang="en-US" sz="1300" dirty="0">
                <a:solidFill>
                  <a:srgbClr val="E0D6DE"/>
                </a:solidFill>
                <a:latin typeface="Noto Sans" pitchFamily="34" charset="0"/>
                <a:ea typeface="Noto Sans" pitchFamily="34" charset="-122"/>
                <a:cs typeface="Noto Sans" pitchFamily="34" charset="-120"/>
              </a:rPr>
              <a:t> the model or </a:t>
            </a:r>
            <a:pPr algn="l" indent="0" marL="0">
              <a:lnSpc>
                <a:spcPct val="127000"/>
              </a:lnSpc>
              <a:buNone/>
            </a:pPr>
            <a:r>
              <a:rPr lang="en-US" sz="1300" b="1" dirty="0">
                <a:solidFill>
                  <a:srgbClr val="E0D6DE"/>
                </a:solidFill>
                <a:latin typeface="Noto Sans Bold" pitchFamily="34" charset="0"/>
                <a:ea typeface="Noto Sans Bold" pitchFamily="34" charset="-122"/>
                <a:cs typeface="Noto Sans Bold" pitchFamily="34" charset="-120"/>
              </a:rPr>
              <a:t>automatically retrain</a:t>
            </a:r>
            <a:pPr algn="l" indent="0" marL="0">
              <a:lnSpc>
                <a:spcPct val="127000"/>
              </a:lnSpc>
              <a:buNone/>
            </a:pPr>
            <a:r>
              <a:rPr lang="en-US" sz="1300" dirty="0">
                <a:solidFill>
                  <a:srgbClr val="E0D6DE"/>
                </a:solidFill>
                <a:latin typeface="Noto Sans" pitchFamily="34" charset="0"/>
                <a:ea typeface="Noto Sans" pitchFamily="34" charset="-122"/>
                <a:cs typeface="Noto Sans" pitchFamily="34" charset="-120"/>
              </a:rPr>
              <a:t> it when the data changes. Because of this, the model's accuracy can decrease over time, making the predictions less reliable.</a:t>
            </a:r>
            <a:endParaRPr lang="en-US" sz="1300" dirty="0"/>
          </a:p>
        </p:txBody>
      </p:sp>
      <p:sp>
        <p:nvSpPr>
          <p:cNvPr id="7" name="Shape 5"/>
          <p:cNvSpPr/>
          <p:nvPr/>
        </p:nvSpPr>
        <p:spPr>
          <a:xfrm>
            <a:off x="661475" y="2459930"/>
            <a:ext cx="19050" cy="2343944"/>
          </a:xfrm>
          <a:prstGeom prst="roundRect">
            <a:avLst>
              <a:gd name="adj" fmla="val 49999"/>
            </a:avLst>
          </a:prstGeom>
          <a:solidFill>
            <a:srgbClr val="97B8FF"/>
          </a:solidFill>
          <a:ln/>
        </p:spPr>
        <p:txBody>
          <a:bodyPr/>
          <a:p/>
        </p:txBody>
      </p:sp>
      <p:sp>
        <p:nvSpPr>
          <p:cNvPr id="8" name="Shape 6"/>
          <p:cNvSpPr/>
          <p:nvPr/>
        </p:nvSpPr>
        <p:spPr>
          <a:xfrm>
            <a:off x="661475" y="4976118"/>
            <a:ext cx="5226911" cy="877491"/>
          </a:xfrm>
          <a:prstGeom prst="roundRect">
            <a:avLst>
              <a:gd name="adj" fmla="val 2908"/>
            </a:avLst>
          </a:prstGeom>
          <a:solidFill>
            <a:srgbClr val="002880"/>
          </a:solidFill>
          <a:ln/>
        </p:spPr>
        <p:txBody>
          <a:bodyPr/>
          <a:p/>
        </p:txBody>
      </p:sp>
      <p:pic>
        <p:nvPicPr>
          <p:cNvPr id="9" name="Image 0" descr="preencoded.png">    </p:cNvPr>
          <p:cNvPicPr>
            <a:picLocks noChangeAspect="1"/>
          </p:cNvPicPr>
          <p:nvPr/>
        </p:nvPicPr>
        <p:blipFill>
          <a:blip r:embed="rId1"/>
          <a:stretch>
            <a:fillRect/>
          </a:stretch>
        </p:blipFill>
        <p:spPr>
          <a:xfrm>
            <a:off x="831532" y="5230316"/>
            <a:ext cx="212620" cy="170061"/>
          </a:xfrm>
          <a:prstGeom prst="rect">
            <a:avLst/>
          </a:prstGeom>
        </p:spPr>
      </p:pic>
      <p:sp>
        <p:nvSpPr>
          <p:cNvPr id="10" name="Text 7"/>
          <p:cNvSpPr/>
          <p:nvPr/>
        </p:nvSpPr>
        <p:spPr>
          <a:xfrm>
            <a:off x="1214209" y="5156299"/>
            <a:ext cx="4504121" cy="517128"/>
          </a:xfrm>
          <a:prstGeom prst="rect">
            <a:avLst/>
          </a:prstGeom>
          <a:noFill/>
          <a:ln/>
        </p:spPr>
        <p:txBody>
          <a:bodyPr wrap="square" lIns="0" tIns="0" rIns="0" bIns="0" rtlCol="0" anchor="t">
            <a:normAutofit/>
          </a:bodyPr>
          <a:lstStyle/>
          <a:p>
            <a:pPr algn="l" indent="0" marL="0">
              <a:lnSpc>
                <a:spcPct val="127000"/>
              </a:lnSpc>
              <a:buNone/>
            </a:pPr>
            <a:r>
              <a:rPr lang="en-US" sz="1300" dirty="0">
                <a:solidFill>
                  <a:srgbClr val="FFFFFF"/>
                </a:solidFill>
                <a:latin typeface="Noto Sans" pitchFamily="34" charset="0"/>
                <a:ea typeface="Noto Sans" pitchFamily="34" charset="-122"/>
                <a:cs typeface="Noto Sans" pitchFamily="34" charset="-120"/>
              </a:rPr>
              <a:t>No current system unifies XAI, MLOps, and student analytics into one intelligent platform.</a:t>
            </a:r>
            <a:endParaRPr lang="en-US" sz="1300" dirty="0"/>
          </a:p>
        </p:txBody>
      </p:sp>
      <p:sp>
        <p:nvSpPr>
          <p:cNvPr id="11" name="Shape 8"/>
          <p:cNvSpPr/>
          <p:nvPr/>
        </p:nvSpPr>
        <p:spPr>
          <a:xfrm>
            <a:off x="6187226" y="1868884"/>
            <a:ext cx="5471777" cy="4201120"/>
          </a:xfrm>
          <a:prstGeom prst="roundRect">
            <a:avLst>
              <a:gd name="adj" fmla="val 607"/>
            </a:avLst>
          </a:prstGeom>
          <a:solidFill>
            <a:srgbClr val="97B8FF"/>
          </a:solidFill>
          <a:ln/>
        </p:spPr>
        <p:txBody>
          <a:bodyPr/>
          <a:p/>
        </p:txBody>
      </p:sp>
      <p:sp>
        <p:nvSpPr>
          <p:cNvPr id="12" name="Text 9"/>
          <p:cNvSpPr/>
          <p:nvPr/>
        </p:nvSpPr>
        <p:spPr>
          <a:xfrm>
            <a:off x="6357282" y="2021979"/>
            <a:ext cx="5131664" cy="265708"/>
          </a:xfrm>
          <a:prstGeom prst="rect">
            <a:avLst/>
          </a:prstGeom>
          <a:noFill/>
          <a:ln/>
        </p:spPr>
        <p:txBody>
          <a:bodyPr wrap="none" lIns="0" tIns="0" rIns="0" bIns="0" rtlCol="0" anchor="t"/>
          <a:lstStyle/>
          <a:p>
            <a:pPr algn="l" indent="0" marL="0">
              <a:lnSpc>
                <a:spcPct val="104000"/>
              </a:lnSpc>
              <a:buNone/>
            </a:pPr>
            <a:r>
              <a:rPr lang="en-US" sz="1650" dirty="0">
                <a:solidFill>
                  <a:srgbClr val="000000"/>
                </a:solidFill>
                <a:latin typeface="Sora Medium" pitchFamily="34" charset="0"/>
                <a:ea typeface="Sora Medium" pitchFamily="34" charset="-122"/>
                <a:cs typeface="Sora Medium" pitchFamily="34" charset="-120"/>
              </a:rPr>
              <a:t>Project Novelty</a:t>
            </a:r>
            <a:endParaRPr lang="en-US" sz="1650" dirty="0"/>
          </a:p>
        </p:txBody>
      </p:sp>
      <p:sp>
        <p:nvSpPr>
          <p:cNvPr id="13" name="Text 10"/>
          <p:cNvSpPr/>
          <p:nvPr/>
        </p:nvSpPr>
        <p:spPr>
          <a:xfrm>
            <a:off x="6357282" y="2440781"/>
            <a:ext cx="5131664" cy="3575645"/>
          </a:xfrm>
          <a:prstGeom prst="rect">
            <a:avLst/>
          </a:prstGeom>
          <a:noFill/>
          <a:ln/>
        </p:spPr>
        <p:txBody>
          <a:bodyPr wrap="square" lIns="0" tIns="0" rIns="0" bIns="0" rtlCol="0" anchor="t">
            <a:normAutofit/>
          </a:bodyPr>
          <a:lstStyle/>
          <a:p>
            <a:pPr algn="l" marL="264160" indent="-264160">
              <a:lnSpc>
                <a:spcPct val="127000"/>
              </a:lnSpc>
              <a:buSzPct val="100000"/>
              <a:buChar char="•"/>
            </a:pPr>
            <a:r>
              <a:rPr lang="en-US" sz="1300" b="1" dirty="0">
                <a:solidFill>
                  <a:srgbClr val="000000"/>
                </a:solidFill>
                <a:latin typeface="Noto Sans Bold" pitchFamily="34" charset="0"/>
                <a:ea typeface="Noto Sans Bold" pitchFamily="34" charset="-122"/>
                <a:cs typeface="Noto Sans Bold" pitchFamily="34" charset="-120"/>
              </a:rPr>
              <a:t>Explainable AI (SHAP):</a:t>
            </a:r>
            <a:pPr algn="l" marL="264160" indent="-264160">
              <a:lnSpc>
                <a:spcPct val="127000"/>
              </a:lnSpc>
              <a:buSzPct val="100000"/>
              <a:buChar char="•"/>
            </a:pPr>
            <a:r>
              <a:rPr lang="en-US" sz="1300" dirty="0">
                <a:solidFill>
                  <a:srgbClr val="000000"/>
                </a:solidFill>
                <a:latin typeface="Noto Sans" pitchFamily="34" charset="0"/>
                <a:ea typeface="Noto Sans" pitchFamily="34" charset="-122"/>
                <a:cs typeface="Noto Sans" pitchFamily="34" charset="-120"/>
              </a:rPr>
              <a:t> Shows the reason behind each prediction, so teachers can easily understand the results.</a:t>
            </a:r>
            <a:endParaRPr lang="en-US" sz="1300" dirty="0"/>
          </a:p>
          <a:p>
            <a:pPr algn="l" marL="264160" indent="-264160">
              <a:lnSpc>
                <a:spcPct val="127000"/>
              </a:lnSpc>
              <a:buSzPct val="100000"/>
              <a:buChar char="•"/>
            </a:pPr>
            <a:r>
              <a:rPr lang="en-US" sz="1300" b="1" dirty="0">
                <a:solidFill>
                  <a:srgbClr val="000000"/>
                </a:solidFill>
                <a:latin typeface="Noto Sans Bold" pitchFamily="34" charset="0"/>
                <a:ea typeface="Noto Sans Bold" pitchFamily="34" charset="-122"/>
                <a:cs typeface="Noto Sans Bold" pitchFamily="34" charset="-120"/>
              </a:rPr>
              <a:t>Personalized Recommendations:</a:t>
            </a:r>
            <a:pPr algn="l" marL="264160" indent="-264160">
              <a:lnSpc>
                <a:spcPct val="127000"/>
              </a:lnSpc>
              <a:buSzPct val="100000"/>
              <a:buChar char="•"/>
            </a:pPr>
            <a:r>
              <a:rPr lang="en-US" sz="1300" dirty="0">
                <a:solidFill>
                  <a:srgbClr val="000000"/>
                </a:solidFill>
                <a:latin typeface="Noto Sans" pitchFamily="34" charset="0"/>
                <a:ea typeface="Noto Sans" pitchFamily="34" charset="-122"/>
                <a:cs typeface="Noto Sans" pitchFamily="34" charset="-120"/>
              </a:rPr>
              <a:t> Gives each student specific suggestions to improve their academic performance.</a:t>
            </a:r>
            <a:endParaRPr lang="en-US" sz="1300" dirty="0"/>
          </a:p>
          <a:p>
            <a:pPr algn="l" marL="264160" indent="-264160">
              <a:lnSpc>
                <a:spcPct val="127000"/>
              </a:lnSpc>
              <a:buSzPct val="100000"/>
              <a:buChar char="•"/>
            </a:pPr>
            <a:r>
              <a:rPr lang="en-US" sz="1300" b="1" dirty="0">
                <a:solidFill>
                  <a:srgbClr val="000000"/>
                </a:solidFill>
                <a:latin typeface="Noto Sans Bold" pitchFamily="34" charset="0"/>
                <a:ea typeface="Noto Sans Bold" pitchFamily="34" charset="-122"/>
                <a:cs typeface="Noto Sans Bold" pitchFamily="34" charset="-120"/>
              </a:rPr>
              <a:t>FastAPI Deployment:</a:t>
            </a:r>
            <a:pPr algn="l" marL="264160" indent="-264160">
              <a:lnSpc>
                <a:spcPct val="127000"/>
              </a:lnSpc>
              <a:buSzPct val="100000"/>
              <a:buChar char="•"/>
            </a:pPr>
            <a:r>
              <a:rPr lang="en-US" sz="1300" dirty="0">
                <a:solidFill>
                  <a:srgbClr val="000000"/>
                </a:solidFill>
                <a:latin typeface="Noto Sans" pitchFamily="34" charset="0"/>
                <a:ea typeface="Noto Sans" pitchFamily="34" charset="-122"/>
                <a:cs typeface="Noto Sans" pitchFamily="34" charset="-120"/>
              </a:rPr>
              <a:t> Provides real-time predictions through a fast and easy-to-use API.</a:t>
            </a:r>
            <a:endParaRPr lang="en-US" sz="1300" dirty="0"/>
          </a:p>
          <a:p>
            <a:pPr algn="l" marL="264160" indent="-264160">
              <a:lnSpc>
                <a:spcPct val="127000"/>
              </a:lnSpc>
              <a:buSzPct val="100000"/>
              <a:buChar char="•"/>
            </a:pPr>
            <a:r>
              <a:rPr lang="en-US" sz="1300" b="1" dirty="0">
                <a:solidFill>
                  <a:srgbClr val="000000"/>
                </a:solidFill>
                <a:latin typeface="Noto Sans Bold" pitchFamily="34" charset="0"/>
                <a:ea typeface="Noto Sans Bold" pitchFamily="34" charset="-122"/>
                <a:cs typeface="Noto Sans Bold" pitchFamily="34" charset="-120"/>
              </a:rPr>
              <a:t>Automated MLOps Pipeline:</a:t>
            </a:r>
            <a:pPr algn="l" marL="264160" indent="-264160">
              <a:lnSpc>
                <a:spcPct val="127000"/>
              </a:lnSpc>
              <a:buSzPct val="100000"/>
              <a:buChar char="•"/>
            </a:pPr>
            <a:r>
              <a:rPr lang="en-US" sz="1300" dirty="0">
                <a:solidFill>
                  <a:srgbClr val="000000"/>
                </a:solidFill>
                <a:latin typeface="Noto Sans" pitchFamily="34" charset="0"/>
                <a:ea typeface="Noto Sans" pitchFamily="34" charset="-122"/>
                <a:cs typeface="Noto Sans" pitchFamily="34" charset="-120"/>
              </a:rPr>
              <a:t> Continuously monitors the model and automatically retrains it when performance decreases.</a:t>
            </a:r>
            <a:endParaRPr lang="en-US" sz="1300" dirty="0"/>
          </a:p>
          <a:p>
            <a:pPr algn="l" marL="264160" indent="-264160">
              <a:lnSpc>
                <a:spcPct val="127000"/>
              </a:lnSpc>
              <a:buSzPct val="100000"/>
              <a:buChar char="•"/>
            </a:pPr>
            <a:r>
              <a:rPr lang="en-US" sz="1300" b="1" dirty="0">
                <a:solidFill>
                  <a:srgbClr val="000000"/>
                </a:solidFill>
                <a:latin typeface="Noto Sans Bold" pitchFamily="34" charset="0"/>
                <a:ea typeface="Noto Sans Bold" pitchFamily="34" charset="-122"/>
                <a:cs typeface="Noto Sans Bold" pitchFamily="34" charset="-120"/>
              </a:rPr>
              <a:t>Unified System:</a:t>
            </a:r>
            <a:pPr algn="l" marL="264160" indent="-264160">
              <a:lnSpc>
                <a:spcPct val="127000"/>
              </a:lnSpc>
              <a:buSzPct val="100000"/>
              <a:buChar char="•"/>
            </a:pPr>
            <a:r>
              <a:rPr lang="en-US" sz="1300" dirty="0">
                <a:solidFill>
                  <a:srgbClr val="000000"/>
                </a:solidFill>
                <a:latin typeface="Noto Sans" pitchFamily="34" charset="0"/>
                <a:ea typeface="Noto Sans" pitchFamily="34" charset="-122"/>
                <a:cs typeface="Noto Sans" pitchFamily="34" charset="-120"/>
              </a:rPr>
              <a:t> Combines </a:t>
            </a:r>
            <a:pPr algn="l" marL="264160" indent="-264160">
              <a:lnSpc>
                <a:spcPct val="127000"/>
              </a:lnSpc>
              <a:buSzPct val="100000"/>
              <a:buChar char="•"/>
            </a:pPr>
            <a:r>
              <a:rPr lang="en-US" sz="1300" b="1" dirty="0">
                <a:solidFill>
                  <a:srgbClr val="000000"/>
                </a:solidFill>
                <a:latin typeface="Noto Sans Bold" pitchFamily="34" charset="0"/>
                <a:ea typeface="Noto Sans Bold" pitchFamily="34" charset="-122"/>
                <a:cs typeface="Noto Sans Bold" pitchFamily="34" charset="-120"/>
              </a:rPr>
              <a:t>Machine Learning, Explainable AI (XAI), MLOps, and Student Analytics</a:t>
            </a:r>
            <a:pPr algn="l" marL="264160" indent="-264160">
              <a:lnSpc>
                <a:spcPct val="127000"/>
              </a:lnSpc>
              <a:buSzPct val="100000"/>
              <a:buChar char="•"/>
            </a:pPr>
            <a:r>
              <a:rPr lang="en-US" sz="1300" dirty="0">
                <a:solidFill>
                  <a:srgbClr val="000000"/>
                </a:solidFill>
                <a:latin typeface="Noto Sans" pitchFamily="34" charset="0"/>
                <a:ea typeface="Noto Sans" pitchFamily="34" charset="-122"/>
                <a:cs typeface="Noto Sans" pitchFamily="34" charset="-120"/>
              </a:rPr>
              <a:t> into one complete system</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661475" y="954782"/>
            <a:ext cx="590138" cy="287139"/>
          </a:xfrm>
          <a:prstGeom prst="roundRect">
            <a:avLst>
              <a:gd name="adj" fmla="val 7899"/>
            </a:avLst>
          </a:prstGeom>
          <a:noFill/>
          <a:ln w="6350">
            <a:solidFill>
              <a:srgbClr val="97B8FF"/>
            </a:solidFill>
            <a:prstDash val="solid"/>
          </a:ln>
        </p:spPr>
        <p:txBody>
          <a:bodyPr/>
          <a:p/>
        </p:txBody>
      </p:sp>
      <p:sp>
        <p:nvSpPr>
          <p:cNvPr id="3" name="Text 1"/>
          <p:cNvSpPr/>
          <p:nvPr/>
        </p:nvSpPr>
        <p:spPr>
          <a:xfrm>
            <a:off x="774879" y="1011436"/>
            <a:ext cx="972915" cy="173831"/>
          </a:xfrm>
          <a:prstGeom prst="rect">
            <a:avLst/>
          </a:prstGeom>
          <a:noFill/>
          <a:ln/>
        </p:spPr>
        <p:txBody>
          <a:bodyPr wrap="none" lIns="0" tIns="0" rIns="0" bIns="0" rtlCol="0" anchor="t"/>
          <a:lstStyle/>
          <a:p>
            <a:pPr algn="l" indent="0" marL="0">
              <a:lnSpc>
                <a:spcPct val="96000"/>
              </a:lnSpc>
              <a:buNone/>
            </a:pPr>
            <a:r>
              <a:rPr lang="en-US" sz="1150" dirty="0">
                <a:solidFill>
                  <a:srgbClr val="97B8FF"/>
                </a:solidFill>
                <a:latin typeface="Noto Sans" pitchFamily="34" charset="0"/>
                <a:ea typeface="Noto Sans" pitchFamily="34" charset="-122"/>
                <a:cs typeface="Noto Sans" pitchFamily="34" charset="-120"/>
              </a:rPr>
              <a:t>DATA</a:t>
            </a:r>
            <a:endParaRPr lang="en-US" sz="1150" dirty="0"/>
          </a:p>
        </p:txBody>
      </p:sp>
      <p:sp>
        <p:nvSpPr>
          <p:cNvPr id="4" name="Text 2"/>
          <p:cNvSpPr/>
          <p:nvPr/>
        </p:nvSpPr>
        <p:spPr>
          <a:xfrm>
            <a:off x="661475" y="1317526"/>
            <a:ext cx="10868745" cy="590649"/>
          </a:xfrm>
          <a:prstGeom prst="rect">
            <a:avLst/>
          </a:prstGeom>
          <a:noFill/>
          <a:ln/>
        </p:spPr>
        <p:txBody>
          <a:bodyPr wrap="none" lIns="0" tIns="0" rIns="0" bIns="0" rtlCol="0" anchor="t"/>
          <a:lstStyle/>
          <a:p>
            <a:pPr algn="l" indent="0" marL="0">
              <a:lnSpc>
                <a:spcPct val="104000"/>
              </a:lnSpc>
              <a:buNone/>
            </a:pPr>
            <a:r>
              <a:rPr lang="en-US" sz="3700" dirty="0">
                <a:solidFill>
                  <a:srgbClr val="97B8FF"/>
                </a:solidFill>
                <a:latin typeface="Sora Medium" pitchFamily="34" charset="0"/>
                <a:ea typeface="Sora Medium" pitchFamily="34" charset="-122"/>
                <a:cs typeface="Sora Medium" pitchFamily="34" charset="-120"/>
              </a:rPr>
              <a:t>Dataset Collection &amp; Description</a:t>
            </a:r>
            <a:endParaRPr lang="en-US" sz="3700" dirty="0"/>
          </a:p>
        </p:txBody>
      </p:sp>
      <p:sp>
        <p:nvSpPr>
          <p:cNvPr id="5" name="Shape 3"/>
          <p:cNvSpPr/>
          <p:nvPr/>
        </p:nvSpPr>
        <p:spPr>
          <a:xfrm>
            <a:off x="661475" y="2191643"/>
            <a:ext cx="10868745" cy="3711575"/>
          </a:xfrm>
          <a:prstGeom prst="roundRect">
            <a:avLst>
              <a:gd name="adj" fmla="val 764"/>
            </a:avLst>
          </a:prstGeom>
          <a:noFill/>
          <a:ln w="6350">
            <a:solidFill>
              <a:srgbClr val="FFFFFF">
                <a:alpha val="24000"/>
              </a:srgbClr>
            </a:solidFill>
            <a:prstDash val="solid"/>
          </a:ln>
        </p:spPr>
        <p:txBody>
          <a:bodyPr/>
          <a:p/>
        </p:txBody>
      </p:sp>
      <p:sp>
        <p:nvSpPr>
          <p:cNvPr id="6" name="Shape 4"/>
          <p:cNvSpPr/>
          <p:nvPr/>
        </p:nvSpPr>
        <p:spPr>
          <a:xfrm>
            <a:off x="661475" y="2743101"/>
            <a:ext cx="10868745" cy="11814"/>
          </a:xfrm>
          <a:prstGeom prst="rect">
            <a:avLst/>
          </a:prstGeom>
          <a:solidFill>
            <a:srgbClr val="FFFFFF">
              <a:alpha val="24000"/>
            </a:srgbClr>
          </a:solidFill>
          <a:ln/>
        </p:spPr>
        <p:txBody>
          <a:bodyPr/>
          <a:p/>
        </p:txBody>
      </p:sp>
      <p:sp>
        <p:nvSpPr>
          <p:cNvPr id="7" name="Shape 5"/>
          <p:cNvSpPr/>
          <p:nvPr/>
        </p:nvSpPr>
        <p:spPr>
          <a:xfrm>
            <a:off x="661475" y="3896221"/>
            <a:ext cx="10868745" cy="11814"/>
          </a:xfrm>
          <a:prstGeom prst="rect">
            <a:avLst/>
          </a:prstGeom>
          <a:solidFill>
            <a:srgbClr val="FFFFFF">
              <a:alpha val="24000"/>
            </a:srgbClr>
          </a:solidFill>
          <a:ln/>
        </p:spPr>
        <p:txBody>
          <a:bodyPr/>
          <a:p/>
        </p:txBody>
      </p:sp>
      <p:sp>
        <p:nvSpPr>
          <p:cNvPr id="8" name="Shape 6"/>
          <p:cNvSpPr/>
          <p:nvPr/>
        </p:nvSpPr>
        <p:spPr>
          <a:xfrm>
            <a:off x="661475" y="5049341"/>
            <a:ext cx="10868745" cy="11814"/>
          </a:xfrm>
          <a:prstGeom prst="rect">
            <a:avLst/>
          </a:prstGeom>
          <a:solidFill>
            <a:srgbClr val="FFFFFF">
              <a:alpha val="24000"/>
            </a:srgbClr>
          </a:solidFill>
          <a:ln/>
        </p:spPr>
        <p:txBody>
          <a:bodyPr/>
          <a:p/>
        </p:txBody>
      </p:sp>
      <p:sp>
        <p:nvSpPr>
          <p:cNvPr id="9" name="Text 7"/>
          <p:cNvSpPr/>
          <p:nvPr/>
        </p:nvSpPr>
        <p:spPr>
          <a:xfrm>
            <a:off x="857030" y="2317750"/>
            <a:ext cx="2185635" cy="302419"/>
          </a:xfrm>
          <a:prstGeom prst="rect">
            <a:avLst/>
          </a:prstGeom>
          <a:noFill/>
          <a:ln/>
        </p:spPr>
        <p:txBody>
          <a:bodyPr wrap="none" lIns="0" tIns="0" rIns="0" bIns="0" rtlCol="0" anchor="t"/>
          <a:lstStyle/>
          <a:p>
            <a:pPr algn="l" indent="0" marL="0">
              <a:lnSpc>
                <a:spcPct val="133000"/>
              </a:lnSpc>
              <a:buNone/>
            </a:pPr>
            <a:r>
              <a:rPr lang="en-US" sz="1450" b="1" dirty="0">
                <a:solidFill>
                  <a:srgbClr val="E0D6DE"/>
                </a:solidFill>
                <a:latin typeface="Noto Sans Bold" pitchFamily="34" charset="0"/>
                <a:ea typeface="Noto Sans Bold" pitchFamily="34" charset="-122"/>
                <a:cs typeface="Noto Sans Bold" pitchFamily="34" charset="-120"/>
              </a:rPr>
              <a:t>Dataset Name</a:t>
            </a:r>
            <a:endParaRPr lang="en-US" sz="1450" dirty="0"/>
          </a:p>
        </p:txBody>
      </p:sp>
      <p:sp>
        <p:nvSpPr>
          <p:cNvPr id="10" name="Text 8"/>
          <p:cNvSpPr/>
          <p:nvPr/>
        </p:nvSpPr>
        <p:spPr>
          <a:xfrm>
            <a:off x="2811095" y="2317750"/>
            <a:ext cx="1751366" cy="302419"/>
          </a:xfrm>
          <a:prstGeom prst="rect">
            <a:avLst/>
          </a:prstGeom>
          <a:noFill/>
          <a:ln/>
        </p:spPr>
        <p:txBody>
          <a:bodyPr wrap="none" lIns="0" tIns="0" rIns="0" bIns="0" rtlCol="0" anchor="t"/>
          <a:lstStyle/>
          <a:p>
            <a:pPr algn="l" indent="0" marL="0">
              <a:lnSpc>
                <a:spcPct val="133000"/>
              </a:lnSpc>
              <a:buNone/>
            </a:pPr>
            <a:r>
              <a:rPr lang="en-US" sz="1450" b="1" dirty="0">
                <a:solidFill>
                  <a:srgbClr val="E0D6DE"/>
                </a:solidFill>
                <a:latin typeface="Noto Sans Bold" pitchFamily="34" charset="0"/>
                <a:ea typeface="Noto Sans Bold" pitchFamily="34" charset="-122"/>
                <a:cs typeface="Noto Sans Bold" pitchFamily="34" charset="-120"/>
              </a:rPr>
              <a:t>Source</a:t>
            </a:r>
            <a:endParaRPr lang="en-US" sz="1450" dirty="0"/>
          </a:p>
        </p:txBody>
      </p:sp>
      <p:sp>
        <p:nvSpPr>
          <p:cNvPr id="11" name="Text 9"/>
          <p:cNvSpPr/>
          <p:nvPr/>
        </p:nvSpPr>
        <p:spPr>
          <a:xfrm>
            <a:off x="4330889" y="2317750"/>
            <a:ext cx="1534280" cy="302419"/>
          </a:xfrm>
          <a:prstGeom prst="rect">
            <a:avLst/>
          </a:prstGeom>
          <a:noFill/>
          <a:ln/>
        </p:spPr>
        <p:txBody>
          <a:bodyPr wrap="none" lIns="0" tIns="0" rIns="0" bIns="0" rtlCol="0" anchor="t"/>
          <a:lstStyle/>
          <a:p>
            <a:pPr algn="l" indent="0" marL="0">
              <a:lnSpc>
                <a:spcPct val="133000"/>
              </a:lnSpc>
              <a:buNone/>
            </a:pPr>
            <a:r>
              <a:rPr lang="en-US" sz="1450" b="1" dirty="0">
                <a:solidFill>
                  <a:srgbClr val="E0D6DE"/>
                </a:solidFill>
                <a:latin typeface="Noto Sans Bold" pitchFamily="34" charset="0"/>
                <a:ea typeface="Noto Sans Bold" pitchFamily="34" charset="-122"/>
                <a:cs typeface="Noto Sans Bold" pitchFamily="34" charset="-120"/>
              </a:rPr>
              <a:t>Records</a:t>
            </a:r>
            <a:endParaRPr lang="en-US" sz="1450" dirty="0"/>
          </a:p>
        </p:txBody>
      </p:sp>
      <p:sp>
        <p:nvSpPr>
          <p:cNvPr id="12" name="Text 10"/>
          <p:cNvSpPr/>
          <p:nvPr/>
        </p:nvSpPr>
        <p:spPr>
          <a:xfrm>
            <a:off x="5633599" y="2317750"/>
            <a:ext cx="1534280" cy="302419"/>
          </a:xfrm>
          <a:prstGeom prst="rect">
            <a:avLst/>
          </a:prstGeom>
          <a:noFill/>
          <a:ln/>
        </p:spPr>
        <p:txBody>
          <a:bodyPr wrap="none" lIns="0" tIns="0" rIns="0" bIns="0" rtlCol="0" anchor="t"/>
          <a:lstStyle/>
          <a:p>
            <a:pPr algn="l" indent="0" marL="0">
              <a:lnSpc>
                <a:spcPct val="133000"/>
              </a:lnSpc>
              <a:buNone/>
            </a:pPr>
            <a:r>
              <a:rPr lang="en-US" sz="1450" b="1" dirty="0">
                <a:solidFill>
                  <a:srgbClr val="E0D6DE"/>
                </a:solidFill>
                <a:latin typeface="Noto Sans Bold" pitchFamily="34" charset="0"/>
                <a:ea typeface="Noto Sans Bold" pitchFamily="34" charset="-122"/>
                <a:cs typeface="Noto Sans Bold" pitchFamily="34" charset="-120"/>
              </a:rPr>
              <a:t>Features</a:t>
            </a:r>
            <a:endParaRPr lang="en-US" sz="1450" dirty="0"/>
          </a:p>
        </p:txBody>
      </p:sp>
      <p:sp>
        <p:nvSpPr>
          <p:cNvPr id="13" name="Text 11"/>
          <p:cNvSpPr/>
          <p:nvPr/>
        </p:nvSpPr>
        <p:spPr>
          <a:xfrm>
            <a:off x="6936309" y="2317750"/>
            <a:ext cx="2185635" cy="302419"/>
          </a:xfrm>
          <a:prstGeom prst="rect">
            <a:avLst/>
          </a:prstGeom>
          <a:noFill/>
          <a:ln/>
        </p:spPr>
        <p:txBody>
          <a:bodyPr wrap="none" lIns="0" tIns="0" rIns="0" bIns="0" rtlCol="0" anchor="t"/>
          <a:lstStyle/>
          <a:p>
            <a:pPr algn="l" indent="0" marL="0">
              <a:lnSpc>
                <a:spcPct val="133000"/>
              </a:lnSpc>
              <a:buNone/>
            </a:pPr>
            <a:r>
              <a:rPr lang="en-US" sz="1450" b="1" dirty="0">
                <a:solidFill>
                  <a:srgbClr val="E0D6DE"/>
                </a:solidFill>
                <a:latin typeface="Noto Sans Bold" pitchFamily="34" charset="0"/>
                <a:ea typeface="Noto Sans Bold" pitchFamily="34" charset="-122"/>
                <a:cs typeface="Noto Sans Bold" pitchFamily="34" charset="-120"/>
              </a:rPr>
              <a:t>Target Variable</a:t>
            </a:r>
            <a:endParaRPr lang="en-US" sz="1450" dirty="0"/>
          </a:p>
        </p:txBody>
      </p:sp>
      <p:sp>
        <p:nvSpPr>
          <p:cNvPr id="14" name="Text 12"/>
          <p:cNvSpPr/>
          <p:nvPr/>
        </p:nvSpPr>
        <p:spPr>
          <a:xfrm>
            <a:off x="8890373" y="2317750"/>
            <a:ext cx="3054075" cy="302419"/>
          </a:xfrm>
          <a:prstGeom prst="rect">
            <a:avLst/>
          </a:prstGeom>
          <a:noFill/>
          <a:ln/>
        </p:spPr>
        <p:txBody>
          <a:bodyPr wrap="none" lIns="0" tIns="0" rIns="0" bIns="0" rtlCol="0" anchor="t"/>
          <a:lstStyle/>
          <a:p>
            <a:pPr algn="l" indent="0" marL="0">
              <a:lnSpc>
                <a:spcPct val="133000"/>
              </a:lnSpc>
              <a:buNone/>
            </a:pPr>
            <a:r>
              <a:rPr lang="en-US" sz="1450" b="1" dirty="0">
                <a:solidFill>
                  <a:srgbClr val="E0D6DE"/>
                </a:solidFill>
                <a:latin typeface="Noto Sans Bold" pitchFamily="34" charset="0"/>
                <a:ea typeface="Noto Sans Bold" pitchFamily="34" charset="-122"/>
                <a:cs typeface="Noto Sans Bold" pitchFamily="34" charset="-120"/>
              </a:rPr>
              <a:t>Why Suitable</a:t>
            </a:r>
            <a:endParaRPr lang="en-US" sz="1450" dirty="0"/>
          </a:p>
        </p:txBody>
      </p:sp>
      <p:sp>
        <p:nvSpPr>
          <p:cNvPr id="15" name="Text 13"/>
          <p:cNvSpPr/>
          <p:nvPr/>
        </p:nvSpPr>
        <p:spPr>
          <a:xfrm>
            <a:off x="857030" y="2866033"/>
            <a:ext cx="1576050" cy="907256"/>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E0D6DE"/>
                </a:solidFill>
                <a:latin typeface="Noto Sans" pitchFamily="34" charset="0"/>
                <a:ea typeface="Noto Sans" pitchFamily="34" charset="-122"/>
                <a:cs typeface="Noto Sans" pitchFamily="34" charset="-120"/>
              </a:rPr>
              <a:t>Student Performance Dataset</a:t>
            </a:r>
            <a:endParaRPr lang="en-US" sz="1450" dirty="0"/>
          </a:p>
        </p:txBody>
      </p:sp>
      <p:sp>
        <p:nvSpPr>
          <p:cNvPr id="16" name="Text 14"/>
          <p:cNvSpPr/>
          <p:nvPr/>
        </p:nvSpPr>
        <p:spPr>
          <a:xfrm>
            <a:off x="2811095" y="2866033"/>
            <a:ext cx="1141781" cy="604838"/>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E0D6DE"/>
                </a:solidFill>
                <a:latin typeface="Noto Sans" pitchFamily="34" charset="0"/>
                <a:ea typeface="Noto Sans" pitchFamily="34" charset="-122"/>
                <a:cs typeface="Noto Sans" pitchFamily="34" charset="-120"/>
              </a:rPr>
              <a:t>UCI Repository</a:t>
            </a:r>
            <a:endParaRPr lang="en-US" sz="1450" dirty="0"/>
          </a:p>
        </p:txBody>
      </p:sp>
      <p:sp>
        <p:nvSpPr>
          <p:cNvPr id="17" name="Text 15"/>
          <p:cNvSpPr/>
          <p:nvPr/>
        </p:nvSpPr>
        <p:spPr>
          <a:xfrm>
            <a:off x="4330889" y="2866033"/>
            <a:ext cx="1534280" cy="302419"/>
          </a:xfrm>
          <a:prstGeom prst="rect">
            <a:avLst/>
          </a:prstGeom>
          <a:noFill/>
          <a:ln/>
        </p:spPr>
        <p:txBody>
          <a:bodyPr wrap="none" lIns="0" tIns="0" rIns="0" bIns="0" rtlCol="0" anchor="t"/>
          <a:lstStyle/>
          <a:p>
            <a:pPr algn="l" indent="0" marL="0">
              <a:lnSpc>
                <a:spcPct val="133000"/>
              </a:lnSpc>
              <a:buNone/>
            </a:pPr>
            <a:r>
              <a:rPr lang="en-US" sz="1450" dirty="0">
                <a:solidFill>
                  <a:srgbClr val="E0D6DE"/>
                </a:solidFill>
                <a:latin typeface="Noto Sans" pitchFamily="34" charset="0"/>
                <a:ea typeface="Noto Sans" pitchFamily="34" charset="-122"/>
                <a:cs typeface="Noto Sans" pitchFamily="34" charset="-120"/>
              </a:rPr>
              <a:t>1,044</a:t>
            </a:r>
            <a:endParaRPr lang="en-US" sz="1450" dirty="0"/>
          </a:p>
        </p:txBody>
      </p:sp>
      <p:sp>
        <p:nvSpPr>
          <p:cNvPr id="18" name="Text 16"/>
          <p:cNvSpPr/>
          <p:nvPr/>
        </p:nvSpPr>
        <p:spPr>
          <a:xfrm>
            <a:off x="5633599" y="2866033"/>
            <a:ext cx="1534280" cy="302419"/>
          </a:xfrm>
          <a:prstGeom prst="rect">
            <a:avLst/>
          </a:prstGeom>
          <a:noFill/>
          <a:ln/>
        </p:spPr>
        <p:txBody>
          <a:bodyPr wrap="none" lIns="0" tIns="0" rIns="0" bIns="0" rtlCol="0" anchor="t"/>
          <a:lstStyle/>
          <a:p>
            <a:pPr algn="l" indent="0" marL="0">
              <a:lnSpc>
                <a:spcPct val="133000"/>
              </a:lnSpc>
              <a:buNone/>
            </a:pPr>
            <a:r>
              <a:rPr lang="en-US" sz="1450" dirty="0">
                <a:solidFill>
                  <a:srgbClr val="E0D6DE"/>
                </a:solidFill>
                <a:latin typeface="Noto Sans" pitchFamily="34" charset="0"/>
                <a:ea typeface="Noto Sans" pitchFamily="34" charset="-122"/>
                <a:cs typeface="Noto Sans" pitchFamily="34" charset="-120"/>
              </a:rPr>
              <a:t>33</a:t>
            </a:r>
            <a:endParaRPr lang="en-US" sz="1450" dirty="0"/>
          </a:p>
        </p:txBody>
      </p:sp>
      <p:sp>
        <p:nvSpPr>
          <p:cNvPr id="19" name="Text 17"/>
          <p:cNvSpPr/>
          <p:nvPr/>
        </p:nvSpPr>
        <p:spPr>
          <a:xfrm>
            <a:off x="6936309" y="2866033"/>
            <a:ext cx="2185635" cy="302419"/>
          </a:xfrm>
          <a:prstGeom prst="rect">
            <a:avLst/>
          </a:prstGeom>
          <a:noFill/>
          <a:ln/>
        </p:spPr>
        <p:txBody>
          <a:bodyPr wrap="none" lIns="0" tIns="0" rIns="0" bIns="0" rtlCol="0" anchor="t"/>
          <a:lstStyle/>
          <a:p>
            <a:pPr algn="l" indent="0" marL="0">
              <a:lnSpc>
                <a:spcPct val="133000"/>
              </a:lnSpc>
              <a:buNone/>
            </a:pPr>
            <a:r>
              <a:rPr lang="en-US" sz="1450" dirty="0">
                <a:solidFill>
                  <a:srgbClr val="E0D6DE"/>
                </a:solidFill>
                <a:latin typeface="Noto Sans" pitchFamily="34" charset="0"/>
                <a:ea typeface="Noto Sans" pitchFamily="34" charset="-122"/>
                <a:cs typeface="Noto Sans" pitchFamily="34" charset="-120"/>
              </a:rPr>
              <a:t>Final Grade (G3)</a:t>
            </a:r>
            <a:endParaRPr lang="en-US" sz="1450" dirty="0"/>
          </a:p>
        </p:txBody>
      </p:sp>
      <p:sp>
        <p:nvSpPr>
          <p:cNvPr id="20" name="Text 18"/>
          <p:cNvSpPr/>
          <p:nvPr/>
        </p:nvSpPr>
        <p:spPr>
          <a:xfrm>
            <a:off x="8890373" y="2866033"/>
            <a:ext cx="2444490" cy="604838"/>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E0D6DE"/>
                </a:solidFill>
                <a:latin typeface="Noto Sans" pitchFamily="34" charset="0"/>
                <a:ea typeface="Noto Sans" pitchFamily="34" charset="-122"/>
                <a:cs typeface="Noto Sans" pitchFamily="34" charset="-120"/>
              </a:rPr>
              <a:t>Demographics + academic features</a:t>
            </a:r>
            <a:endParaRPr lang="en-US" sz="1450" dirty="0"/>
          </a:p>
        </p:txBody>
      </p:sp>
      <p:sp>
        <p:nvSpPr>
          <p:cNvPr id="21" name="Text 19"/>
          <p:cNvSpPr/>
          <p:nvPr/>
        </p:nvSpPr>
        <p:spPr>
          <a:xfrm>
            <a:off x="857030" y="4019153"/>
            <a:ext cx="1576050" cy="907256"/>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E0D6DE"/>
                </a:solidFill>
                <a:latin typeface="Noto Sans" pitchFamily="34" charset="0"/>
                <a:ea typeface="Noto Sans" pitchFamily="34" charset="-122"/>
                <a:cs typeface="Noto Sans" pitchFamily="34" charset="-120"/>
              </a:rPr>
              <a:t>Student Academic Performance</a:t>
            </a:r>
            <a:endParaRPr lang="en-US" sz="1450" dirty="0"/>
          </a:p>
        </p:txBody>
      </p:sp>
      <p:sp>
        <p:nvSpPr>
          <p:cNvPr id="22" name="Text 20"/>
          <p:cNvSpPr/>
          <p:nvPr/>
        </p:nvSpPr>
        <p:spPr>
          <a:xfrm>
            <a:off x="2811095" y="4019153"/>
            <a:ext cx="1751366" cy="302419"/>
          </a:xfrm>
          <a:prstGeom prst="rect">
            <a:avLst/>
          </a:prstGeom>
          <a:noFill/>
          <a:ln/>
        </p:spPr>
        <p:txBody>
          <a:bodyPr wrap="none" lIns="0" tIns="0" rIns="0" bIns="0" rtlCol="0" anchor="t"/>
          <a:lstStyle/>
          <a:p>
            <a:pPr algn="l" indent="0" marL="0">
              <a:lnSpc>
                <a:spcPct val="133000"/>
              </a:lnSpc>
              <a:buNone/>
            </a:pPr>
            <a:r>
              <a:rPr lang="en-US" sz="1450" dirty="0">
                <a:solidFill>
                  <a:srgbClr val="E0D6DE"/>
                </a:solidFill>
                <a:latin typeface="Noto Sans" pitchFamily="34" charset="0"/>
                <a:ea typeface="Noto Sans" pitchFamily="34" charset="-122"/>
                <a:cs typeface="Noto Sans" pitchFamily="34" charset="-120"/>
              </a:rPr>
              <a:t>Kaggle</a:t>
            </a:r>
            <a:endParaRPr lang="en-US" sz="1450" dirty="0"/>
          </a:p>
        </p:txBody>
      </p:sp>
      <p:sp>
        <p:nvSpPr>
          <p:cNvPr id="23" name="Text 21"/>
          <p:cNvSpPr/>
          <p:nvPr/>
        </p:nvSpPr>
        <p:spPr>
          <a:xfrm>
            <a:off x="4330889" y="4019153"/>
            <a:ext cx="1534280" cy="302419"/>
          </a:xfrm>
          <a:prstGeom prst="rect">
            <a:avLst/>
          </a:prstGeom>
          <a:noFill/>
          <a:ln/>
        </p:spPr>
        <p:txBody>
          <a:bodyPr wrap="none" lIns="0" tIns="0" rIns="0" bIns="0" rtlCol="0" anchor="t"/>
          <a:lstStyle/>
          <a:p>
            <a:pPr algn="l" indent="0" marL="0">
              <a:lnSpc>
                <a:spcPct val="133000"/>
              </a:lnSpc>
              <a:buNone/>
            </a:pPr>
            <a:r>
              <a:rPr lang="en-US" sz="1450" dirty="0">
                <a:solidFill>
                  <a:srgbClr val="E0D6DE"/>
                </a:solidFill>
                <a:latin typeface="Noto Sans" pitchFamily="34" charset="0"/>
                <a:ea typeface="Noto Sans" pitchFamily="34" charset="-122"/>
                <a:cs typeface="Noto Sans" pitchFamily="34" charset="-120"/>
              </a:rPr>
              <a:t>10,000</a:t>
            </a:r>
            <a:endParaRPr lang="en-US" sz="1450" dirty="0"/>
          </a:p>
        </p:txBody>
      </p:sp>
      <p:sp>
        <p:nvSpPr>
          <p:cNvPr id="24" name="Text 22"/>
          <p:cNvSpPr/>
          <p:nvPr/>
        </p:nvSpPr>
        <p:spPr>
          <a:xfrm>
            <a:off x="5633599" y="4019153"/>
            <a:ext cx="1534280" cy="302419"/>
          </a:xfrm>
          <a:prstGeom prst="rect">
            <a:avLst/>
          </a:prstGeom>
          <a:noFill/>
          <a:ln/>
        </p:spPr>
        <p:txBody>
          <a:bodyPr wrap="none" lIns="0" tIns="0" rIns="0" bIns="0" rtlCol="0" anchor="t"/>
          <a:lstStyle/>
          <a:p>
            <a:pPr algn="l" indent="0" marL="0">
              <a:lnSpc>
                <a:spcPct val="133000"/>
              </a:lnSpc>
              <a:buNone/>
            </a:pPr>
            <a:r>
              <a:rPr lang="en-US" sz="1450" dirty="0">
                <a:solidFill>
                  <a:srgbClr val="E0D6DE"/>
                </a:solidFill>
                <a:latin typeface="Noto Sans" pitchFamily="34" charset="0"/>
                <a:ea typeface="Noto Sans" pitchFamily="34" charset="-122"/>
                <a:cs typeface="Noto Sans" pitchFamily="34" charset="-120"/>
              </a:rPr>
              <a:t>17</a:t>
            </a:r>
            <a:endParaRPr lang="en-US" sz="1450" dirty="0"/>
          </a:p>
        </p:txBody>
      </p:sp>
      <p:sp>
        <p:nvSpPr>
          <p:cNvPr id="25" name="Text 23"/>
          <p:cNvSpPr/>
          <p:nvPr/>
        </p:nvSpPr>
        <p:spPr>
          <a:xfrm>
            <a:off x="6936309" y="4019153"/>
            <a:ext cx="2185635" cy="302419"/>
          </a:xfrm>
          <a:prstGeom prst="rect">
            <a:avLst/>
          </a:prstGeom>
          <a:noFill/>
          <a:ln/>
        </p:spPr>
        <p:txBody>
          <a:bodyPr wrap="none" lIns="0" tIns="0" rIns="0" bIns="0" rtlCol="0" anchor="t"/>
          <a:lstStyle/>
          <a:p>
            <a:pPr algn="l" indent="0" marL="0">
              <a:lnSpc>
                <a:spcPct val="133000"/>
              </a:lnSpc>
              <a:buNone/>
            </a:pPr>
            <a:r>
              <a:rPr lang="en-US" sz="1450" dirty="0">
                <a:solidFill>
                  <a:srgbClr val="E0D6DE"/>
                </a:solidFill>
                <a:latin typeface="Noto Sans" pitchFamily="34" charset="0"/>
                <a:ea typeface="Noto Sans" pitchFamily="34" charset="-122"/>
                <a:cs typeface="Noto Sans" pitchFamily="34" charset="-120"/>
              </a:rPr>
              <a:t>Pass / Fail</a:t>
            </a:r>
            <a:endParaRPr lang="en-US" sz="1450" dirty="0"/>
          </a:p>
        </p:txBody>
      </p:sp>
      <p:sp>
        <p:nvSpPr>
          <p:cNvPr id="26" name="Text 24"/>
          <p:cNvSpPr/>
          <p:nvPr/>
        </p:nvSpPr>
        <p:spPr>
          <a:xfrm>
            <a:off x="8890373" y="4019153"/>
            <a:ext cx="2444490" cy="604838"/>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E0D6DE"/>
                </a:solidFill>
                <a:latin typeface="Noto Sans" pitchFamily="34" charset="0"/>
                <a:ea typeface="Noto Sans" pitchFamily="34" charset="-122"/>
                <a:cs typeface="Noto Sans" pitchFamily="34" charset="-120"/>
              </a:rPr>
              <a:t>Large-scale; attendance, CGPA, study hours</a:t>
            </a:r>
            <a:endParaRPr lang="en-US" sz="1450" dirty="0"/>
          </a:p>
        </p:txBody>
      </p:sp>
      <p:sp>
        <p:nvSpPr>
          <p:cNvPr id="27" name="Text 25"/>
          <p:cNvSpPr/>
          <p:nvPr/>
        </p:nvSpPr>
        <p:spPr>
          <a:xfrm>
            <a:off x="857030" y="5172273"/>
            <a:ext cx="1576050" cy="604838"/>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E0D6DE"/>
                </a:solidFill>
                <a:latin typeface="Noto Sans" pitchFamily="34" charset="0"/>
                <a:ea typeface="Noto Sans" pitchFamily="34" charset="-122"/>
                <a:cs typeface="Noto Sans" pitchFamily="34" charset="-120"/>
              </a:rPr>
              <a:t>OpenML Student Success</a:t>
            </a:r>
            <a:endParaRPr lang="en-US" sz="1450" dirty="0"/>
          </a:p>
        </p:txBody>
      </p:sp>
      <p:sp>
        <p:nvSpPr>
          <p:cNvPr id="28" name="Text 26"/>
          <p:cNvSpPr/>
          <p:nvPr/>
        </p:nvSpPr>
        <p:spPr>
          <a:xfrm>
            <a:off x="2811095" y="5172273"/>
            <a:ext cx="1751366" cy="302419"/>
          </a:xfrm>
          <a:prstGeom prst="rect">
            <a:avLst/>
          </a:prstGeom>
          <a:noFill/>
          <a:ln/>
        </p:spPr>
        <p:txBody>
          <a:bodyPr wrap="none" lIns="0" tIns="0" rIns="0" bIns="0" rtlCol="0" anchor="t"/>
          <a:lstStyle/>
          <a:p>
            <a:pPr algn="l" indent="0" marL="0">
              <a:lnSpc>
                <a:spcPct val="133000"/>
              </a:lnSpc>
              <a:buNone/>
            </a:pPr>
            <a:r>
              <a:rPr lang="en-US" sz="1450" dirty="0">
                <a:solidFill>
                  <a:srgbClr val="E0D6DE"/>
                </a:solidFill>
                <a:latin typeface="Noto Sans" pitchFamily="34" charset="0"/>
                <a:ea typeface="Noto Sans" pitchFamily="34" charset="-122"/>
                <a:cs typeface="Noto Sans" pitchFamily="34" charset="-120"/>
              </a:rPr>
              <a:t>OpenML</a:t>
            </a:r>
            <a:endParaRPr lang="en-US" sz="1450" dirty="0"/>
          </a:p>
        </p:txBody>
      </p:sp>
      <p:sp>
        <p:nvSpPr>
          <p:cNvPr id="29" name="Text 27"/>
          <p:cNvSpPr/>
          <p:nvPr/>
        </p:nvSpPr>
        <p:spPr>
          <a:xfrm>
            <a:off x="4330889" y="5172273"/>
            <a:ext cx="1534280" cy="302419"/>
          </a:xfrm>
          <a:prstGeom prst="rect">
            <a:avLst/>
          </a:prstGeom>
          <a:noFill/>
          <a:ln/>
        </p:spPr>
        <p:txBody>
          <a:bodyPr wrap="none" lIns="0" tIns="0" rIns="0" bIns="0" rtlCol="0" anchor="t"/>
          <a:lstStyle/>
          <a:p>
            <a:pPr algn="l" indent="0" marL="0">
              <a:lnSpc>
                <a:spcPct val="133000"/>
              </a:lnSpc>
              <a:buNone/>
            </a:pPr>
            <a:r>
              <a:rPr lang="en-US" sz="1450" dirty="0">
                <a:solidFill>
                  <a:srgbClr val="E0D6DE"/>
                </a:solidFill>
                <a:latin typeface="Noto Sans" pitchFamily="34" charset="0"/>
                <a:ea typeface="Noto Sans" pitchFamily="34" charset="-122"/>
                <a:cs typeface="Noto Sans" pitchFamily="34" charset="-120"/>
              </a:rPr>
              <a:t>5,200</a:t>
            </a:r>
            <a:endParaRPr lang="en-US" sz="1450" dirty="0"/>
          </a:p>
        </p:txBody>
      </p:sp>
      <p:sp>
        <p:nvSpPr>
          <p:cNvPr id="30" name="Text 28"/>
          <p:cNvSpPr/>
          <p:nvPr/>
        </p:nvSpPr>
        <p:spPr>
          <a:xfrm>
            <a:off x="5633599" y="5172273"/>
            <a:ext cx="1534280" cy="302419"/>
          </a:xfrm>
          <a:prstGeom prst="rect">
            <a:avLst/>
          </a:prstGeom>
          <a:noFill/>
          <a:ln/>
        </p:spPr>
        <p:txBody>
          <a:bodyPr wrap="none" lIns="0" tIns="0" rIns="0" bIns="0" rtlCol="0" anchor="t"/>
          <a:lstStyle/>
          <a:p>
            <a:pPr algn="l" indent="0" marL="0">
              <a:lnSpc>
                <a:spcPct val="133000"/>
              </a:lnSpc>
              <a:buNone/>
            </a:pPr>
            <a:r>
              <a:rPr lang="en-US" sz="1450" dirty="0">
                <a:solidFill>
                  <a:srgbClr val="E0D6DE"/>
                </a:solidFill>
                <a:latin typeface="Noto Sans" pitchFamily="34" charset="0"/>
                <a:ea typeface="Noto Sans" pitchFamily="34" charset="-122"/>
                <a:cs typeface="Noto Sans" pitchFamily="34" charset="-120"/>
              </a:rPr>
              <a:t>22</a:t>
            </a:r>
            <a:endParaRPr lang="en-US" sz="1450" dirty="0"/>
          </a:p>
        </p:txBody>
      </p:sp>
      <p:sp>
        <p:nvSpPr>
          <p:cNvPr id="31" name="Text 29"/>
          <p:cNvSpPr/>
          <p:nvPr/>
        </p:nvSpPr>
        <p:spPr>
          <a:xfrm>
            <a:off x="6936309" y="5172273"/>
            <a:ext cx="1576050" cy="604838"/>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E0D6DE"/>
                </a:solidFill>
                <a:latin typeface="Noto Sans" pitchFamily="34" charset="0"/>
                <a:ea typeface="Noto Sans" pitchFamily="34" charset="-122"/>
                <a:cs typeface="Noto Sans" pitchFamily="34" charset="-120"/>
              </a:rPr>
              <a:t>Performance Class</a:t>
            </a:r>
            <a:endParaRPr lang="en-US" sz="1450" dirty="0"/>
          </a:p>
        </p:txBody>
      </p:sp>
      <p:sp>
        <p:nvSpPr>
          <p:cNvPr id="32" name="Text 30"/>
          <p:cNvSpPr/>
          <p:nvPr/>
        </p:nvSpPr>
        <p:spPr>
          <a:xfrm>
            <a:off x="8890373" y="5172273"/>
            <a:ext cx="2444490" cy="604838"/>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E0D6DE"/>
                </a:solidFill>
                <a:latin typeface="Noto Sans" pitchFamily="34" charset="0"/>
                <a:ea typeface="Noto Sans" pitchFamily="34" charset="-122"/>
                <a:cs typeface="Noto Sans" pitchFamily="34" charset="-120"/>
              </a:rPr>
              <a:t>Behavioral + academic; ideal for XAI</a:t>
            </a:r>
            <a:endParaRPr lang="en-US" sz="14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661475" y="1401465"/>
            <a:ext cx="590138" cy="287139"/>
          </a:xfrm>
          <a:prstGeom prst="roundRect">
            <a:avLst>
              <a:gd name="adj" fmla="val 7899"/>
            </a:avLst>
          </a:prstGeom>
          <a:noFill/>
          <a:ln w="6350">
            <a:solidFill>
              <a:srgbClr val="97B8FF"/>
            </a:solidFill>
            <a:prstDash val="solid"/>
          </a:ln>
        </p:spPr>
        <p:txBody>
          <a:bodyPr/>
          <a:p/>
        </p:txBody>
      </p:sp>
      <p:sp>
        <p:nvSpPr>
          <p:cNvPr id="3" name="Text 1"/>
          <p:cNvSpPr/>
          <p:nvPr/>
        </p:nvSpPr>
        <p:spPr>
          <a:xfrm>
            <a:off x="774879" y="1458119"/>
            <a:ext cx="972915" cy="173831"/>
          </a:xfrm>
          <a:prstGeom prst="rect">
            <a:avLst/>
          </a:prstGeom>
          <a:noFill/>
          <a:ln/>
        </p:spPr>
        <p:txBody>
          <a:bodyPr wrap="none" lIns="0" tIns="0" rIns="0" bIns="0" rtlCol="0" anchor="t"/>
          <a:lstStyle/>
          <a:p>
            <a:pPr algn="l" indent="0" marL="0">
              <a:lnSpc>
                <a:spcPct val="96000"/>
              </a:lnSpc>
              <a:buNone/>
            </a:pPr>
            <a:r>
              <a:rPr lang="en-US" sz="1150" dirty="0">
                <a:solidFill>
                  <a:srgbClr val="97B8FF"/>
                </a:solidFill>
                <a:latin typeface="Noto Sans" pitchFamily="34" charset="0"/>
                <a:ea typeface="Noto Sans" pitchFamily="34" charset="-122"/>
                <a:cs typeface="Noto Sans" pitchFamily="34" charset="-120"/>
              </a:rPr>
              <a:t>DATA</a:t>
            </a:r>
            <a:endParaRPr lang="en-US" sz="1150" dirty="0"/>
          </a:p>
        </p:txBody>
      </p:sp>
      <p:sp>
        <p:nvSpPr>
          <p:cNvPr id="4" name="Text 2"/>
          <p:cNvSpPr/>
          <p:nvPr/>
        </p:nvSpPr>
        <p:spPr>
          <a:xfrm>
            <a:off x="661475" y="1764209"/>
            <a:ext cx="10868745" cy="590649"/>
          </a:xfrm>
          <a:prstGeom prst="rect">
            <a:avLst/>
          </a:prstGeom>
          <a:noFill/>
          <a:ln/>
        </p:spPr>
        <p:txBody>
          <a:bodyPr wrap="none" lIns="0" tIns="0" rIns="0" bIns="0" rtlCol="0" anchor="t"/>
          <a:lstStyle/>
          <a:p>
            <a:pPr algn="l" indent="0" marL="0">
              <a:lnSpc>
                <a:spcPct val="104000"/>
              </a:lnSpc>
              <a:buNone/>
            </a:pPr>
            <a:r>
              <a:rPr lang="en-US" sz="3700" dirty="0">
                <a:solidFill>
                  <a:srgbClr val="97B8FF"/>
                </a:solidFill>
                <a:latin typeface="Sora Medium" pitchFamily="34" charset="0"/>
                <a:ea typeface="Sora Medium" pitchFamily="34" charset="-122"/>
                <a:cs typeface="Sora Medium" pitchFamily="34" charset="-120"/>
              </a:rPr>
              <a:t>Dataset Parameters &amp; Preprocessing</a:t>
            </a:r>
            <a:endParaRPr lang="en-US" sz="3700" dirty="0"/>
          </a:p>
        </p:txBody>
      </p:sp>
      <p:sp>
        <p:nvSpPr>
          <p:cNvPr id="5" name="Text 3"/>
          <p:cNvSpPr/>
          <p:nvPr/>
        </p:nvSpPr>
        <p:spPr>
          <a:xfrm>
            <a:off x="661475" y="2827338"/>
            <a:ext cx="5770220" cy="295275"/>
          </a:xfrm>
          <a:prstGeom prst="rect">
            <a:avLst/>
          </a:prstGeom>
          <a:noFill/>
          <a:ln/>
        </p:spPr>
        <p:txBody>
          <a:bodyPr wrap="none" lIns="0" tIns="0" rIns="0" bIns="0" rtlCol="0" anchor="t"/>
          <a:lstStyle/>
          <a:p>
            <a:pPr algn="l" indent="0" marL="0">
              <a:lnSpc>
                <a:spcPct val="104000"/>
              </a:lnSpc>
              <a:buNone/>
            </a:pPr>
            <a:r>
              <a:rPr lang="en-US" sz="1850" dirty="0">
                <a:solidFill>
                  <a:srgbClr val="97B8FF"/>
                </a:solidFill>
                <a:latin typeface="Sora Medium" pitchFamily="34" charset="0"/>
                <a:ea typeface="Sora Medium" pitchFamily="34" charset="-122"/>
                <a:cs typeface="Sora Medium" pitchFamily="34" charset="-120"/>
              </a:rPr>
              <a:t>Key Attributes</a:t>
            </a:r>
            <a:endParaRPr lang="en-US" sz="1850" dirty="0"/>
          </a:p>
        </p:txBody>
      </p:sp>
      <p:sp>
        <p:nvSpPr>
          <p:cNvPr id="6" name="Text 4"/>
          <p:cNvSpPr/>
          <p:nvPr/>
        </p:nvSpPr>
        <p:spPr>
          <a:xfrm>
            <a:off x="661475" y="3311624"/>
            <a:ext cx="5770220" cy="2012752"/>
          </a:xfrm>
          <a:prstGeom prst="rect">
            <a:avLst/>
          </a:prstGeom>
          <a:noFill/>
          <a:ln/>
        </p:spPr>
        <p:txBody>
          <a:bodyPr wrap="square" lIns="0" tIns="0" rIns="0" bIns="0" rtlCol="0" anchor="t">
            <a:normAutofit/>
          </a:bodyPr>
          <a:lstStyle/>
          <a:p>
            <a:pPr algn="l" marL="294640" indent="-294640">
              <a:lnSpc>
                <a:spcPct val="133000"/>
              </a:lnSpc>
              <a:buSzPct val="100000"/>
              <a:buChar char="•"/>
            </a:pPr>
            <a:r>
              <a:rPr lang="en-US" sz="1450" b="1" dirty="0">
                <a:solidFill>
                  <a:srgbClr val="E0D6DE"/>
                </a:solidFill>
                <a:latin typeface="Noto Sans Bold" pitchFamily="34" charset="0"/>
                <a:ea typeface="Noto Sans Bold" pitchFamily="34" charset="-122"/>
                <a:cs typeface="Noto Sans Bold" pitchFamily="34" charset="-120"/>
              </a:rPr>
              <a:t>Academic:</a:t>
            </a:r>
            <a:pPr algn="l" marL="294640" indent="-294640">
              <a:lnSpc>
                <a:spcPct val="133000"/>
              </a:lnSpc>
              <a:buSzPct val="100000"/>
              <a:buChar char="•"/>
            </a:pPr>
            <a:r>
              <a:rPr lang="en-US" sz="1450" dirty="0">
                <a:solidFill>
                  <a:srgbClr val="E0D6DE"/>
                </a:solidFill>
                <a:latin typeface="Noto Sans" pitchFamily="34" charset="0"/>
                <a:ea typeface="Noto Sans" pitchFamily="34" charset="-122"/>
                <a:cs typeface="Noto Sans" pitchFamily="34" charset="-120"/>
              </a:rPr>
              <a:t> Attendance, Internal Marks, Assignments, Projects, CGPA, Previous GPA, Backlogs</a:t>
            </a:r>
            <a:endParaRPr lang="en-US" sz="1450" dirty="0"/>
          </a:p>
          <a:p>
            <a:pPr algn="l" marL="294640" indent="-294640">
              <a:lnSpc>
                <a:spcPct val="133000"/>
              </a:lnSpc>
              <a:buSzPct val="100000"/>
              <a:buChar char="•"/>
            </a:pPr>
            <a:r>
              <a:rPr lang="en-US" sz="1450" b="1" dirty="0">
                <a:solidFill>
                  <a:srgbClr val="E0D6DE"/>
                </a:solidFill>
                <a:latin typeface="Noto Sans Bold" pitchFamily="34" charset="0"/>
                <a:ea typeface="Noto Sans Bold" pitchFamily="34" charset="-122"/>
                <a:cs typeface="Noto Sans Bold" pitchFamily="34" charset="-120"/>
              </a:rPr>
              <a:t>Behavioral:</a:t>
            </a:r>
            <a:pPr algn="l" marL="294640" indent="-294640">
              <a:lnSpc>
                <a:spcPct val="133000"/>
              </a:lnSpc>
              <a:buSzPct val="100000"/>
              <a:buChar char="•"/>
            </a:pPr>
            <a:r>
              <a:rPr lang="en-US" sz="1450" dirty="0">
                <a:solidFill>
                  <a:srgbClr val="E0D6DE"/>
                </a:solidFill>
                <a:latin typeface="Noto Sans" pitchFamily="34" charset="0"/>
                <a:ea typeface="Noto Sans" pitchFamily="34" charset="-122"/>
                <a:cs typeface="Noto Sans" pitchFamily="34" charset="-120"/>
              </a:rPr>
              <a:t> Study Hours, Internship, Extra-Curricular Activities</a:t>
            </a:r>
            <a:endParaRPr lang="en-US" sz="1450" dirty="0"/>
          </a:p>
          <a:p>
            <a:pPr algn="l" marL="294640" indent="-294640">
              <a:lnSpc>
                <a:spcPct val="133000"/>
              </a:lnSpc>
              <a:buSzPct val="100000"/>
              <a:buChar char="•"/>
            </a:pPr>
            <a:r>
              <a:rPr lang="en-US" sz="1450" b="1" dirty="0">
                <a:solidFill>
                  <a:srgbClr val="E0D6DE"/>
                </a:solidFill>
                <a:latin typeface="Noto Sans Bold" pitchFamily="34" charset="0"/>
                <a:ea typeface="Noto Sans Bold" pitchFamily="34" charset="-122"/>
                <a:cs typeface="Noto Sans Bold" pitchFamily="34" charset="-120"/>
              </a:rPr>
              <a:t>Skills:</a:t>
            </a:r>
            <a:pPr algn="l" marL="294640" indent="-294640">
              <a:lnSpc>
                <a:spcPct val="133000"/>
              </a:lnSpc>
              <a:buSzPct val="100000"/>
              <a:buChar char="•"/>
            </a:pPr>
            <a:r>
              <a:rPr lang="en-US" sz="1450" dirty="0">
                <a:solidFill>
                  <a:srgbClr val="E0D6DE"/>
                </a:solidFill>
                <a:latin typeface="Noto Sans" pitchFamily="34" charset="0"/>
                <a:ea typeface="Noto Sans" pitchFamily="34" charset="-122"/>
                <a:cs typeface="Noto Sans" pitchFamily="34" charset="-120"/>
              </a:rPr>
              <a:t> Programming Skills, Communication Skills</a:t>
            </a:r>
            <a:endParaRPr lang="en-US" sz="1450" dirty="0"/>
          </a:p>
          <a:p>
            <a:pPr algn="l" marL="294640" indent="-294640">
              <a:lnSpc>
                <a:spcPct val="133000"/>
              </a:lnSpc>
              <a:buSzPct val="100000"/>
              <a:buChar char="•"/>
            </a:pPr>
            <a:r>
              <a:rPr lang="en-US" sz="1450" b="1" dirty="0">
                <a:solidFill>
                  <a:srgbClr val="E0D6DE"/>
                </a:solidFill>
                <a:latin typeface="Noto Sans Bold" pitchFamily="34" charset="0"/>
                <a:ea typeface="Noto Sans Bold" pitchFamily="34" charset="-122"/>
                <a:cs typeface="Noto Sans Bold" pitchFamily="34" charset="-120"/>
              </a:rPr>
              <a:t>Target:</a:t>
            </a:r>
            <a:pPr algn="l" marL="294640" indent="-294640">
              <a:lnSpc>
                <a:spcPct val="133000"/>
              </a:lnSpc>
              <a:buSzPct val="100000"/>
              <a:buChar char="•"/>
            </a:pPr>
            <a:r>
              <a:rPr lang="en-US" sz="1450" dirty="0">
                <a:solidFill>
                  <a:srgbClr val="E0D6DE"/>
                </a:solidFill>
                <a:latin typeface="Noto Sans" pitchFamily="34" charset="0"/>
                <a:ea typeface="Noto Sans" pitchFamily="34" charset="-122"/>
                <a:cs typeface="Noto Sans" pitchFamily="34" charset="-120"/>
              </a:rPr>
              <a:t> Pass / Fail or Grade Classification</a:t>
            </a:r>
            <a:endParaRPr lang="en-US" sz="1450" dirty="0"/>
          </a:p>
        </p:txBody>
      </p:sp>
      <p:sp>
        <p:nvSpPr>
          <p:cNvPr id="7" name="Text 5"/>
          <p:cNvSpPr/>
          <p:nvPr/>
        </p:nvSpPr>
        <p:spPr>
          <a:xfrm>
            <a:off x="6899202" y="2827338"/>
            <a:ext cx="4637269" cy="295275"/>
          </a:xfrm>
          <a:prstGeom prst="rect">
            <a:avLst/>
          </a:prstGeom>
          <a:noFill/>
          <a:ln/>
        </p:spPr>
        <p:txBody>
          <a:bodyPr wrap="none" lIns="0" tIns="0" rIns="0" bIns="0" rtlCol="0" anchor="t"/>
          <a:lstStyle/>
          <a:p>
            <a:pPr algn="l" indent="0" marL="0">
              <a:lnSpc>
                <a:spcPct val="104000"/>
              </a:lnSpc>
              <a:buNone/>
            </a:pPr>
            <a:r>
              <a:rPr lang="en-US" sz="1850" dirty="0">
                <a:solidFill>
                  <a:srgbClr val="97B8FF"/>
                </a:solidFill>
                <a:latin typeface="Sora Medium" pitchFamily="34" charset="0"/>
                <a:ea typeface="Sora Medium" pitchFamily="34" charset="-122"/>
                <a:cs typeface="Sora Medium" pitchFamily="34" charset="-120"/>
              </a:rPr>
              <a:t>Preprocessing Pipeline</a:t>
            </a:r>
            <a:endParaRPr lang="en-US" sz="1850" dirty="0"/>
          </a:p>
        </p:txBody>
      </p:sp>
      <p:sp>
        <p:nvSpPr>
          <p:cNvPr id="8" name="Text 6"/>
          <p:cNvSpPr/>
          <p:nvPr/>
        </p:nvSpPr>
        <p:spPr>
          <a:xfrm>
            <a:off x="6899202" y="3311624"/>
            <a:ext cx="4637269" cy="2078831"/>
          </a:xfrm>
          <a:prstGeom prst="rect">
            <a:avLst/>
          </a:prstGeom>
          <a:noFill/>
          <a:ln/>
        </p:spPr>
        <p:txBody>
          <a:bodyPr wrap="square" lIns="0" tIns="0" rIns="0" bIns="0" rtlCol="0" anchor="t">
            <a:normAutofit/>
          </a:bodyPr>
          <a:lstStyle/>
          <a:p>
            <a:pPr algn="l" marL="294640" indent="-294640">
              <a:lnSpc>
                <a:spcPct val="133000"/>
              </a:lnSpc>
              <a:buSzPct val="100000"/>
              <a:buChar char="•"/>
            </a:pPr>
            <a:r>
              <a:rPr lang="en-US" sz="1450" dirty="0">
                <a:solidFill>
                  <a:srgbClr val="E0D6DE"/>
                </a:solidFill>
                <a:latin typeface="Noto Sans" pitchFamily="34" charset="0"/>
                <a:ea typeface="Noto Sans" pitchFamily="34" charset="-122"/>
                <a:cs typeface="Noto Sans" pitchFamily="34" charset="-120"/>
              </a:rPr>
              <a:t>Handle missing values (imputation / removal)</a:t>
            </a:r>
            <a:endParaRPr lang="en-US" sz="1450" dirty="0"/>
          </a:p>
          <a:p>
            <a:pPr algn="l" marL="294640" indent="-294640">
              <a:lnSpc>
                <a:spcPct val="133000"/>
              </a:lnSpc>
              <a:buSzPct val="100000"/>
              <a:buChar char="•"/>
            </a:pPr>
            <a:r>
              <a:rPr lang="en-US" sz="1450" dirty="0">
                <a:solidFill>
                  <a:srgbClr val="E0D6DE"/>
                </a:solidFill>
                <a:latin typeface="Noto Sans" pitchFamily="34" charset="0"/>
                <a:ea typeface="Noto Sans" pitchFamily="34" charset="-122"/>
                <a:cs typeface="Noto Sans" pitchFamily="34" charset="-120"/>
              </a:rPr>
              <a:t>Encode categorical variables (One-Hot, Label)</a:t>
            </a:r>
            <a:endParaRPr lang="en-US" sz="1450" dirty="0"/>
          </a:p>
          <a:p>
            <a:pPr algn="l" marL="294640" indent="-294640">
              <a:lnSpc>
                <a:spcPct val="133000"/>
              </a:lnSpc>
              <a:buSzPct val="100000"/>
              <a:buChar char="•"/>
            </a:pPr>
            <a:r>
              <a:rPr lang="en-US" sz="1450" dirty="0">
                <a:solidFill>
                  <a:srgbClr val="E0D6DE"/>
                </a:solidFill>
                <a:latin typeface="Noto Sans" pitchFamily="34" charset="0"/>
                <a:ea typeface="Noto Sans" pitchFamily="34" charset="-122"/>
                <a:cs typeface="Noto Sans" pitchFamily="34" charset="-120"/>
              </a:rPr>
              <a:t>Feature scaling (StandardScaler, MinMax)</a:t>
            </a:r>
            <a:endParaRPr lang="en-US" sz="1450" dirty="0"/>
          </a:p>
          <a:p>
            <a:pPr algn="l" marL="294640" indent="-294640">
              <a:lnSpc>
                <a:spcPct val="133000"/>
              </a:lnSpc>
              <a:buSzPct val="100000"/>
              <a:buChar char="•"/>
            </a:pPr>
            <a:r>
              <a:rPr lang="en-US" sz="1450" dirty="0">
                <a:solidFill>
                  <a:srgbClr val="E0D6DE"/>
                </a:solidFill>
                <a:latin typeface="Noto Sans" pitchFamily="34" charset="0"/>
                <a:ea typeface="Noto Sans" pitchFamily="34" charset="-122"/>
                <a:cs typeface="Noto Sans" pitchFamily="34" charset="-120"/>
              </a:rPr>
              <a:t>Feature engineering (GPA trends, attendance rate)</a:t>
            </a:r>
            <a:endParaRPr lang="en-US" sz="1450" dirty="0"/>
          </a:p>
          <a:p>
            <a:pPr algn="l" marL="294640" indent="-294640">
              <a:lnSpc>
                <a:spcPct val="133000"/>
              </a:lnSpc>
              <a:buSzPct val="100000"/>
              <a:buChar char="•"/>
            </a:pPr>
            <a:r>
              <a:rPr lang="en-US" sz="1450" dirty="0">
                <a:solidFill>
                  <a:srgbClr val="E0D6DE"/>
                </a:solidFill>
                <a:latin typeface="Noto Sans" pitchFamily="34" charset="0"/>
                <a:ea typeface="Noto Sans" pitchFamily="34" charset="-122"/>
                <a:cs typeface="Noto Sans" pitchFamily="34" charset="-120"/>
              </a:rPr>
              <a:t>Outlier detection (IQR, Z-score)</a:t>
            </a:r>
            <a:endParaRPr lang="en-US" sz="14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661475" y="817265"/>
            <a:ext cx="1379900" cy="287139"/>
          </a:xfrm>
          <a:prstGeom prst="roundRect">
            <a:avLst>
              <a:gd name="adj" fmla="val 7899"/>
            </a:avLst>
          </a:prstGeom>
          <a:noFill/>
          <a:ln w="6350">
            <a:solidFill>
              <a:srgbClr val="97B8FF"/>
            </a:solidFill>
            <a:prstDash val="solid"/>
          </a:ln>
        </p:spPr>
        <p:txBody>
          <a:bodyPr/>
          <a:p/>
        </p:txBody>
      </p:sp>
      <p:sp>
        <p:nvSpPr>
          <p:cNvPr id="3" name="Text 1"/>
          <p:cNvSpPr/>
          <p:nvPr/>
        </p:nvSpPr>
        <p:spPr>
          <a:xfrm>
            <a:off x="774879" y="873919"/>
            <a:ext cx="1762676" cy="173831"/>
          </a:xfrm>
          <a:prstGeom prst="rect">
            <a:avLst/>
          </a:prstGeom>
          <a:noFill/>
          <a:ln/>
        </p:spPr>
        <p:txBody>
          <a:bodyPr wrap="none" lIns="0" tIns="0" rIns="0" bIns="0" rtlCol="0" anchor="t"/>
          <a:lstStyle/>
          <a:p>
            <a:pPr algn="l" indent="0" marL="0">
              <a:lnSpc>
                <a:spcPct val="96000"/>
              </a:lnSpc>
              <a:buNone/>
            </a:pPr>
            <a:r>
              <a:rPr lang="en-US" sz="1150" dirty="0">
                <a:solidFill>
                  <a:srgbClr val="97B8FF"/>
                </a:solidFill>
                <a:latin typeface="Noto Sans" pitchFamily="34" charset="0"/>
                <a:ea typeface="Noto Sans" pitchFamily="34" charset="-122"/>
                <a:cs typeface="Noto Sans" pitchFamily="34" charset="-120"/>
              </a:rPr>
              <a:t>METHODOLOGY</a:t>
            </a:r>
            <a:endParaRPr lang="en-US" sz="1150" dirty="0"/>
          </a:p>
        </p:txBody>
      </p:sp>
      <p:sp>
        <p:nvSpPr>
          <p:cNvPr id="4" name="Text 2"/>
          <p:cNvSpPr/>
          <p:nvPr/>
        </p:nvSpPr>
        <p:spPr>
          <a:xfrm>
            <a:off x="661475" y="1180009"/>
            <a:ext cx="10868745" cy="590649"/>
          </a:xfrm>
          <a:prstGeom prst="rect">
            <a:avLst/>
          </a:prstGeom>
          <a:noFill/>
          <a:ln/>
        </p:spPr>
        <p:txBody>
          <a:bodyPr wrap="none" lIns="0" tIns="0" rIns="0" bIns="0" rtlCol="0" anchor="t"/>
          <a:lstStyle/>
          <a:p>
            <a:pPr algn="l" indent="0" marL="0">
              <a:lnSpc>
                <a:spcPct val="104000"/>
              </a:lnSpc>
              <a:buNone/>
            </a:pPr>
            <a:r>
              <a:rPr lang="en-US" sz="3700" dirty="0">
                <a:solidFill>
                  <a:srgbClr val="97B8FF"/>
                </a:solidFill>
                <a:latin typeface="Sora Medium" pitchFamily="34" charset="0"/>
                <a:ea typeface="Sora Medium" pitchFamily="34" charset="-122"/>
                <a:cs typeface="Sora Medium" pitchFamily="34" charset="-120"/>
              </a:rPr>
              <a:t>ML Lifecycle &amp; Methodology</a:t>
            </a:r>
            <a:endParaRPr lang="en-US" sz="3700" dirty="0"/>
          </a:p>
        </p:txBody>
      </p:sp>
      <p:sp>
        <p:nvSpPr>
          <p:cNvPr id="5" name="Text 3"/>
          <p:cNvSpPr/>
          <p:nvPr/>
        </p:nvSpPr>
        <p:spPr>
          <a:xfrm>
            <a:off x="661475" y="2054126"/>
            <a:ext cx="378014" cy="236240"/>
          </a:xfrm>
          <a:prstGeom prst="rect">
            <a:avLst/>
          </a:prstGeom>
          <a:noFill/>
          <a:ln/>
        </p:spPr>
        <p:txBody>
          <a:bodyPr wrap="none" lIns="0" tIns="0" rIns="0" bIns="0" rtlCol="0" anchor="ctr"/>
          <a:lstStyle/>
          <a:p>
            <a:pPr algn="l" indent="0" marL="0">
              <a:lnSpc>
                <a:spcPct val="100000"/>
              </a:lnSpc>
              <a:buNone/>
            </a:pPr>
            <a:r>
              <a:rPr lang="en-US" sz="1450" dirty="0">
                <a:solidFill>
                  <a:srgbClr val="E0D6DE"/>
                </a:solidFill>
                <a:latin typeface="Sora Light" pitchFamily="34" charset="0"/>
                <a:ea typeface="Sora Light" pitchFamily="34" charset="-122"/>
                <a:cs typeface="Sora Light" pitchFamily="34" charset="-120"/>
              </a:rPr>
              <a:t>01</a:t>
            </a:r>
            <a:endParaRPr lang="en-US" sz="1450" dirty="0"/>
          </a:p>
        </p:txBody>
      </p:sp>
      <p:sp>
        <p:nvSpPr>
          <p:cNvPr id="6" name="Shape 4"/>
          <p:cNvSpPr/>
          <p:nvPr/>
        </p:nvSpPr>
        <p:spPr>
          <a:xfrm>
            <a:off x="661475" y="2349996"/>
            <a:ext cx="3496877" cy="25400"/>
          </a:xfrm>
          <a:prstGeom prst="rect">
            <a:avLst/>
          </a:prstGeom>
          <a:solidFill>
            <a:srgbClr val="B380FF"/>
          </a:solidFill>
          <a:ln/>
        </p:spPr>
        <p:txBody>
          <a:bodyPr/>
          <a:p/>
        </p:txBody>
      </p:sp>
      <p:sp>
        <p:nvSpPr>
          <p:cNvPr id="7" name="Text 5"/>
          <p:cNvSpPr/>
          <p:nvPr/>
        </p:nvSpPr>
        <p:spPr>
          <a:xfrm>
            <a:off x="661475" y="2495252"/>
            <a:ext cx="3496877" cy="295275"/>
          </a:xfrm>
          <a:prstGeom prst="rect">
            <a:avLst/>
          </a:prstGeom>
          <a:noFill/>
          <a:ln/>
        </p:spPr>
        <p:txBody>
          <a:bodyPr wrap="none" lIns="0" tIns="0" rIns="0" bIns="0" rtlCol="0" anchor="t"/>
          <a:lstStyle/>
          <a:p>
            <a:pPr algn="l" indent="0" marL="0">
              <a:lnSpc>
                <a:spcPct val="104000"/>
              </a:lnSpc>
              <a:buNone/>
            </a:pPr>
            <a:r>
              <a:rPr lang="en-US" sz="1850" dirty="0">
                <a:solidFill>
                  <a:srgbClr val="E0D6DE"/>
                </a:solidFill>
                <a:latin typeface="Sora Medium" pitchFamily="34" charset="0"/>
                <a:ea typeface="Sora Medium" pitchFamily="34" charset="-122"/>
                <a:cs typeface="Sora Medium" pitchFamily="34" charset="-120"/>
              </a:rPr>
              <a:t>Data Collection &amp; Validation</a:t>
            </a:r>
            <a:endParaRPr lang="en-US" sz="1850" dirty="0"/>
          </a:p>
        </p:txBody>
      </p:sp>
      <p:sp>
        <p:nvSpPr>
          <p:cNvPr id="8" name="Text 6"/>
          <p:cNvSpPr/>
          <p:nvPr/>
        </p:nvSpPr>
        <p:spPr>
          <a:xfrm>
            <a:off x="661475" y="2903934"/>
            <a:ext cx="3496877" cy="1209675"/>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E0D6DE"/>
                </a:solidFill>
                <a:latin typeface="Noto Sans" pitchFamily="34" charset="0"/>
                <a:ea typeface="Noto Sans" pitchFamily="34" charset="-122"/>
                <a:cs typeface="Noto Sans" pitchFamily="34" charset="-120"/>
              </a:rPr>
              <a:t>Ingest student records from institutional databases and validate schema, completeness, and data quality.</a:t>
            </a:r>
            <a:endParaRPr lang="en-US" sz="1450" dirty="0"/>
          </a:p>
        </p:txBody>
      </p:sp>
      <p:sp>
        <p:nvSpPr>
          <p:cNvPr id="9" name="Text 7"/>
          <p:cNvSpPr/>
          <p:nvPr/>
        </p:nvSpPr>
        <p:spPr>
          <a:xfrm>
            <a:off x="4347359" y="2054126"/>
            <a:ext cx="378014" cy="236240"/>
          </a:xfrm>
          <a:prstGeom prst="rect">
            <a:avLst/>
          </a:prstGeom>
          <a:noFill/>
          <a:ln/>
        </p:spPr>
        <p:txBody>
          <a:bodyPr wrap="none" lIns="0" tIns="0" rIns="0" bIns="0" rtlCol="0" anchor="ctr"/>
          <a:lstStyle/>
          <a:p>
            <a:pPr algn="l" indent="0" marL="0">
              <a:lnSpc>
                <a:spcPct val="100000"/>
              </a:lnSpc>
              <a:buNone/>
            </a:pPr>
            <a:r>
              <a:rPr lang="en-US" sz="1450" dirty="0">
                <a:solidFill>
                  <a:srgbClr val="E0D6DE"/>
                </a:solidFill>
                <a:latin typeface="Sora Light" pitchFamily="34" charset="0"/>
                <a:ea typeface="Sora Light" pitchFamily="34" charset="-122"/>
                <a:cs typeface="Sora Light" pitchFamily="34" charset="-120"/>
              </a:rPr>
              <a:t>02</a:t>
            </a:r>
            <a:endParaRPr lang="en-US" sz="1450" dirty="0"/>
          </a:p>
        </p:txBody>
      </p:sp>
      <p:sp>
        <p:nvSpPr>
          <p:cNvPr id="10" name="Shape 8"/>
          <p:cNvSpPr/>
          <p:nvPr/>
        </p:nvSpPr>
        <p:spPr>
          <a:xfrm>
            <a:off x="4347359" y="2353568"/>
            <a:ext cx="3496877" cy="25400"/>
          </a:xfrm>
          <a:prstGeom prst="rect">
            <a:avLst/>
          </a:prstGeom>
          <a:solidFill>
            <a:srgbClr val="B380FF"/>
          </a:solidFill>
          <a:ln/>
        </p:spPr>
        <p:txBody>
          <a:bodyPr/>
          <a:p/>
        </p:txBody>
      </p:sp>
      <p:sp>
        <p:nvSpPr>
          <p:cNvPr id="11" name="Text 9"/>
          <p:cNvSpPr/>
          <p:nvPr/>
        </p:nvSpPr>
        <p:spPr>
          <a:xfrm>
            <a:off x="4347359" y="2495252"/>
            <a:ext cx="3496877" cy="590550"/>
          </a:xfrm>
          <a:prstGeom prst="rect">
            <a:avLst/>
          </a:prstGeom>
          <a:noFill/>
          <a:ln/>
        </p:spPr>
        <p:txBody>
          <a:bodyPr wrap="square" lIns="0" tIns="0" rIns="0" bIns="0" rtlCol="0" anchor="t">
            <a:normAutofit/>
          </a:bodyPr>
          <a:lstStyle/>
          <a:p>
            <a:pPr algn="l" indent="0" marL="0">
              <a:lnSpc>
                <a:spcPct val="104000"/>
              </a:lnSpc>
              <a:buNone/>
            </a:pPr>
            <a:r>
              <a:rPr lang="en-US" sz="1850" dirty="0">
                <a:solidFill>
                  <a:srgbClr val="E0D6DE"/>
                </a:solidFill>
                <a:latin typeface="Sora Medium" pitchFamily="34" charset="0"/>
                <a:ea typeface="Sora Medium" pitchFamily="34" charset="-122"/>
                <a:cs typeface="Sora Medium" pitchFamily="34" charset="-120"/>
              </a:rPr>
              <a:t>Preprocessing &amp; Feature Engineering</a:t>
            </a:r>
            <a:endParaRPr lang="en-US" sz="1850" dirty="0"/>
          </a:p>
        </p:txBody>
      </p:sp>
      <p:sp>
        <p:nvSpPr>
          <p:cNvPr id="12" name="Text 10"/>
          <p:cNvSpPr/>
          <p:nvPr/>
        </p:nvSpPr>
        <p:spPr>
          <a:xfrm>
            <a:off x="4347359" y="3199209"/>
            <a:ext cx="3496877" cy="907256"/>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E0D6DE"/>
                </a:solidFill>
                <a:latin typeface="Noto Sans" pitchFamily="34" charset="0"/>
                <a:ea typeface="Noto Sans" pitchFamily="34" charset="-122"/>
                <a:cs typeface="Noto Sans" pitchFamily="34" charset="-120"/>
              </a:rPr>
              <a:t>Handle missing values, encode categoricals, scale features, and create derived academic indicators.</a:t>
            </a:r>
            <a:endParaRPr lang="en-US" sz="1450" dirty="0"/>
          </a:p>
        </p:txBody>
      </p:sp>
      <p:sp>
        <p:nvSpPr>
          <p:cNvPr id="13" name="Text 11"/>
          <p:cNvSpPr/>
          <p:nvPr/>
        </p:nvSpPr>
        <p:spPr>
          <a:xfrm>
            <a:off x="8033244" y="2054126"/>
            <a:ext cx="378014" cy="236240"/>
          </a:xfrm>
          <a:prstGeom prst="rect">
            <a:avLst/>
          </a:prstGeom>
          <a:noFill/>
          <a:ln/>
        </p:spPr>
        <p:txBody>
          <a:bodyPr wrap="none" lIns="0" tIns="0" rIns="0" bIns="0" rtlCol="0" anchor="ctr"/>
          <a:lstStyle/>
          <a:p>
            <a:pPr algn="l" indent="0" marL="0">
              <a:lnSpc>
                <a:spcPct val="100000"/>
              </a:lnSpc>
              <a:buNone/>
            </a:pPr>
            <a:r>
              <a:rPr lang="en-US" sz="1450" dirty="0">
                <a:solidFill>
                  <a:srgbClr val="E0D6DE"/>
                </a:solidFill>
                <a:latin typeface="Sora Light" pitchFamily="34" charset="0"/>
                <a:ea typeface="Sora Light" pitchFamily="34" charset="-122"/>
                <a:cs typeface="Sora Light" pitchFamily="34" charset="-120"/>
              </a:rPr>
              <a:t>03</a:t>
            </a:r>
            <a:endParaRPr lang="en-US" sz="1450" dirty="0"/>
          </a:p>
        </p:txBody>
      </p:sp>
      <p:sp>
        <p:nvSpPr>
          <p:cNvPr id="14" name="Shape 12"/>
          <p:cNvSpPr/>
          <p:nvPr/>
        </p:nvSpPr>
        <p:spPr>
          <a:xfrm>
            <a:off x="8033244" y="2353568"/>
            <a:ext cx="3496877" cy="25400"/>
          </a:xfrm>
          <a:prstGeom prst="rect">
            <a:avLst/>
          </a:prstGeom>
          <a:solidFill>
            <a:srgbClr val="B380FF"/>
          </a:solidFill>
          <a:ln/>
        </p:spPr>
        <p:txBody>
          <a:bodyPr/>
          <a:p/>
        </p:txBody>
      </p:sp>
      <p:sp>
        <p:nvSpPr>
          <p:cNvPr id="15" name="Text 13"/>
          <p:cNvSpPr/>
          <p:nvPr/>
        </p:nvSpPr>
        <p:spPr>
          <a:xfrm>
            <a:off x="8033244" y="2495252"/>
            <a:ext cx="3496877" cy="590550"/>
          </a:xfrm>
          <a:prstGeom prst="rect">
            <a:avLst/>
          </a:prstGeom>
          <a:noFill/>
          <a:ln/>
        </p:spPr>
        <p:txBody>
          <a:bodyPr wrap="square" lIns="0" tIns="0" rIns="0" bIns="0" rtlCol="0" anchor="t">
            <a:normAutofit/>
          </a:bodyPr>
          <a:lstStyle/>
          <a:p>
            <a:pPr algn="l" indent="0" marL="0">
              <a:lnSpc>
                <a:spcPct val="104000"/>
              </a:lnSpc>
              <a:buNone/>
            </a:pPr>
            <a:r>
              <a:rPr lang="en-US" sz="1850" dirty="0">
                <a:solidFill>
                  <a:srgbClr val="E0D6DE"/>
                </a:solidFill>
                <a:latin typeface="Sora Medium" pitchFamily="34" charset="0"/>
                <a:ea typeface="Sora Medium" pitchFamily="34" charset="-122"/>
                <a:cs typeface="Sora Medium" pitchFamily="34" charset="-120"/>
              </a:rPr>
              <a:t>Train/Test Split &amp; Model Training</a:t>
            </a:r>
            <a:endParaRPr lang="en-US" sz="1850" dirty="0"/>
          </a:p>
        </p:txBody>
      </p:sp>
      <p:sp>
        <p:nvSpPr>
          <p:cNvPr id="16" name="Text 14"/>
          <p:cNvSpPr/>
          <p:nvPr/>
        </p:nvSpPr>
        <p:spPr>
          <a:xfrm>
            <a:off x="8033244" y="3199209"/>
            <a:ext cx="3496877" cy="907256"/>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E0D6DE"/>
                </a:solidFill>
                <a:latin typeface="Noto Sans" pitchFamily="34" charset="0"/>
                <a:ea typeface="Noto Sans" pitchFamily="34" charset="-122"/>
                <a:cs typeface="Noto Sans" pitchFamily="34" charset="-120"/>
              </a:rPr>
              <a:t>Split data 80/20 and train Logistic Regression, Random Forest, and XGBoost models.</a:t>
            </a:r>
            <a:endParaRPr lang="en-US" sz="1450" dirty="0"/>
          </a:p>
        </p:txBody>
      </p:sp>
      <p:sp>
        <p:nvSpPr>
          <p:cNvPr id="17" name="Text 15"/>
          <p:cNvSpPr/>
          <p:nvPr/>
        </p:nvSpPr>
        <p:spPr>
          <a:xfrm>
            <a:off x="661475" y="4444305"/>
            <a:ext cx="378014" cy="236240"/>
          </a:xfrm>
          <a:prstGeom prst="rect">
            <a:avLst/>
          </a:prstGeom>
          <a:noFill/>
          <a:ln/>
        </p:spPr>
        <p:txBody>
          <a:bodyPr wrap="none" lIns="0" tIns="0" rIns="0" bIns="0" rtlCol="0" anchor="ctr"/>
          <a:lstStyle/>
          <a:p>
            <a:pPr algn="l" indent="0" marL="0">
              <a:lnSpc>
                <a:spcPct val="100000"/>
              </a:lnSpc>
              <a:buNone/>
            </a:pPr>
            <a:r>
              <a:rPr lang="en-US" sz="1450" dirty="0">
                <a:solidFill>
                  <a:srgbClr val="E0D6DE"/>
                </a:solidFill>
                <a:latin typeface="Sora Light" pitchFamily="34" charset="0"/>
                <a:ea typeface="Sora Light" pitchFamily="34" charset="-122"/>
                <a:cs typeface="Sora Light" pitchFamily="34" charset="-120"/>
              </a:rPr>
              <a:t>04</a:t>
            </a:r>
            <a:endParaRPr lang="en-US" sz="1450" dirty="0"/>
          </a:p>
        </p:txBody>
      </p:sp>
      <p:sp>
        <p:nvSpPr>
          <p:cNvPr id="18" name="Shape 16"/>
          <p:cNvSpPr/>
          <p:nvPr/>
        </p:nvSpPr>
        <p:spPr>
          <a:xfrm>
            <a:off x="661475" y="4721324"/>
            <a:ext cx="5339820" cy="25400"/>
          </a:xfrm>
          <a:prstGeom prst="rect">
            <a:avLst/>
          </a:prstGeom>
          <a:solidFill>
            <a:srgbClr val="B380FF"/>
          </a:solidFill>
          <a:ln/>
        </p:spPr>
        <p:txBody>
          <a:bodyPr/>
          <a:p/>
        </p:txBody>
      </p:sp>
      <p:sp>
        <p:nvSpPr>
          <p:cNvPr id="19" name="Text 17"/>
          <p:cNvSpPr/>
          <p:nvPr/>
        </p:nvSpPr>
        <p:spPr>
          <a:xfrm>
            <a:off x="661475" y="4885432"/>
            <a:ext cx="5339820" cy="295275"/>
          </a:xfrm>
          <a:prstGeom prst="rect">
            <a:avLst/>
          </a:prstGeom>
          <a:noFill/>
          <a:ln/>
        </p:spPr>
        <p:txBody>
          <a:bodyPr wrap="none" lIns="0" tIns="0" rIns="0" bIns="0" rtlCol="0" anchor="t"/>
          <a:lstStyle/>
          <a:p>
            <a:pPr algn="l" indent="0" marL="0">
              <a:lnSpc>
                <a:spcPct val="104000"/>
              </a:lnSpc>
              <a:buNone/>
            </a:pPr>
            <a:r>
              <a:rPr lang="en-US" sz="1850" dirty="0">
                <a:solidFill>
                  <a:srgbClr val="E0D6DE"/>
                </a:solidFill>
                <a:latin typeface="Sora Medium" pitchFamily="34" charset="0"/>
                <a:ea typeface="Sora Medium" pitchFamily="34" charset="-122"/>
                <a:cs typeface="Sora Medium" pitchFamily="34" charset="-120"/>
              </a:rPr>
              <a:t>Hyperparameter Tuning &amp; Evaluation</a:t>
            </a:r>
            <a:endParaRPr lang="en-US" sz="1850" dirty="0"/>
          </a:p>
        </p:txBody>
      </p:sp>
      <p:sp>
        <p:nvSpPr>
          <p:cNvPr id="20" name="Text 18"/>
          <p:cNvSpPr/>
          <p:nvPr/>
        </p:nvSpPr>
        <p:spPr>
          <a:xfrm>
            <a:off x="661475" y="5294114"/>
            <a:ext cx="5339820" cy="604838"/>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E0D6DE"/>
                </a:solidFill>
                <a:latin typeface="Noto Sans" pitchFamily="34" charset="0"/>
                <a:ea typeface="Noto Sans" pitchFamily="34" charset="-122"/>
                <a:cs typeface="Noto Sans" pitchFamily="34" charset="-120"/>
              </a:rPr>
              <a:t>Optimize via GridSearchCV and evaluate with accuracy, precision, recall, F1, and AUC-ROC.</a:t>
            </a:r>
            <a:endParaRPr lang="en-US" sz="1450" dirty="0"/>
          </a:p>
        </p:txBody>
      </p:sp>
      <p:sp>
        <p:nvSpPr>
          <p:cNvPr id="21" name="Text 19"/>
          <p:cNvSpPr/>
          <p:nvPr/>
        </p:nvSpPr>
        <p:spPr>
          <a:xfrm>
            <a:off x="6190301" y="4444305"/>
            <a:ext cx="378014" cy="236240"/>
          </a:xfrm>
          <a:prstGeom prst="rect">
            <a:avLst/>
          </a:prstGeom>
          <a:noFill/>
          <a:ln/>
        </p:spPr>
        <p:txBody>
          <a:bodyPr wrap="none" lIns="0" tIns="0" rIns="0" bIns="0" rtlCol="0" anchor="ctr"/>
          <a:lstStyle/>
          <a:p>
            <a:pPr algn="l" indent="0" marL="0">
              <a:lnSpc>
                <a:spcPct val="100000"/>
              </a:lnSpc>
              <a:buNone/>
            </a:pPr>
            <a:r>
              <a:rPr lang="en-US" sz="1450" dirty="0">
                <a:solidFill>
                  <a:srgbClr val="E0D6DE"/>
                </a:solidFill>
                <a:latin typeface="Sora Light" pitchFamily="34" charset="0"/>
                <a:ea typeface="Sora Light" pitchFamily="34" charset="-122"/>
                <a:cs typeface="Sora Light" pitchFamily="34" charset="-120"/>
              </a:rPr>
              <a:t>05</a:t>
            </a:r>
            <a:endParaRPr lang="en-US" sz="1450" dirty="0"/>
          </a:p>
        </p:txBody>
      </p:sp>
      <p:sp>
        <p:nvSpPr>
          <p:cNvPr id="22" name="Shape 20"/>
          <p:cNvSpPr/>
          <p:nvPr/>
        </p:nvSpPr>
        <p:spPr>
          <a:xfrm>
            <a:off x="6190301" y="4721324"/>
            <a:ext cx="5339820" cy="25400"/>
          </a:xfrm>
          <a:prstGeom prst="rect">
            <a:avLst/>
          </a:prstGeom>
          <a:solidFill>
            <a:srgbClr val="B380FF"/>
          </a:solidFill>
          <a:ln/>
        </p:spPr>
        <p:txBody>
          <a:bodyPr/>
          <a:p/>
        </p:txBody>
      </p:sp>
      <p:sp>
        <p:nvSpPr>
          <p:cNvPr id="23" name="Text 21"/>
          <p:cNvSpPr/>
          <p:nvPr/>
        </p:nvSpPr>
        <p:spPr>
          <a:xfrm>
            <a:off x="6190301" y="4885432"/>
            <a:ext cx="5339820" cy="295275"/>
          </a:xfrm>
          <a:prstGeom prst="rect">
            <a:avLst/>
          </a:prstGeom>
          <a:noFill/>
          <a:ln/>
        </p:spPr>
        <p:txBody>
          <a:bodyPr wrap="none" lIns="0" tIns="0" rIns="0" bIns="0" rtlCol="0" anchor="t"/>
          <a:lstStyle/>
          <a:p>
            <a:pPr algn="l" indent="0" marL="0">
              <a:lnSpc>
                <a:spcPct val="104000"/>
              </a:lnSpc>
              <a:buNone/>
            </a:pPr>
            <a:r>
              <a:rPr lang="en-US" sz="1850" dirty="0">
                <a:solidFill>
                  <a:srgbClr val="E0D6DE"/>
                </a:solidFill>
                <a:latin typeface="Sora Medium" pitchFamily="34" charset="0"/>
                <a:ea typeface="Sora Medium" pitchFamily="34" charset="-122"/>
                <a:cs typeface="Sora Medium" pitchFamily="34" charset="-120"/>
              </a:rPr>
              <a:t>Explainable AI &amp; Deployment</a:t>
            </a:r>
            <a:endParaRPr lang="en-US" sz="1850" dirty="0"/>
          </a:p>
        </p:txBody>
      </p:sp>
      <p:sp>
        <p:nvSpPr>
          <p:cNvPr id="24" name="Text 22"/>
          <p:cNvSpPr/>
          <p:nvPr/>
        </p:nvSpPr>
        <p:spPr>
          <a:xfrm>
            <a:off x="6190301" y="5294114"/>
            <a:ext cx="5339820" cy="604838"/>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E0D6DE"/>
                </a:solidFill>
                <a:latin typeface="Noto Sans" pitchFamily="34" charset="0"/>
                <a:ea typeface="Noto Sans" pitchFamily="34" charset="-122"/>
                <a:cs typeface="Noto Sans" pitchFamily="34" charset="-120"/>
              </a:rPr>
              <a:t>Generate SHAP explanations, expose predictions via FastAPI, monitor drift, and auto-retrain.</a:t>
            </a:r>
            <a:endParaRPr lang="en-US" sz="14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661475" y="627559"/>
            <a:ext cx="1010617" cy="243979"/>
          </a:xfrm>
          <a:prstGeom prst="roundRect">
            <a:avLst>
              <a:gd name="adj" fmla="val 7902"/>
            </a:avLst>
          </a:prstGeom>
          <a:noFill/>
          <a:ln w="6350">
            <a:solidFill>
              <a:srgbClr val="97B8FF"/>
            </a:solidFill>
            <a:prstDash val="solid"/>
          </a:ln>
        </p:spPr>
        <p:txBody>
          <a:bodyPr/>
          <a:p/>
        </p:txBody>
      </p:sp>
      <p:sp>
        <p:nvSpPr>
          <p:cNvPr id="3" name="Text 1"/>
          <p:cNvSpPr/>
          <p:nvPr/>
        </p:nvSpPr>
        <p:spPr>
          <a:xfrm>
            <a:off x="757814" y="675680"/>
            <a:ext cx="1427524" cy="147737"/>
          </a:xfrm>
          <a:prstGeom prst="rect">
            <a:avLst/>
          </a:prstGeom>
          <a:noFill/>
          <a:ln/>
        </p:spPr>
        <p:txBody>
          <a:bodyPr wrap="none" lIns="0" tIns="0" rIns="0" bIns="0" rtlCol="0" anchor="t"/>
          <a:lstStyle/>
          <a:p>
            <a:pPr algn="l" indent="0" marL="0">
              <a:lnSpc>
                <a:spcPct val="96000"/>
              </a:lnSpc>
              <a:buNone/>
            </a:pPr>
            <a:r>
              <a:rPr lang="en-US" sz="1000" dirty="0">
                <a:solidFill>
                  <a:srgbClr val="97B8FF"/>
                </a:solidFill>
                <a:latin typeface="Noto Sans" pitchFamily="34" charset="0"/>
                <a:ea typeface="Noto Sans" pitchFamily="34" charset="-122"/>
                <a:cs typeface="Noto Sans" pitchFamily="34" charset="-120"/>
              </a:rPr>
              <a:t>ALGORITHMS</a:t>
            </a:r>
            <a:endParaRPr lang="en-US" sz="1000" dirty="0"/>
          </a:p>
        </p:txBody>
      </p:sp>
      <p:sp>
        <p:nvSpPr>
          <p:cNvPr id="4" name="Text 2"/>
          <p:cNvSpPr/>
          <p:nvPr/>
        </p:nvSpPr>
        <p:spPr>
          <a:xfrm>
            <a:off x="661475" y="926108"/>
            <a:ext cx="10868745" cy="502047"/>
          </a:xfrm>
          <a:prstGeom prst="rect">
            <a:avLst/>
          </a:prstGeom>
          <a:noFill/>
          <a:ln/>
        </p:spPr>
        <p:txBody>
          <a:bodyPr wrap="none" lIns="0" tIns="0" rIns="0" bIns="0" rtlCol="0" anchor="t"/>
          <a:lstStyle/>
          <a:p>
            <a:pPr algn="l" indent="0" marL="0">
              <a:lnSpc>
                <a:spcPct val="104000"/>
              </a:lnSpc>
              <a:buNone/>
            </a:pPr>
            <a:r>
              <a:rPr lang="en-US" sz="3150" dirty="0">
                <a:solidFill>
                  <a:srgbClr val="97B8FF"/>
                </a:solidFill>
                <a:latin typeface="Sora Medium" pitchFamily="34" charset="0"/>
                <a:ea typeface="Sora Medium" pitchFamily="34" charset="-122"/>
                <a:cs typeface="Sora Medium" pitchFamily="34" charset="-120"/>
              </a:rPr>
              <a:t>Algorithms Used &amp; Comparison</a:t>
            </a:r>
            <a:endParaRPr lang="en-US" sz="3150" dirty="0"/>
          </a:p>
        </p:txBody>
      </p:sp>
      <p:sp>
        <p:nvSpPr>
          <p:cNvPr id="5" name="Text 3"/>
          <p:cNvSpPr/>
          <p:nvPr/>
        </p:nvSpPr>
        <p:spPr>
          <a:xfrm>
            <a:off x="661475" y="1632942"/>
            <a:ext cx="10868745" cy="475456"/>
          </a:xfrm>
          <a:prstGeom prst="rect">
            <a:avLst/>
          </a:prstGeom>
          <a:noFill/>
          <a:ln/>
        </p:spPr>
        <p:txBody>
          <a:bodyPr wrap="square" lIns="0" tIns="0" rIns="0" bIns="0" rtlCol="0" anchor="t">
            <a:normAutofit/>
          </a:bodyPr>
          <a:lstStyle/>
          <a:p>
            <a:pPr algn="l" indent="0" marL="0">
              <a:lnSpc>
                <a:spcPct val="123000"/>
              </a:lnSpc>
              <a:buNone/>
            </a:pPr>
            <a:r>
              <a:rPr lang="en-US" sz="1250" dirty="0">
                <a:solidFill>
                  <a:srgbClr val="E0D6DE"/>
                </a:solidFill>
                <a:latin typeface="Noto Sans" pitchFamily="34" charset="0"/>
                <a:ea typeface="Noto Sans" pitchFamily="34" charset="-122"/>
                <a:cs typeface="Noto Sans" pitchFamily="34" charset="-120"/>
              </a:rPr>
              <a:t>Five algorithms were selected for their complementary strengths in accuracy, interpretability, and robustness. </a:t>
            </a:r>
            <a:pPr algn="l" indent="0" marL="0">
              <a:lnSpc>
                <a:spcPct val="123000"/>
              </a:lnSpc>
              <a:buNone/>
            </a:pPr>
            <a:r>
              <a:rPr lang="en-US" sz="1250" b="1" dirty="0">
                <a:solidFill>
                  <a:srgbClr val="E0D6DE"/>
                </a:solidFill>
                <a:latin typeface="Noto Sans Bold" pitchFamily="34" charset="0"/>
                <a:ea typeface="Noto Sans Bold" pitchFamily="34" charset="-122"/>
                <a:cs typeface="Noto Sans Bold" pitchFamily="34" charset="-120"/>
              </a:rPr>
              <a:t>Random Forest</a:t>
            </a:r>
            <a:pPr algn="l" indent="0" marL="0">
              <a:lnSpc>
                <a:spcPct val="123000"/>
              </a:lnSpc>
              <a:buNone/>
            </a:pPr>
            <a:r>
              <a:rPr lang="en-US" sz="1250" dirty="0">
                <a:solidFill>
                  <a:srgbClr val="E0D6DE"/>
                </a:solidFill>
                <a:latin typeface="Noto Sans" pitchFamily="34" charset="0"/>
                <a:ea typeface="Noto Sans" pitchFamily="34" charset="-122"/>
                <a:cs typeface="Noto Sans" pitchFamily="34" charset="-120"/>
              </a:rPr>
              <a:t> and </a:t>
            </a:r>
            <a:pPr algn="l" indent="0" marL="0">
              <a:lnSpc>
                <a:spcPct val="123000"/>
              </a:lnSpc>
              <a:buNone/>
            </a:pPr>
            <a:r>
              <a:rPr lang="en-US" sz="1250" b="1" dirty="0">
                <a:solidFill>
                  <a:srgbClr val="E0D6DE"/>
                </a:solidFill>
                <a:latin typeface="Noto Sans Bold" pitchFamily="34" charset="0"/>
                <a:ea typeface="Noto Sans Bold" pitchFamily="34" charset="-122"/>
                <a:cs typeface="Noto Sans Bold" pitchFamily="34" charset="-120"/>
              </a:rPr>
              <a:t>XGBoost</a:t>
            </a:r>
            <a:pPr algn="l" indent="0" marL="0">
              <a:lnSpc>
                <a:spcPct val="123000"/>
              </a:lnSpc>
              <a:buNone/>
            </a:pPr>
            <a:r>
              <a:rPr lang="en-US" sz="1250" dirty="0">
                <a:solidFill>
                  <a:srgbClr val="E0D6DE"/>
                </a:solidFill>
                <a:latin typeface="Noto Sans" pitchFamily="34" charset="0"/>
                <a:ea typeface="Noto Sans" pitchFamily="34" charset="-122"/>
                <a:cs typeface="Noto Sans" pitchFamily="34" charset="-120"/>
              </a:rPr>
              <a:t> are expected to achieve the best overall performance.</a:t>
            </a:r>
            <a:endParaRPr lang="en-US" sz="1250" dirty="0"/>
          </a:p>
        </p:txBody>
      </p:sp>
      <p:sp>
        <p:nvSpPr>
          <p:cNvPr id="6" name="Shape 4"/>
          <p:cNvSpPr/>
          <p:nvPr/>
        </p:nvSpPr>
        <p:spPr>
          <a:xfrm>
            <a:off x="661475" y="2261989"/>
            <a:ext cx="10868745" cy="3968353"/>
          </a:xfrm>
          <a:prstGeom prst="roundRect">
            <a:avLst>
              <a:gd name="adj" fmla="val 607"/>
            </a:avLst>
          </a:prstGeom>
          <a:noFill/>
          <a:ln w="6350">
            <a:solidFill>
              <a:srgbClr val="FFFFFF">
                <a:alpha val="24000"/>
              </a:srgbClr>
            </a:solidFill>
            <a:prstDash val="solid"/>
          </a:ln>
        </p:spPr>
        <p:txBody>
          <a:bodyPr/>
          <a:p/>
        </p:txBody>
      </p:sp>
      <p:sp>
        <p:nvSpPr>
          <p:cNvPr id="7" name="Shape 5"/>
          <p:cNvSpPr/>
          <p:nvPr/>
        </p:nvSpPr>
        <p:spPr>
          <a:xfrm>
            <a:off x="661475" y="2923381"/>
            <a:ext cx="10868745" cy="10042"/>
          </a:xfrm>
          <a:prstGeom prst="rect">
            <a:avLst/>
          </a:prstGeom>
          <a:solidFill>
            <a:srgbClr val="FFFFFF">
              <a:alpha val="24000"/>
            </a:srgbClr>
          </a:solidFill>
          <a:ln/>
        </p:spPr>
        <p:txBody>
          <a:bodyPr/>
          <a:p/>
        </p:txBody>
      </p:sp>
      <p:sp>
        <p:nvSpPr>
          <p:cNvPr id="8" name="Shape 6"/>
          <p:cNvSpPr/>
          <p:nvPr/>
        </p:nvSpPr>
        <p:spPr>
          <a:xfrm>
            <a:off x="661475" y="3581598"/>
            <a:ext cx="10868745" cy="10042"/>
          </a:xfrm>
          <a:prstGeom prst="rect">
            <a:avLst/>
          </a:prstGeom>
          <a:solidFill>
            <a:srgbClr val="FFFFFF">
              <a:alpha val="24000"/>
            </a:srgbClr>
          </a:solidFill>
          <a:ln/>
        </p:spPr>
        <p:txBody>
          <a:bodyPr/>
          <a:p/>
        </p:txBody>
      </p:sp>
      <p:sp>
        <p:nvSpPr>
          <p:cNvPr id="9" name="Shape 7"/>
          <p:cNvSpPr/>
          <p:nvPr/>
        </p:nvSpPr>
        <p:spPr>
          <a:xfrm>
            <a:off x="661475" y="4239816"/>
            <a:ext cx="10868745" cy="10042"/>
          </a:xfrm>
          <a:prstGeom prst="rect">
            <a:avLst/>
          </a:prstGeom>
          <a:solidFill>
            <a:srgbClr val="FFFFFF">
              <a:alpha val="24000"/>
            </a:srgbClr>
          </a:solidFill>
          <a:ln/>
        </p:spPr>
        <p:txBody>
          <a:bodyPr/>
          <a:p/>
        </p:txBody>
      </p:sp>
      <p:sp>
        <p:nvSpPr>
          <p:cNvPr id="10" name="Shape 8"/>
          <p:cNvSpPr/>
          <p:nvPr/>
        </p:nvSpPr>
        <p:spPr>
          <a:xfrm>
            <a:off x="661475" y="4904383"/>
            <a:ext cx="10868745" cy="10042"/>
          </a:xfrm>
          <a:prstGeom prst="rect">
            <a:avLst/>
          </a:prstGeom>
          <a:solidFill>
            <a:srgbClr val="FFFFFF">
              <a:alpha val="24000"/>
            </a:srgbClr>
          </a:solidFill>
          <a:ln/>
        </p:spPr>
        <p:txBody>
          <a:bodyPr/>
          <a:p/>
        </p:txBody>
      </p:sp>
      <p:sp>
        <p:nvSpPr>
          <p:cNvPr id="11" name="Shape 9"/>
          <p:cNvSpPr/>
          <p:nvPr/>
        </p:nvSpPr>
        <p:spPr>
          <a:xfrm>
            <a:off x="661475" y="5562600"/>
            <a:ext cx="10868745" cy="10042"/>
          </a:xfrm>
          <a:prstGeom prst="rect">
            <a:avLst/>
          </a:prstGeom>
          <a:solidFill>
            <a:srgbClr val="FFFFFF">
              <a:alpha val="24000"/>
            </a:srgbClr>
          </a:solidFill>
          <a:ln/>
        </p:spPr>
        <p:txBody>
          <a:bodyPr/>
          <a:p/>
        </p:txBody>
      </p:sp>
      <p:sp>
        <p:nvSpPr>
          <p:cNvPr id="12" name="Shape 10"/>
          <p:cNvSpPr/>
          <p:nvPr/>
        </p:nvSpPr>
        <p:spPr>
          <a:xfrm>
            <a:off x="2622088" y="2261989"/>
            <a:ext cx="10042" cy="3968353"/>
          </a:xfrm>
          <a:prstGeom prst="rect">
            <a:avLst/>
          </a:prstGeom>
          <a:solidFill>
            <a:srgbClr val="FFFFFF">
              <a:alpha val="24000"/>
            </a:srgbClr>
          </a:solidFill>
          <a:ln/>
        </p:spPr>
        <p:txBody>
          <a:bodyPr/>
          <a:p/>
        </p:txBody>
      </p:sp>
      <p:sp>
        <p:nvSpPr>
          <p:cNvPr id="13" name="Shape 11"/>
          <p:cNvSpPr/>
          <p:nvPr/>
        </p:nvSpPr>
        <p:spPr>
          <a:xfrm>
            <a:off x="4033340" y="2261989"/>
            <a:ext cx="10042" cy="3968353"/>
          </a:xfrm>
          <a:prstGeom prst="rect">
            <a:avLst/>
          </a:prstGeom>
          <a:solidFill>
            <a:srgbClr val="FFFFFF">
              <a:alpha val="24000"/>
            </a:srgbClr>
          </a:solidFill>
          <a:ln/>
        </p:spPr>
        <p:txBody>
          <a:bodyPr/>
          <a:p/>
        </p:txBody>
      </p:sp>
      <p:sp>
        <p:nvSpPr>
          <p:cNvPr id="14" name="Shape 12"/>
          <p:cNvSpPr/>
          <p:nvPr/>
        </p:nvSpPr>
        <p:spPr>
          <a:xfrm>
            <a:off x="5878862" y="2261989"/>
            <a:ext cx="10042" cy="3968353"/>
          </a:xfrm>
          <a:prstGeom prst="rect">
            <a:avLst/>
          </a:prstGeom>
          <a:solidFill>
            <a:srgbClr val="FFFFFF">
              <a:alpha val="24000"/>
            </a:srgbClr>
          </a:solidFill>
          <a:ln/>
        </p:spPr>
        <p:txBody>
          <a:bodyPr/>
          <a:p/>
        </p:txBody>
      </p:sp>
      <p:sp>
        <p:nvSpPr>
          <p:cNvPr id="15" name="Shape 13"/>
          <p:cNvSpPr/>
          <p:nvPr/>
        </p:nvSpPr>
        <p:spPr>
          <a:xfrm>
            <a:off x="7290114" y="2261989"/>
            <a:ext cx="10042" cy="3968353"/>
          </a:xfrm>
          <a:prstGeom prst="rect">
            <a:avLst/>
          </a:prstGeom>
          <a:solidFill>
            <a:srgbClr val="FFFFFF">
              <a:alpha val="24000"/>
            </a:srgbClr>
          </a:solidFill>
          <a:ln/>
        </p:spPr>
        <p:txBody>
          <a:bodyPr/>
          <a:p/>
        </p:txBody>
      </p:sp>
      <p:sp>
        <p:nvSpPr>
          <p:cNvPr id="16" name="Shape 14"/>
          <p:cNvSpPr/>
          <p:nvPr/>
        </p:nvSpPr>
        <p:spPr>
          <a:xfrm>
            <a:off x="8701366" y="2261989"/>
            <a:ext cx="10042" cy="3968353"/>
          </a:xfrm>
          <a:prstGeom prst="rect">
            <a:avLst/>
          </a:prstGeom>
          <a:solidFill>
            <a:srgbClr val="FFFFFF">
              <a:alpha val="24000"/>
            </a:srgbClr>
          </a:solidFill>
          <a:ln/>
        </p:spPr>
        <p:txBody>
          <a:bodyPr/>
          <a:p/>
        </p:txBody>
      </p:sp>
      <p:sp>
        <p:nvSpPr>
          <p:cNvPr id="17" name="Shape 15"/>
          <p:cNvSpPr/>
          <p:nvPr/>
        </p:nvSpPr>
        <p:spPr>
          <a:xfrm>
            <a:off x="10112618" y="2261989"/>
            <a:ext cx="10042" cy="3968353"/>
          </a:xfrm>
          <a:prstGeom prst="rect">
            <a:avLst/>
          </a:prstGeom>
          <a:solidFill>
            <a:srgbClr val="FFFFFF">
              <a:alpha val="24000"/>
            </a:srgbClr>
          </a:solidFill>
          <a:ln/>
        </p:spPr>
        <p:txBody>
          <a:bodyPr/>
          <a:p/>
        </p:txBody>
      </p:sp>
      <p:sp>
        <p:nvSpPr>
          <p:cNvPr id="18" name="Text 16"/>
          <p:cNvSpPr/>
          <p:nvPr/>
        </p:nvSpPr>
        <p:spPr>
          <a:xfrm>
            <a:off x="828654" y="2356545"/>
            <a:ext cx="2239212" cy="237728"/>
          </a:xfrm>
          <a:prstGeom prst="rect">
            <a:avLst/>
          </a:prstGeom>
          <a:noFill/>
          <a:ln/>
        </p:spPr>
        <p:txBody>
          <a:bodyPr wrap="none" lIns="0" tIns="0" rIns="0" bIns="0" rtlCol="0" anchor="t"/>
          <a:lstStyle/>
          <a:p>
            <a:pPr algn="l" indent="0" marL="0">
              <a:lnSpc>
                <a:spcPct val="123000"/>
              </a:lnSpc>
              <a:buNone/>
            </a:pPr>
            <a:r>
              <a:rPr lang="en-US" sz="1250" b="1" dirty="0">
                <a:solidFill>
                  <a:srgbClr val="E0D6DE"/>
                </a:solidFill>
                <a:latin typeface="Noto Sans Bold" pitchFamily="34" charset="0"/>
                <a:ea typeface="Noto Sans Bold" pitchFamily="34" charset="-122"/>
                <a:cs typeface="Noto Sans Bold" pitchFamily="34" charset="-120"/>
              </a:rPr>
              <a:t>Algorithm</a:t>
            </a:r>
            <a:endParaRPr lang="en-US" sz="1250" dirty="0"/>
          </a:p>
        </p:txBody>
      </p:sp>
      <p:sp>
        <p:nvSpPr>
          <p:cNvPr id="19" name="Text 17"/>
          <p:cNvSpPr/>
          <p:nvPr/>
        </p:nvSpPr>
        <p:spPr>
          <a:xfrm>
            <a:off x="2785894" y="2356545"/>
            <a:ext cx="1693225" cy="237728"/>
          </a:xfrm>
          <a:prstGeom prst="rect">
            <a:avLst/>
          </a:prstGeom>
          <a:noFill/>
          <a:ln/>
        </p:spPr>
        <p:txBody>
          <a:bodyPr wrap="none" lIns="0" tIns="0" rIns="0" bIns="0" rtlCol="0" anchor="t"/>
          <a:lstStyle/>
          <a:p>
            <a:pPr algn="l" indent="0" marL="0">
              <a:lnSpc>
                <a:spcPct val="123000"/>
              </a:lnSpc>
              <a:buNone/>
            </a:pPr>
            <a:r>
              <a:rPr lang="en-US" sz="1250" b="1" dirty="0">
                <a:solidFill>
                  <a:srgbClr val="E0D6DE"/>
                </a:solidFill>
                <a:latin typeface="Noto Sans Bold" pitchFamily="34" charset="0"/>
                <a:ea typeface="Noto Sans Bold" pitchFamily="34" charset="-122"/>
                <a:cs typeface="Noto Sans Bold" pitchFamily="34" charset="-120"/>
              </a:rPr>
              <a:t>Accuracy</a:t>
            </a:r>
            <a:endParaRPr lang="en-US" sz="1250" dirty="0"/>
          </a:p>
        </p:txBody>
      </p:sp>
      <p:sp>
        <p:nvSpPr>
          <p:cNvPr id="20" name="Text 18"/>
          <p:cNvSpPr/>
          <p:nvPr/>
        </p:nvSpPr>
        <p:spPr>
          <a:xfrm>
            <a:off x="4197146" y="2356545"/>
            <a:ext cx="2127494" cy="237728"/>
          </a:xfrm>
          <a:prstGeom prst="rect">
            <a:avLst/>
          </a:prstGeom>
          <a:noFill/>
          <a:ln/>
        </p:spPr>
        <p:txBody>
          <a:bodyPr wrap="none" lIns="0" tIns="0" rIns="0" bIns="0" rtlCol="0" anchor="t"/>
          <a:lstStyle/>
          <a:p>
            <a:pPr algn="l" indent="0" marL="0">
              <a:lnSpc>
                <a:spcPct val="123000"/>
              </a:lnSpc>
              <a:buNone/>
            </a:pPr>
            <a:r>
              <a:rPr lang="en-US" sz="1250" b="1" dirty="0">
                <a:solidFill>
                  <a:srgbClr val="E0D6DE"/>
                </a:solidFill>
                <a:latin typeface="Noto Sans Bold" pitchFamily="34" charset="0"/>
                <a:ea typeface="Noto Sans Bold" pitchFamily="34" charset="-122"/>
                <a:cs typeface="Noto Sans Bold" pitchFamily="34" charset="-120"/>
              </a:rPr>
              <a:t>Interpretability</a:t>
            </a:r>
            <a:endParaRPr lang="en-US" sz="1250" dirty="0"/>
          </a:p>
        </p:txBody>
      </p:sp>
      <p:sp>
        <p:nvSpPr>
          <p:cNvPr id="21" name="Text 19"/>
          <p:cNvSpPr/>
          <p:nvPr/>
        </p:nvSpPr>
        <p:spPr>
          <a:xfrm>
            <a:off x="6042668" y="2356545"/>
            <a:ext cx="1083640" cy="475456"/>
          </a:xfrm>
          <a:prstGeom prst="rect">
            <a:avLst/>
          </a:prstGeom>
          <a:noFill/>
          <a:ln/>
        </p:spPr>
        <p:txBody>
          <a:bodyPr wrap="square" lIns="0" tIns="0" rIns="0" bIns="0" rtlCol="0" anchor="t">
            <a:normAutofit/>
          </a:bodyPr>
          <a:lstStyle/>
          <a:p>
            <a:pPr algn="l" indent="0" marL="0">
              <a:lnSpc>
                <a:spcPct val="123000"/>
              </a:lnSpc>
              <a:buNone/>
            </a:pPr>
            <a:r>
              <a:rPr lang="en-US" sz="1250" b="1" dirty="0">
                <a:solidFill>
                  <a:srgbClr val="E0D6DE"/>
                </a:solidFill>
                <a:latin typeface="Noto Sans Bold" pitchFamily="34" charset="0"/>
                <a:ea typeface="Noto Sans Bold" pitchFamily="34" charset="-122"/>
                <a:cs typeface="Noto Sans Bold" pitchFamily="34" charset="-120"/>
              </a:rPr>
              <a:t>Training Speed</a:t>
            </a:r>
            <a:endParaRPr lang="en-US" sz="1250" dirty="0"/>
          </a:p>
        </p:txBody>
      </p:sp>
      <p:sp>
        <p:nvSpPr>
          <p:cNvPr id="22" name="Text 20"/>
          <p:cNvSpPr/>
          <p:nvPr/>
        </p:nvSpPr>
        <p:spPr>
          <a:xfrm>
            <a:off x="7453920" y="2356545"/>
            <a:ext cx="1083640" cy="475456"/>
          </a:xfrm>
          <a:prstGeom prst="rect">
            <a:avLst/>
          </a:prstGeom>
          <a:noFill/>
          <a:ln/>
        </p:spPr>
        <p:txBody>
          <a:bodyPr wrap="square" lIns="0" tIns="0" rIns="0" bIns="0" rtlCol="0" anchor="t">
            <a:normAutofit/>
          </a:bodyPr>
          <a:lstStyle/>
          <a:p>
            <a:pPr algn="l" indent="0" marL="0">
              <a:lnSpc>
                <a:spcPct val="123000"/>
              </a:lnSpc>
              <a:buNone/>
            </a:pPr>
            <a:r>
              <a:rPr lang="en-US" sz="1250" b="1" dirty="0">
                <a:solidFill>
                  <a:srgbClr val="E0D6DE"/>
                </a:solidFill>
                <a:latin typeface="Noto Sans Bold" pitchFamily="34" charset="0"/>
                <a:ea typeface="Noto Sans Bold" pitchFamily="34" charset="-122"/>
                <a:cs typeface="Noto Sans Bold" pitchFamily="34" charset="-120"/>
              </a:rPr>
              <a:t>Missing Values</a:t>
            </a:r>
            <a:endParaRPr lang="en-US" sz="1250" dirty="0"/>
          </a:p>
        </p:txBody>
      </p:sp>
      <p:sp>
        <p:nvSpPr>
          <p:cNvPr id="23" name="Text 21"/>
          <p:cNvSpPr/>
          <p:nvPr/>
        </p:nvSpPr>
        <p:spPr>
          <a:xfrm>
            <a:off x="8865172" y="2356545"/>
            <a:ext cx="1693225" cy="237728"/>
          </a:xfrm>
          <a:prstGeom prst="rect">
            <a:avLst/>
          </a:prstGeom>
          <a:noFill/>
          <a:ln/>
        </p:spPr>
        <p:txBody>
          <a:bodyPr wrap="none" lIns="0" tIns="0" rIns="0" bIns="0" rtlCol="0" anchor="t"/>
          <a:lstStyle/>
          <a:p>
            <a:pPr algn="l" indent="0" marL="0">
              <a:lnSpc>
                <a:spcPct val="123000"/>
              </a:lnSpc>
              <a:buNone/>
            </a:pPr>
            <a:r>
              <a:rPr lang="en-US" sz="1250" b="1" dirty="0">
                <a:solidFill>
                  <a:srgbClr val="E0D6DE"/>
                </a:solidFill>
                <a:latin typeface="Noto Sans Bold" pitchFamily="34" charset="0"/>
                <a:ea typeface="Noto Sans Bold" pitchFamily="34" charset="-122"/>
                <a:cs typeface="Noto Sans Bold" pitchFamily="34" charset="-120"/>
              </a:rPr>
              <a:t>Overfitting</a:t>
            </a:r>
            <a:endParaRPr lang="en-US" sz="1250" dirty="0"/>
          </a:p>
        </p:txBody>
      </p:sp>
      <p:sp>
        <p:nvSpPr>
          <p:cNvPr id="24" name="Text 22"/>
          <p:cNvSpPr/>
          <p:nvPr/>
        </p:nvSpPr>
        <p:spPr>
          <a:xfrm>
            <a:off x="10276424" y="2356545"/>
            <a:ext cx="1086815" cy="475456"/>
          </a:xfrm>
          <a:prstGeom prst="rect">
            <a:avLst/>
          </a:prstGeom>
          <a:noFill/>
          <a:ln/>
        </p:spPr>
        <p:txBody>
          <a:bodyPr wrap="square" lIns="0" tIns="0" rIns="0" bIns="0" rtlCol="0" anchor="t">
            <a:normAutofit/>
          </a:bodyPr>
          <a:lstStyle/>
          <a:p>
            <a:pPr algn="l" indent="0" marL="0">
              <a:lnSpc>
                <a:spcPct val="123000"/>
              </a:lnSpc>
              <a:buNone/>
            </a:pPr>
            <a:r>
              <a:rPr lang="en-US" sz="1250" b="1" dirty="0">
                <a:solidFill>
                  <a:srgbClr val="E0D6DE"/>
                </a:solidFill>
                <a:latin typeface="Noto Sans Bold" pitchFamily="34" charset="0"/>
                <a:ea typeface="Noto Sans Bold" pitchFamily="34" charset="-122"/>
                <a:cs typeface="Noto Sans Bold" pitchFamily="34" charset="-120"/>
              </a:rPr>
              <a:t>Best Use Case</a:t>
            </a:r>
            <a:endParaRPr lang="en-US" sz="1250" dirty="0"/>
          </a:p>
        </p:txBody>
      </p:sp>
      <p:sp>
        <p:nvSpPr>
          <p:cNvPr id="25" name="Text 23"/>
          <p:cNvSpPr/>
          <p:nvPr/>
        </p:nvSpPr>
        <p:spPr>
          <a:xfrm>
            <a:off x="828654" y="3014762"/>
            <a:ext cx="2239212" cy="237728"/>
          </a:xfrm>
          <a:prstGeom prst="rect">
            <a:avLst/>
          </a:prstGeom>
          <a:noFill/>
          <a:ln/>
        </p:spPr>
        <p:txBody>
          <a:bodyPr wrap="none" lIns="0" tIns="0" rIns="0" bIns="0" rtlCol="0" anchor="t"/>
          <a:lstStyle/>
          <a:p>
            <a:pPr algn="l" indent="0" marL="0">
              <a:lnSpc>
                <a:spcPct val="123000"/>
              </a:lnSpc>
              <a:buNone/>
            </a:pPr>
            <a:r>
              <a:rPr lang="en-US" sz="1250" dirty="0">
                <a:solidFill>
                  <a:srgbClr val="E0D6DE"/>
                </a:solidFill>
                <a:latin typeface="Noto Sans" pitchFamily="34" charset="0"/>
                <a:ea typeface="Noto Sans" pitchFamily="34" charset="-122"/>
                <a:cs typeface="Noto Sans" pitchFamily="34" charset="-120"/>
              </a:rPr>
              <a:t>Logistic Regression</a:t>
            </a:r>
            <a:endParaRPr lang="en-US" sz="1250" dirty="0"/>
          </a:p>
        </p:txBody>
      </p:sp>
      <p:sp>
        <p:nvSpPr>
          <p:cNvPr id="26" name="Text 24"/>
          <p:cNvSpPr/>
          <p:nvPr/>
        </p:nvSpPr>
        <p:spPr>
          <a:xfrm>
            <a:off x="2785894" y="3014762"/>
            <a:ext cx="1693225" cy="237728"/>
          </a:xfrm>
          <a:prstGeom prst="rect">
            <a:avLst/>
          </a:prstGeom>
          <a:noFill/>
          <a:ln/>
        </p:spPr>
        <p:txBody>
          <a:bodyPr wrap="none" lIns="0" tIns="0" rIns="0" bIns="0" rtlCol="0" anchor="t"/>
          <a:lstStyle/>
          <a:p>
            <a:pPr algn="l" indent="0" marL="0">
              <a:lnSpc>
                <a:spcPct val="123000"/>
              </a:lnSpc>
              <a:buNone/>
            </a:pPr>
            <a:r>
              <a:rPr lang="en-US" sz="1250" dirty="0">
                <a:solidFill>
                  <a:srgbClr val="E0D6DE"/>
                </a:solidFill>
                <a:latin typeface="Noto Sans" pitchFamily="34" charset="0"/>
                <a:ea typeface="Noto Sans" pitchFamily="34" charset="-122"/>
                <a:cs typeface="Noto Sans" pitchFamily="34" charset="-120"/>
              </a:rPr>
              <a:t>Moderate</a:t>
            </a:r>
            <a:endParaRPr lang="en-US" sz="1250" dirty="0"/>
          </a:p>
        </p:txBody>
      </p:sp>
      <p:sp>
        <p:nvSpPr>
          <p:cNvPr id="27" name="Text 25"/>
          <p:cNvSpPr/>
          <p:nvPr/>
        </p:nvSpPr>
        <p:spPr>
          <a:xfrm>
            <a:off x="4197146" y="3014762"/>
            <a:ext cx="2127494" cy="237728"/>
          </a:xfrm>
          <a:prstGeom prst="rect">
            <a:avLst/>
          </a:prstGeom>
          <a:noFill/>
          <a:ln/>
        </p:spPr>
        <p:txBody>
          <a:bodyPr wrap="none" lIns="0" tIns="0" rIns="0" bIns="0" rtlCol="0" anchor="t"/>
          <a:lstStyle/>
          <a:p>
            <a:pPr algn="l" indent="0" marL="0">
              <a:lnSpc>
                <a:spcPct val="123000"/>
              </a:lnSpc>
              <a:buNone/>
            </a:pPr>
            <a:r>
              <a:rPr lang="en-US" sz="1250" dirty="0">
                <a:solidFill>
                  <a:srgbClr val="E0D6DE"/>
                </a:solidFill>
                <a:latin typeface="Noto Sans" pitchFamily="34" charset="0"/>
                <a:ea typeface="Noto Sans" pitchFamily="34" charset="-122"/>
                <a:cs typeface="Noto Sans" pitchFamily="34" charset="-120"/>
              </a:rPr>
              <a:t>High</a:t>
            </a:r>
            <a:endParaRPr lang="en-US" sz="1250" dirty="0"/>
          </a:p>
        </p:txBody>
      </p:sp>
      <p:sp>
        <p:nvSpPr>
          <p:cNvPr id="28" name="Text 26"/>
          <p:cNvSpPr/>
          <p:nvPr/>
        </p:nvSpPr>
        <p:spPr>
          <a:xfrm>
            <a:off x="6042668" y="3014762"/>
            <a:ext cx="1693225" cy="237728"/>
          </a:xfrm>
          <a:prstGeom prst="rect">
            <a:avLst/>
          </a:prstGeom>
          <a:noFill/>
          <a:ln/>
        </p:spPr>
        <p:txBody>
          <a:bodyPr wrap="none" lIns="0" tIns="0" rIns="0" bIns="0" rtlCol="0" anchor="t"/>
          <a:lstStyle/>
          <a:p>
            <a:pPr algn="l" indent="0" marL="0">
              <a:lnSpc>
                <a:spcPct val="123000"/>
              </a:lnSpc>
              <a:buNone/>
            </a:pPr>
            <a:r>
              <a:rPr lang="en-US" sz="1250" dirty="0">
                <a:solidFill>
                  <a:srgbClr val="E0D6DE"/>
                </a:solidFill>
                <a:latin typeface="Noto Sans" pitchFamily="34" charset="0"/>
                <a:ea typeface="Noto Sans" pitchFamily="34" charset="-122"/>
                <a:cs typeface="Noto Sans" pitchFamily="34" charset="-120"/>
              </a:rPr>
              <a:t>Fast</a:t>
            </a:r>
            <a:endParaRPr lang="en-US" sz="1250" dirty="0"/>
          </a:p>
        </p:txBody>
      </p:sp>
      <p:sp>
        <p:nvSpPr>
          <p:cNvPr id="29" name="Text 27"/>
          <p:cNvSpPr/>
          <p:nvPr/>
        </p:nvSpPr>
        <p:spPr>
          <a:xfrm>
            <a:off x="7453920" y="3014762"/>
            <a:ext cx="1693225" cy="237728"/>
          </a:xfrm>
          <a:prstGeom prst="rect">
            <a:avLst/>
          </a:prstGeom>
          <a:noFill/>
          <a:ln/>
        </p:spPr>
        <p:txBody>
          <a:bodyPr wrap="none" lIns="0" tIns="0" rIns="0" bIns="0" rtlCol="0" anchor="t"/>
          <a:lstStyle/>
          <a:p>
            <a:pPr algn="l" indent="0" marL="0">
              <a:lnSpc>
                <a:spcPct val="123000"/>
              </a:lnSpc>
              <a:buNone/>
            </a:pPr>
            <a:r>
              <a:rPr lang="en-US" sz="1250" dirty="0">
                <a:solidFill>
                  <a:srgbClr val="E0D6DE"/>
                </a:solidFill>
                <a:latin typeface="Noto Sans" pitchFamily="34" charset="0"/>
                <a:ea typeface="Noto Sans" pitchFamily="34" charset="-122"/>
                <a:cs typeface="Noto Sans" pitchFamily="34" charset="-120"/>
              </a:rPr>
              <a:t>Poor</a:t>
            </a:r>
            <a:endParaRPr lang="en-US" sz="1250" dirty="0"/>
          </a:p>
        </p:txBody>
      </p:sp>
      <p:sp>
        <p:nvSpPr>
          <p:cNvPr id="30" name="Text 28"/>
          <p:cNvSpPr/>
          <p:nvPr/>
        </p:nvSpPr>
        <p:spPr>
          <a:xfrm>
            <a:off x="8865172" y="3014762"/>
            <a:ext cx="1693225" cy="237728"/>
          </a:xfrm>
          <a:prstGeom prst="rect">
            <a:avLst/>
          </a:prstGeom>
          <a:noFill/>
          <a:ln/>
        </p:spPr>
        <p:txBody>
          <a:bodyPr wrap="none" lIns="0" tIns="0" rIns="0" bIns="0" rtlCol="0" anchor="t"/>
          <a:lstStyle/>
          <a:p>
            <a:pPr algn="l" indent="0" marL="0">
              <a:lnSpc>
                <a:spcPct val="123000"/>
              </a:lnSpc>
              <a:buNone/>
            </a:pPr>
            <a:r>
              <a:rPr lang="en-US" sz="1250" dirty="0">
                <a:solidFill>
                  <a:srgbClr val="E0D6DE"/>
                </a:solidFill>
                <a:latin typeface="Noto Sans" pitchFamily="34" charset="0"/>
                <a:ea typeface="Noto Sans" pitchFamily="34" charset="-122"/>
                <a:cs typeface="Noto Sans" pitchFamily="34" charset="-120"/>
              </a:rPr>
              <a:t>Low</a:t>
            </a:r>
            <a:endParaRPr lang="en-US" sz="1250" dirty="0"/>
          </a:p>
        </p:txBody>
      </p:sp>
      <p:sp>
        <p:nvSpPr>
          <p:cNvPr id="31" name="Text 29"/>
          <p:cNvSpPr/>
          <p:nvPr/>
        </p:nvSpPr>
        <p:spPr>
          <a:xfrm>
            <a:off x="10276424" y="3014762"/>
            <a:ext cx="1086815" cy="475456"/>
          </a:xfrm>
          <a:prstGeom prst="rect">
            <a:avLst/>
          </a:prstGeom>
          <a:noFill/>
          <a:ln/>
        </p:spPr>
        <p:txBody>
          <a:bodyPr wrap="square" lIns="0" tIns="0" rIns="0" bIns="0" rtlCol="0" anchor="t">
            <a:normAutofit/>
          </a:bodyPr>
          <a:lstStyle/>
          <a:p>
            <a:pPr algn="l" indent="0" marL="0">
              <a:lnSpc>
                <a:spcPct val="123000"/>
              </a:lnSpc>
              <a:buNone/>
            </a:pPr>
            <a:r>
              <a:rPr lang="en-US" sz="1250" dirty="0">
                <a:solidFill>
                  <a:srgbClr val="E0D6DE"/>
                </a:solidFill>
                <a:latin typeface="Noto Sans" pitchFamily="34" charset="0"/>
                <a:ea typeface="Noto Sans" pitchFamily="34" charset="-122"/>
                <a:cs typeface="Noto Sans" pitchFamily="34" charset="-120"/>
              </a:rPr>
              <a:t>Baseline model</a:t>
            </a:r>
            <a:endParaRPr lang="en-US" sz="1250" dirty="0"/>
          </a:p>
        </p:txBody>
      </p:sp>
      <p:sp>
        <p:nvSpPr>
          <p:cNvPr id="32" name="Text 30"/>
          <p:cNvSpPr/>
          <p:nvPr/>
        </p:nvSpPr>
        <p:spPr>
          <a:xfrm>
            <a:off x="828654" y="3672979"/>
            <a:ext cx="2239212" cy="237728"/>
          </a:xfrm>
          <a:prstGeom prst="rect">
            <a:avLst/>
          </a:prstGeom>
          <a:noFill/>
          <a:ln/>
        </p:spPr>
        <p:txBody>
          <a:bodyPr wrap="none" lIns="0" tIns="0" rIns="0" bIns="0" rtlCol="0" anchor="t"/>
          <a:lstStyle/>
          <a:p>
            <a:pPr algn="l" indent="0" marL="0">
              <a:lnSpc>
                <a:spcPct val="123000"/>
              </a:lnSpc>
              <a:buNone/>
            </a:pPr>
            <a:r>
              <a:rPr lang="en-US" sz="1250" dirty="0">
                <a:solidFill>
                  <a:srgbClr val="E0D6DE"/>
                </a:solidFill>
                <a:latin typeface="Noto Sans" pitchFamily="34" charset="0"/>
                <a:ea typeface="Noto Sans" pitchFamily="34" charset="-122"/>
                <a:cs typeface="Noto Sans" pitchFamily="34" charset="-120"/>
              </a:rPr>
              <a:t>Decision Tree</a:t>
            </a:r>
            <a:endParaRPr lang="en-US" sz="1250" dirty="0"/>
          </a:p>
        </p:txBody>
      </p:sp>
      <p:sp>
        <p:nvSpPr>
          <p:cNvPr id="33" name="Text 31"/>
          <p:cNvSpPr/>
          <p:nvPr/>
        </p:nvSpPr>
        <p:spPr>
          <a:xfrm>
            <a:off x="2785894" y="3672979"/>
            <a:ext cx="1693225" cy="237728"/>
          </a:xfrm>
          <a:prstGeom prst="rect">
            <a:avLst/>
          </a:prstGeom>
          <a:noFill/>
          <a:ln/>
        </p:spPr>
        <p:txBody>
          <a:bodyPr wrap="none" lIns="0" tIns="0" rIns="0" bIns="0" rtlCol="0" anchor="t"/>
          <a:lstStyle/>
          <a:p>
            <a:pPr algn="l" indent="0" marL="0">
              <a:lnSpc>
                <a:spcPct val="123000"/>
              </a:lnSpc>
              <a:buNone/>
            </a:pPr>
            <a:r>
              <a:rPr lang="en-US" sz="1250" dirty="0">
                <a:solidFill>
                  <a:srgbClr val="E0D6DE"/>
                </a:solidFill>
                <a:latin typeface="Noto Sans" pitchFamily="34" charset="0"/>
                <a:ea typeface="Noto Sans" pitchFamily="34" charset="-122"/>
                <a:cs typeface="Noto Sans" pitchFamily="34" charset="-120"/>
              </a:rPr>
              <a:t>Moderate</a:t>
            </a:r>
            <a:endParaRPr lang="en-US" sz="1250" dirty="0"/>
          </a:p>
        </p:txBody>
      </p:sp>
      <p:sp>
        <p:nvSpPr>
          <p:cNvPr id="34" name="Text 32"/>
          <p:cNvSpPr/>
          <p:nvPr/>
        </p:nvSpPr>
        <p:spPr>
          <a:xfrm>
            <a:off x="4197146" y="3672979"/>
            <a:ext cx="2127494" cy="237728"/>
          </a:xfrm>
          <a:prstGeom prst="rect">
            <a:avLst/>
          </a:prstGeom>
          <a:noFill/>
          <a:ln/>
        </p:spPr>
        <p:txBody>
          <a:bodyPr wrap="none" lIns="0" tIns="0" rIns="0" bIns="0" rtlCol="0" anchor="t"/>
          <a:lstStyle/>
          <a:p>
            <a:pPr algn="l" indent="0" marL="0">
              <a:lnSpc>
                <a:spcPct val="123000"/>
              </a:lnSpc>
              <a:buNone/>
            </a:pPr>
            <a:r>
              <a:rPr lang="en-US" sz="1250" dirty="0">
                <a:solidFill>
                  <a:srgbClr val="E0D6DE"/>
                </a:solidFill>
                <a:latin typeface="Noto Sans" pitchFamily="34" charset="0"/>
                <a:ea typeface="Noto Sans" pitchFamily="34" charset="-122"/>
                <a:cs typeface="Noto Sans" pitchFamily="34" charset="-120"/>
              </a:rPr>
              <a:t>High</a:t>
            </a:r>
            <a:endParaRPr lang="en-US" sz="1250" dirty="0"/>
          </a:p>
        </p:txBody>
      </p:sp>
      <p:sp>
        <p:nvSpPr>
          <p:cNvPr id="35" name="Text 33"/>
          <p:cNvSpPr/>
          <p:nvPr/>
        </p:nvSpPr>
        <p:spPr>
          <a:xfrm>
            <a:off x="6042668" y="3672979"/>
            <a:ext cx="1693225" cy="237728"/>
          </a:xfrm>
          <a:prstGeom prst="rect">
            <a:avLst/>
          </a:prstGeom>
          <a:noFill/>
          <a:ln/>
        </p:spPr>
        <p:txBody>
          <a:bodyPr wrap="none" lIns="0" tIns="0" rIns="0" bIns="0" rtlCol="0" anchor="t"/>
          <a:lstStyle/>
          <a:p>
            <a:pPr algn="l" indent="0" marL="0">
              <a:lnSpc>
                <a:spcPct val="123000"/>
              </a:lnSpc>
              <a:buNone/>
            </a:pPr>
            <a:r>
              <a:rPr lang="en-US" sz="1250" dirty="0">
                <a:solidFill>
                  <a:srgbClr val="E0D6DE"/>
                </a:solidFill>
                <a:latin typeface="Noto Sans" pitchFamily="34" charset="0"/>
                <a:ea typeface="Noto Sans" pitchFamily="34" charset="-122"/>
                <a:cs typeface="Noto Sans" pitchFamily="34" charset="-120"/>
              </a:rPr>
              <a:t>Fast</a:t>
            </a:r>
            <a:endParaRPr lang="en-US" sz="1250" dirty="0"/>
          </a:p>
        </p:txBody>
      </p:sp>
      <p:sp>
        <p:nvSpPr>
          <p:cNvPr id="36" name="Text 34"/>
          <p:cNvSpPr/>
          <p:nvPr/>
        </p:nvSpPr>
        <p:spPr>
          <a:xfrm>
            <a:off x="7453920" y="3672979"/>
            <a:ext cx="1693225" cy="237728"/>
          </a:xfrm>
          <a:prstGeom prst="rect">
            <a:avLst/>
          </a:prstGeom>
          <a:noFill/>
          <a:ln/>
        </p:spPr>
        <p:txBody>
          <a:bodyPr wrap="none" lIns="0" tIns="0" rIns="0" bIns="0" rtlCol="0" anchor="t"/>
          <a:lstStyle/>
          <a:p>
            <a:pPr algn="l" indent="0" marL="0">
              <a:lnSpc>
                <a:spcPct val="123000"/>
              </a:lnSpc>
              <a:buNone/>
            </a:pPr>
            <a:r>
              <a:rPr lang="en-US" sz="1250" dirty="0">
                <a:solidFill>
                  <a:srgbClr val="E0D6DE"/>
                </a:solidFill>
                <a:latin typeface="Noto Sans" pitchFamily="34" charset="0"/>
                <a:ea typeface="Noto Sans" pitchFamily="34" charset="-122"/>
                <a:cs typeface="Noto Sans" pitchFamily="34" charset="-120"/>
              </a:rPr>
              <a:t>Moderate</a:t>
            </a:r>
            <a:endParaRPr lang="en-US" sz="1250" dirty="0"/>
          </a:p>
        </p:txBody>
      </p:sp>
      <p:sp>
        <p:nvSpPr>
          <p:cNvPr id="37" name="Text 35"/>
          <p:cNvSpPr/>
          <p:nvPr/>
        </p:nvSpPr>
        <p:spPr>
          <a:xfrm>
            <a:off x="8865172" y="3672979"/>
            <a:ext cx="1693225" cy="237728"/>
          </a:xfrm>
          <a:prstGeom prst="rect">
            <a:avLst/>
          </a:prstGeom>
          <a:noFill/>
          <a:ln/>
        </p:spPr>
        <p:txBody>
          <a:bodyPr wrap="none" lIns="0" tIns="0" rIns="0" bIns="0" rtlCol="0" anchor="t"/>
          <a:lstStyle/>
          <a:p>
            <a:pPr algn="l" indent="0" marL="0">
              <a:lnSpc>
                <a:spcPct val="123000"/>
              </a:lnSpc>
              <a:buNone/>
            </a:pPr>
            <a:r>
              <a:rPr lang="en-US" sz="1250" dirty="0">
                <a:solidFill>
                  <a:srgbClr val="E0D6DE"/>
                </a:solidFill>
                <a:latin typeface="Noto Sans" pitchFamily="34" charset="0"/>
                <a:ea typeface="Noto Sans" pitchFamily="34" charset="-122"/>
                <a:cs typeface="Noto Sans" pitchFamily="34" charset="-120"/>
              </a:rPr>
              <a:t>High</a:t>
            </a:r>
            <a:endParaRPr lang="en-US" sz="1250" dirty="0"/>
          </a:p>
        </p:txBody>
      </p:sp>
      <p:sp>
        <p:nvSpPr>
          <p:cNvPr id="38" name="Text 36"/>
          <p:cNvSpPr/>
          <p:nvPr/>
        </p:nvSpPr>
        <p:spPr>
          <a:xfrm>
            <a:off x="10276424" y="3672979"/>
            <a:ext cx="1086815" cy="475456"/>
          </a:xfrm>
          <a:prstGeom prst="rect">
            <a:avLst/>
          </a:prstGeom>
          <a:noFill/>
          <a:ln/>
        </p:spPr>
        <p:txBody>
          <a:bodyPr wrap="square" lIns="0" tIns="0" rIns="0" bIns="0" rtlCol="0" anchor="t">
            <a:normAutofit/>
          </a:bodyPr>
          <a:lstStyle/>
          <a:p>
            <a:pPr algn="l" indent="0" marL="0">
              <a:lnSpc>
                <a:spcPct val="123000"/>
              </a:lnSpc>
              <a:buNone/>
            </a:pPr>
            <a:r>
              <a:rPr lang="en-US" sz="1250" dirty="0">
                <a:solidFill>
                  <a:srgbClr val="E0D6DE"/>
                </a:solidFill>
                <a:latin typeface="Noto Sans" pitchFamily="34" charset="0"/>
                <a:ea typeface="Noto Sans" pitchFamily="34" charset="-122"/>
                <a:cs typeface="Noto Sans" pitchFamily="34" charset="-120"/>
              </a:rPr>
              <a:t>Rule extraction</a:t>
            </a:r>
            <a:endParaRPr lang="en-US" sz="1250" dirty="0"/>
          </a:p>
        </p:txBody>
      </p:sp>
      <p:sp>
        <p:nvSpPr>
          <p:cNvPr id="39" name="Text 37"/>
          <p:cNvSpPr/>
          <p:nvPr/>
        </p:nvSpPr>
        <p:spPr>
          <a:xfrm>
            <a:off x="828654" y="4331196"/>
            <a:ext cx="2239212" cy="237728"/>
          </a:xfrm>
          <a:prstGeom prst="rect">
            <a:avLst/>
          </a:prstGeom>
          <a:noFill/>
          <a:ln/>
        </p:spPr>
        <p:txBody>
          <a:bodyPr wrap="none" lIns="0" tIns="0" rIns="0" bIns="0" rtlCol="0" anchor="t"/>
          <a:lstStyle/>
          <a:p>
            <a:pPr algn="l" indent="0" marL="0">
              <a:lnSpc>
                <a:spcPct val="123000"/>
              </a:lnSpc>
              <a:buNone/>
            </a:pPr>
            <a:r>
              <a:rPr lang="en-US" sz="1250" dirty="0">
                <a:solidFill>
                  <a:srgbClr val="E0D6DE"/>
                </a:solidFill>
                <a:latin typeface="Noto Sans" pitchFamily="34" charset="0"/>
                <a:ea typeface="Noto Sans" pitchFamily="34" charset="-122"/>
                <a:cs typeface="Noto Sans" pitchFamily="34" charset="-120"/>
              </a:rPr>
              <a:t>Random Forest</a:t>
            </a:r>
            <a:endParaRPr lang="en-US" sz="1250" dirty="0"/>
          </a:p>
        </p:txBody>
      </p:sp>
      <p:sp>
        <p:nvSpPr>
          <p:cNvPr id="40" name="Text 38"/>
          <p:cNvSpPr/>
          <p:nvPr/>
        </p:nvSpPr>
        <p:spPr>
          <a:xfrm>
            <a:off x="2785894" y="4331196"/>
            <a:ext cx="1693225" cy="237728"/>
          </a:xfrm>
          <a:prstGeom prst="rect">
            <a:avLst/>
          </a:prstGeom>
          <a:noFill/>
          <a:ln/>
        </p:spPr>
        <p:txBody>
          <a:bodyPr wrap="none" lIns="0" tIns="0" rIns="0" bIns="0" rtlCol="0" anchor="t"/>
          <a:lstStyle/>
          <a:p>
            <a:pPr algn="l" indent="0" marL="0">
              <a:lnSpc>
                <a:spcPct val="123000"/>
              </a:lnSpc>
              <a:buNone/>
            </a:pPr>
            <a:r>
              <a:rPr lang="en-US" sz="1250" dirty="0">
                <a:solidFill>
                  <a:srgbClr val="E0D6DE"/>
                </a:solidFill>
                <a:latin typeface="Noto Sans" pitchFamily="34" charset="0"/>
                <a:ea typeface="Noto Sans" pitchFamily="34" charset="-122"/>
                <a:cs typeface="Noto Sans" pitchFamily="34" charset="-120"/>
              </a:rPr>
              <a:t>High</a:t>
            </a:r>
            <a:endParaRPr lang="en-US" sz="1250" dirty="0"/>
          </a:p>
        </p:txBody>
      </p:sp>
      <p:sp>
        <p:nvSpPr>
          <p:cNvPr id="41" name="Text 39"/>
          <p:cNvSpPr/>
          <p:nvPr/>
        </p:nvSpPr>
        <p:spPr>
          <a:xfrm>
            <a:off x="4197146" y="4331196"/>
            <a:ext cx="2127494" cy="237728"/>
          </a:xfrm>
          <a:prstGeom prst="rect">
            <a:avLst/>
          </a:prstGeom>
          <a:noFill/>
          <a:ln/>
        </p:spPr>
        <p:txBody>
          <a:bodyPr wrap="none" lIns="0" tIns="0" rIns="0" bIns="0" rtlCol="0" anchor="t"/>
          <a:lstStyle/>
          <a:p>
            <a:pPr algn="l" indent="0" marL="0">
              <a:lnSpc>
                <a:spcPct val="123000"/>
              </a:lnSpc>
              <a:buNone/>
            </a:pPr>
            <a:r>
              <a:rPr lang="en-US" sz="1250" dirty="0">
                <a:solidFill>
                  <a:srgbClr val="E0D6DE"/>
                </a:solidFill>
                <a:latin typeface="Noto Sans" pitchFamily="34" charset="0"/>
                <a:ea typeface="Noto Sans" pitchFamily="34" charset="-122"/>
                <a:cs typeface="Noto Sans" pitchFamily="34" charset="-120"/>
              </a:rPr>
              <a:t>Moderate</a:t>
            </a:r>
            <a:endParaRPr lang="en-US" sz="1250" dirty="0"/>
          </a:p>
        </p:txBody>
      </p:sp>
      <p:sp>
        <p:nvSpPr>
          <p:cNvPr id="42" name="Text 40"/>
          <p:cNvSpPr/>
          <p:nvPr/>
        </p:nvSpPr>
        <p:spPr>
          <a:xfrm>
            <a:off x="6042668" y="4331196"/>
            <a:ext cx="1693225" cy="237728"/>
          </a:xfrm>
          <a:prstGeom prst="rect">
            <a:avLst/>
          </a:prstGeom>
          <a:noFill/>
          <a:ln/>
        </p:spPr>
        <p:txBody>
          <a:bodyPr wrap="none" lIns="0" tIns="0" rIns="0" bIns="0" rtlCol="0" anchor="t"/>
          <a:lstStyle/>
          <a:p>
            <a:pPr algn="l" indent="0" marL="0">
              <a:lnSpc>
                <a:spcPct val="123000"/>
              </a:lnSpc>
              <a:buNone/>
            </a:pPr>
            <a:r>
              <a:rPr lang="en-US" sz="1250" dirty="0">
                <a:solidFill>
                  <a:srgbClr val="E0D6DE"/>
                </a:solidFill>
                <a:latin typeface="Noto Sans" pitchFamily="34" charset="0"/>
                <a:ea typeface="Noto Sans" pitchFamily="34" charset="-122"/>
                <a:cs typeface="Noto Sans" pitchFamily="34" charset="-120"/>
              </a:rPr>
              <a:t>Moderate</a:t>
            </a:r>
            <a:endParaRPr lang="en-US" sz="1250" dirty="0"/>
          </a:p>
        </p:txBody>
      </p:sp>
      <p:sp>
        <p:nvSpPr>
          <p:cNvPr id="43" name="Text 41"/>
          <p:cNvSpPr/>
          <p:nvPr/>
        </p:nvSpPr>
        <p:spPr>
          <a:xfrm>
            <a:off x="7453920" y="4331196"/>
            <a:ext cx="1693225" cy="237728"/>
          </a:xfrm>
          <a:prstGeom prst="rect">
            <a:avLst/>
          </a:prstGeom>
          <a:noFill/>
          <a:ln/>
        </p:spPr>
        <p:txBody>
          <a:bodyPr wrap="none" lIns="0" tIns="0" rIns="0" bIns="0" rtlCol="0" anchor="t"/>
          <a:lstStyle/>
          <a:p>
            <a:pPr algn="l" indent="0" marL="0">
              <a:lnSpc>
                <a:spcPct val="123000"/>
              </a:lnSpc>
              <a:buNone/>
            </a:pPr>
            <a:r>
              <a:rPr lang="en-US" sz="1250" dirty="0">
                <a:solidFill>
                  <a:srgbClr val="E0D6DE"/>
                </a:solidFill>
                <a:latin typeface="Noto Sans" pitchFamily="34" charset="0"/>
                <a:ea typeface="Noto Sans" pitchFamily="34" charset="-122"/>
                <a:cs typeface="Noto Sans" pitchFamily="34" charset="-120"/>
              </a:rPr>
              <a:t>Good</a:t>
            </a:r>
            <a:endParaRPr lang="en-US" sz="1250" dirty="0"/>
          </a:p>
        </p:txBody>
      </p:sp>
      <p:sp>
        <p:nvSpPr>
          <p:cNvPr id="44" name="Text 42"/>
          <p:cNvSpPr/>
          <p:nvPr/>
        </p:nvSpPr>
        <p:spPr>
          <a:xfrm>
            <a:off x="8865172" y="4331196"/>
            <a:ext cx="1693225" cy="237728"/>
          </a:xfrm>
          <a:prstGeom prst="rect">
            <a:avLst/>
          </a:prstGeom>
          <a:noFill/>
          <a:ln/>
        </p:spPr>
        <p:txBody>
          <a:bodyPr wrap="none" lIns="0" tIns="0" rIns="0" bIns="0" rtlCol="0" anchor="t"/>
          <a:lstStyle/>
          <a:p>
            <a:pPr algn="l" indent="0" marL="0">
              <a:lnSpc>
                <a:spcPct val="123000"/>
              </a:lnSpc>
              <a:buNone/>
            </a:pPr>
            <a:r>
              <a:rPr lang="en-US" sz="1250" dirty="0">
                <a:solidFill>
                  <a:srgbClr val="E0D6DE"/>
                </a:solidFill>
                <a:latin typeface="Noto Sans" pitchFamily="34" charset="0"/>
                <a:ea typeface="Noto Sans" pitchFamily="34" charset="-122"/>
                <a:cs typeface="Noto Sans" pitchFamily="34" charset="-120"/>
              </a:rPr>
              <a:t>Low</a:t>
            </a:r>
            <a:endParaRPr lang="en-US" sz="1250" dirty="0"/>
          </a:p>
        </p:txBody>
      </p:sp>
      <p:sp>
        <p:nvSpPr>
          <p:cNvPr id="45" name="Text 43"/>
          <p:cNvSpPr/>
          <p:nvPr/>
        </p:nvSpPr>
        <p:spPr>
          <a:xfrm>
            <a:off x="10276424" y="4331196"/>
            <a:ext cx="1086815" cy="481806"/>
          </a:xfrm>
          <a:prstGeom prst="rect">
            <a:avLst/>
          </a:prstGeom>
          <a:noFill/>
          <a:ln/>
        </p:spPr>
        <p:txBody>
          <a:bodyPr wrap="square" lIns="0" tIns="0" rIns="0" bIns="0" rtlCol="0" anchor="t">
            <a:normAutofit/>
          </a:bodyPr>
          <a:lstStyle/>
          <a:p>
            <a:pPr algn="l" indent="0" marL="0">
              <a:lnSpc>
                <a:spcPct val="123000"/>
              </a:lnSpc>
              <a:buNone/>
            </a:pPr>
            <a:r>
              <a:rPr lang="en-US" sz="1250" dirty="0">
                <a:solidFill>
                  <a:srgbClr val="000000"/>
                </a:solidFill>
                <a:latin typeface="Noto Sans" pitchFamily="34" charset="0"/>
                <a:ea typeface="Noto Sans" pitchFamily="34" charset="-122"/>
                <a:cs typeface="Noto Sans" pitchFamily="34" charset="-120"/>
              </a:rPr>
              <a:t>⭐</a:t>
            </a:r>
            <a:pPr algn="l" indent="0" marL="0">
              <a:lnSpc>
                <a:spcPct val="123000"/>
              </a:lnSpc>
              <a:buNone/>
            </a:pPr>
            <a:r>
              <a:rPr lang="en-US" sz="1250" dirty="0">
                <a:solidFill>
                  <a:srgbClr val="E0D6DE"/>
                </a:solidFill>
                <a:latin typeface="Noto Sans" pitchFamily="34" charset="0"/>
                <a:ea typeface="Noto Sans" pitchFamily="34" charset="-122"/>
                <a:cs typeface="Noto Sans" pitchFamily="34" charset="-120"/>
              </a:rPr>
              <a:t> Primary model</a:t>
            </a:r>
            <a:endParaRPr lang="en-US" sz="1250" dirty="0"/>
          </a:p>
        </p:txBody>
      </p:sp>
      <p:sp>
        <p:nvSpPr>
          <p:cNvPr id="46" name="Text 44"/>
          <p:cNvSpPr/>
          <p:nvPr/>
        </p:nvSpPr>
        <p:spPr>
          <a:xfrm>
            <a:off x="828654" y="4995763"/>
            <a:ext cx="2239212" cy="237728"/>
          </a:xfrm>
          <a:prstGeom prst="rect">
            <a:avLst/>
          </a:prstGeom>
          <a:noFill/>
          <a:ln/>
        </p:spPr>
        <p:txBody>
          <a:bodyPr wrap="none" lIns="0" tIns="0" rIns="0" bIns="0" rtlCol="0" anchor="t"/>
          <a:lstStyle/>
          <a:p>
            <a:pPr algn="l" indent="0" marL="0">
              <a:lnSpc>
                <a:spcPct val="123000"/>
              </a:lnSpc>
              <a:buNone/>
            </a:pPr>
            <a:r>
              <a:rPr lang="en-US" sz="1250" dirty="0">
                <a:solidFill>
                  <a:srgbClr val="E0D6DE"/>
                </a:solidFill>
                <a:latin typeface="Noto Sans" pitchFamily="34" charset="0"/>
                <a:ea typeface="Noto Sans" pitchFamily="34" charset="-122"/>
                <a:cs typeface="Noto Sans" pitchFamily="34" charset="-120"/>
              </a:rPr>
              <a:t>Gradient Boosting</a:t>
            </a:r>
            <a:endParaRPr lang="en-US" sz="1250" dirty="0"/>
          </a:p>
        </p:txBody>
      </p:sp>
      <p:sp>
        <p:nvSpPr>
          <p:cNvPr id="47" name="Text 45"/>
          <p:cNvSpPr/>
          <p:nvPr/>
        </p:nvSpPr>
        <p:spPr>
          <a:xfrm>
            <a:off x="2785894" y="4995763"/>
            <a:ext cx="1693225" cy="237728"/>
          </a:xfrm>
          <a:prstGeom prst="rect">
            <a:avLst/>
          </a:prstGeom>
          <a:noFill/>
          <a:ln/>
        </p:spPr>
        <p:txBody>
          <a:bodyPr wrap="none" lIns="0" tIns="0" rIns="0" bIns="0" rtlCol="0" anchor="t"/>
          <a:lstStyle/>
          <a:p>
            <a:pPr algn="l" indent="0" marL="0">
              <a:lnSpc>
                <a:spcPct val="123000"/>
              </a:lnSpc>
              <a:buNone/>
            </a:pPr>
            <a:r>
              <a:rPr lang="en-US" sz="1250" dirty="0">
                <a:solidFill>
                  <a:srgbClr val="E0D6DE"/>
                </a:solidFill>
                <a:latin typeface="Noto Sans" pitchFamily="34" charset="0"/>
                <a:ea typeface="Noto Sans" pitchFamily="34" charset="-122"/>
                <a:cs typeface="Noto Sans" pitchFamily="34" charset="-120"/>
              </a:rPr>
              <a:t>High</a:t>
            </a:r>
            <a:endParaRPr lang="en-US" sz="1250" dirty="0"/>
          </a:p>
        </p:txBody>
      </p:sp>
      <p:sp>
        <p:nvSpPr>
          <p:cNvPr id="48" name="Text 46"/>
          <p:cNvSpPr/>
          <p:nvPr/>
        </p:nvSpPr>
        <p:spPr>
          <a:xfrm>
            <a:off x="4197146" y="4995763"/>
            <a:ext cx="2127494" cy="237728"/>
          </a:xfrm>
          <a:prstGeom prst="rect">
            <a:avLst/>
          </a:prstGeom>
          <a:noFill/>
          <a:ln/>
        </p:spPr>
        <p:txBody>
          <a:bodyPr wrap="none" lIns="0" tIns="0" rIns="0" bIns="0" rtlCol="0" anchor="t"/>
          <a:lstStyle/>
          <a:p>
            <a:pPr algn="l" indent="0" marL="0">
              <a:lnSpc>
                <a:spcPct val="123000"/>
              </a:lnSpc>
              <a:buNone/>
            </a:pPr>
            <a:r>
              <a:rPr lang="en-US" sz="1250" dirty="0">
                <a:solidFill>
                  <a:srgbClr val="E0D6DE"/>
                </a:solidFill>
                <a:latin typeface="Noto Sans" pitchFamily="34" charset="0"/>
                <a:ea typeface="Noto Sans" pitchFamily="34" charset="-122"/>
                <a:cs typeface="Noto Sans" pitchFamily="34" charset="-120"/>
              </a:rPr>
              <a:t>Low</a:t>
            </a:r>
            <a:endParaRPr lang="en-US" sz="1250" dirty="0"/>
          </a:p>
        </p:txBody>
      </p:sp>
      <p:sp>
        <p:nvSpPr>
          <p:cNvPr id="49" name="Text 47"/>
          <p:cNvSpPr/>
          <p:nvPr/>
        </p:nvSpPr>
        <p:spPr>
          <a:xfrm>
            <a:off x="6042668" y="4995763"/>
            <a:ext cx="1693225" cy="237728"/>
          </a:xfrm>
          <a:prstGeom prst="rect">
            <a:avLst/>
          </a:prstGeom>
          <a:noFill/>
          <a:ln/>
        </p:spPr>
        <p:txBody>
          <a:bodyPr wrap="none" lIns="0" tIns="0" rIns="0" bIns="0" rtlCol="0" anchor="t"/>
          <a:lstStyle/>
          <a:p>
            <a:pPr algn="l" indent="0" marL="0">
              <a:lnSpc>
                <a:spcPct val="123000"/>
              </a:lnSpc>
              <a:buNone/>
            </a:pPr>
            <a:r>
              <a:rPr lang="en-US" sz="1250" dirty="0">
                <a:solidFill>
                  <a:srgbClr val="E0D6DE"/>
                </a:solidFill>
                <a:latin typeface="Noto Sans" pitchFamily="34" charset="0"/>
                <a:ea typeface="Noto Sans" pitchFamily="34" charset="-122"/>
                <a:cs typeface="Noto Sans" pitchFamily="34" charset="-120"/>
              </a:rPr>
              <a:t>Slow</a:t>
            </a:r>
            <a:endParaRPr lang="en-US" sz="1250" dirty="0"/>
          </a:p>
        </p:txBody>
      </p:sp>
      <p:sp>
        <p:nvSpPr>
          <p:cNvPr id="50" name="Text 48"/>
          <p:cNvSpPr/>
          <p:nvPr/>
        </p:nvSpPr>
        <p:spPr>
          <a:xfrm>
            <a:off x="7453920" y="4995763"/>
            <a:ext cx="1693225" cy="237728"/>
          </a:xfrm>
          <a:prstGeom prst="rect">
            <a:avLst/>
          </a:prstGeom>
          <a:noFill/>
          <a:ln/>
        </p:spPr>
        <p:txBody>
          <a:bodyPr wrap="none" lIns="0" tIns="0" rIns="0" bIns="0" rtlCol="0" anchor="t"/>
          <a:lstStyle/>
          <a:p>
            <a:pPr algn="l" indent="0" marL="0">
              <a:lnSpc>
                <a:spcPct val="123000"/>
              </a:lnSpc>
              <a:buNone/>
            </a:pPr>
            <a:r>
              <a:rPr lang="en-US" sz="1250" dirty="0">
                <a:solidFill>
                  <a:srgbClr val="E0D6DE"/>
                </a:solidFill>
                <a:latin typeface="Noto Sans" pitchFamily="34" charset="0"/>
                <a:ea typeface="Noto Sans" pitchFamily="34" charset="-122"/>
                <a:cs typeface="Noto Sans" pitchFamily="34" charset="-120"/>
              </a:rPr>
              <a:t>Moderate</a:t>
            </a:r>
            <a:endParaRPr lang="en-US" sz="1250" dirty="0"/>
          </a:p>
        </p:txBody>
      </p:sp>
      <p:sp>
        <p:nvSpPr>
          <p:cNvPr id="51" name="Text 49"/>
          <p:cNvSpPr/>
          <p:nvPr/>
        </p:nvSpPr>
        <p:spPr>
          <a:xfrm>
            <a:off x="8865172" y="4995763"/>
            <a:ext cx="1693225" cy="237728"/>
          </a:xfrm>
          <a:prstGeom prst="rect">
            <a:avLst/>
          </a:prstGeom>
          <a:noFill/>
          <a:ln/>
        </p:spPr>
        <p:txBody>
          <a:bodyPr wrap="none" lIns="0" tIns="0" rIns="0" bIns="0" rtlCol="0" anchor="t"/>
          <a:lstStyle/>
          <a:p>
            <a:pPr algn="l" indent="0" marL="0">
              <a:lnSpc>
                <a:spcPct val="123000"/>
              </a:lnSpc>
              <a:buNone/>
            </a:pPr>
            <a:r>
              <a:rPr lang="en-US" sz="1250" dirty="0">
                <a:solidFill>
                  <a:srgbClr val="E0D6DE"/>
                </a:solidFill>
                <a:latin typeface="Noto Sans" pitchFamily="34" charset="0"/>
                <a:ea typeface="Noto Sans" pitchFamily="34" charset="-122"/>
                <a:cs typeface="Noto Sans" pitchFamily="34" charset="-120"/>
              </a:rPr>
              <a:t>Moderate</a:t>
            </a:r>
            <a:endParaRPr lang="en-US" sz="1250" dirty="0"/>
          </a:p>
        </p:txBody>
      </p:sp>
      <p:sp>
        <p:nvSpPr>
          <p:cNvPr id="52" name="Text 50"/>
          <p:cNvSpPr/>
          <p:nvPr/>
        </p:nvSpPr>
        <p:spPr>
          <a:xfrm>
            <a:off x="10276424" y="4995763"/>
            <a:ext cx="1086815" cy="475456"/>
          </a:xfrm>
          <a:prstGeom prst="rect">
            <a:avLst/>
          </a:prstGeom>
          <a:noFill/>
          <a:ln/>
        </p:spPr>
        <p:txBody>
          <a:bodyPr wrap="square" lIns="0" tIns="0" rIns="0" bIns="0" rtlCol="0" anchor="t">
            <a:normAutofit/>
          </a:bodyPr>
          <a:lstStyle/>
          <a:p>
            <a:pPr algn="l" indent="0" marL="0">
              <a:lnSpc>
                <a:spcPct val="123000"/>
              </a:lnSpc>
              <a:buNone/>
            </a:pPr>
            <a:r>
              <a:rPr lang="en-US" sz="1250" dirty="0">
                <a:solidFill>
                  <a:srgbClr val="E0D6DE"/>
                </a:solidFill>
                <a:latin typeface="Noto Sans" pitchFamily="34" charset="0"/>
                <a:ea typeface="Noto Sans" pitchFamily="34" charset="-122"/>
                <a:cs typeface="Noto Sans" pitchFamily="34" charset="-120"/>
              </a:rPr>
              <a:t>Sequential learning</a:t>
            </a:r>
            <a:endParaRPr lang="en-US" sz="1250" dirty="0"/>
          </a:p>
        </p:txBody>
      </p:sp>
      <p:sp>
        <p:nvSpPr>
          <p:cNvPr id="53" name="Text 51"/>
          <p:cNvSpPr/>
          <p:nvPr/>
        </p:nvSpPr>
        <p:spPr>
          <a:xfrm>
            <a:off x="828654" y="5653980"/>
            <a:ext cx="2239212" cy="237728"/>
          </a:xfrm>
          <a:prstGeom prst="rect">
            <a:avLst/>
          </a:prstGeom>
          <a:noFill/>
          <a:ln/>
        </p:spPr>
        <p:txBody>
          <a:bodyPr wrap="none" lIns="0" tIns="0" rIns="0" bIns="0" rtlCol="0" anchor="t"/>
          <a:lstStyle/>
          <a:p>
            <a:pPr algn="l" indent="0" marL="0">
              <a:lnSpc>
                <a:spcPct val="123000"/>
              </a:lnSpc>
              <a:buNone/>
            </a:pPr>
            <a:r>
              <a:rPr lang="en-US" sz="1250" dirty="0">
                <a:solidFill>
                  <a:srgbClr val="E0D6DE"/>
                </a:solidFill>
                <a:latin typeface="Noto Sans" pitchFamily="34" charset="0"/>
                <a:ea typeface="Noto Sans" pitchFamily="34" charset="-122"/>
                <a:cs typeface="Noto Sans" pitchFamily="34" charset="-120"/>
              </a:rPr>
              <a:t>XGBoost</a:t>
            </a:r>
            <a:endParaRPr lang="en-US" sz="1250" dirty="0"/>
          </a:p>
        </p:txBody>
      </p:sp>
      <p:sp>
        <p:nvSpPr>
          <p:cNvPr id="54" name="Text 52"/>
          <p:cNvSpPr/>
          <p:nvPr/>
        </p:nvSpPr>
        <p:spPr>
          <a:xfrm>
            <a:off x="2785894" y="5653980"/>
            <a:ext cx="1693225" cy="237728"/>
          </a:xfrm>
          <a:prstGeom prst="rect">
            <a:avLst/>
          </a:prstGeom>
          <a:noFill/>
          <a:ln/>
        </p:spPr>
        <p:txBody>
          <a:bodyPr wrap="none" lIns="0" tIns="0" rIns="0" bIns="0" rtlCol="0" anchor="t"/>
          <a:lstStyle/>
          <a:p>
            <a:pPr algn="l" indent="0" marL="0">
              <a:lnSpc>
                <a:spcPct val="123000"/>
              </a:lnSpc>
              <a:buNone/>
            </a:pPr>
            <a:r>
              <a:rPr lang="en-US" sz="1250" dirty="0">
                <a:solidFill>
                  <a:srgbClr val="E0D6DE"/>
                </a:solidFill>
                <a:latin typeface="Noto Sans" pitchFamily="34" charset="0"/>
                <a:ea typeface="Noto Sans" pitchFamily="34" charset="-122"/>
                <a:cs typeface="Noto Sans" pitchFamily="34" charset="-120"/>
              </a:rPr>
              <a:t>Very High</a:t>
            </a:r>
            <a:endParaRPr lang="en-US" sz="1250" dirty="0"/>
          </a:p>
        </p:txBody>
      </p:sp>
      <p:sp>
        <p:nvSpPr>
          <p:cNvPr id="55" name="Text 53"/>
          <p:cNvSpPr/>
          <p:nvPr/>
        </p:nvSpPr>
        <p:spPr>
          <a:xfrm>
            <a:off x="4197146" y="5653980"/>
            <a:ext cx="2127494" cy="237728"/>
          </a:xfrm>
          <a:prstGeom prst="rect">
            <a:avLst/>
          </a:prstGeom>
          <a:noFill/>
          <a:ln/>
        </p:spPr>
        <p:txBody>
          <a:bodyPr wrap="none" lIns="0" tIns="0" rIns="0" bIns="0" rtlCol="0" anchor="t"/>
          <a:lstStyle/>
          <a:p>
            <a:pPr algn="l" indent="0" marL="0">
              <a:lnSpc>
                <a:spcPct val="123000"/>
              </a:lnSpc>
              <a:buNone/>
            </a:pPr>
            <a:r>
              <a:rPr lang="en-US" sz="1250" dirty="0">
                <a:solidFill>
                  <a:srgbClr val="E0D6DE"/>
                </a:solidFill>
                <a:latin typeface="Noto Sans" pitchFamily="34" charset="0"/>
                <a:ea typeface="Noto Sans" pitchFamily="34" charset="-122"/>
                <a:cs typeface="Noto Sans" pitchFamily="34" charset="-120"/>
              </a:rPr>
              <a:t>Low</a:t>
            </a:r>
            <a:endParaRPr lang="en-US" sz="1250" dirty="0"/>
          </a:p>
        </p:txBody>
      </p:sp>
      <p:sp>
        <p:nvSpPr>
          <p:cNvPr id="56" name="Text 54"/>
          <p:cNvSpPr/>
          <p:nvPr/>
        </p:nvSpPr>
        <p:spPr>
          <a:xfrm>
            <a:off x="6042668" y="5653980"/>
            <a:ext cx="1693225" cy="237728"/>
          </a:xfrm>
          <a:prstGeom prst="rect">
            <a:avLst/>
          </a:prstGeom>
          <a:noFill/>
          <a:ln/>
        </p:spPr>
        <p:txBody>
          <a:bodyPr wrap="none" lIns="0" tIns="0" rIns="0" bIns="0" rtlCol="0" anchor="t"/>
          <a:lstStyle/>
          <a:p>
            <a:pPr algn="l" indent="0" marL="0">
              <a:lnSpc>
                <a:spcPct val="123000"/>
              </a:lnSpc>
              <a:buNone/>
            </a:pPr>
            <a:r>
              <a:rPr lang="en-US" sz="1250" dirty="0">
                <a:solidFill>
                  <a:srgbClr val="E0D6DE"/>
                </a:solidFill>
                <a:latin typeface="Noto Sans" pitchFamily="34" charset="0"/>
                <a:ea typeface="Noto Sans" pitchFamily="34" charset="-122"/>
                <a:cs typeface="Noto Sans" pitchFamily="34" charset="-120"/>
              </a:rPr>
              <a:t>Fast</a:t>
            </a:r>
            <a:endParaRPr lang="en-US" sz="1250" dirty="0"/>
          </a:p>
        </p:txBody>
      </p:sp>
      <p:sp>
        <p:nvSpPr>
          <p:cNvPr id="57" name="Text 55"/>
          <p:cNvSpPr/>
          <p:nvPr/>
        </p:nvSpPr>
        <p:spPr>
          <a:xfrm>
            <a:off x="7453920" y="5653980"/>
            <a:ext cx="1693225" cy="237728"/>
          </a:xfrm>
          <a:prstGeom prst="rect">
            <a:avLst/>
          </a:prstGeom>
          <a:noFill/>
          <a:ln/>
        </p:spPr>
        <p:txBody>
          <a:bodyPr wrap="none" lIns="0" tIns="0" rIns="0" bIns="0" rtlCol="0" anchor="t"/>
          <a:lstStyle/>
          <a:p>
            <a:pPr algn="l" indent="0" marL="0">
              <a:lnSpc>
                <a:spcPct val="123000"/>
              </a:lnSpc>
              <a:buNone/>
            </a:pPr>
            <a:r>
              <a:rPr lang="en-US" sz="1250" dirty="0">
                <a:solidFill>
                  <a:srgbClr val="E0D6DE"/>
                </a:solidFill>
                <a:latin typeface="Noto Sans" pitchFamily="34" charset="0"/>
                <a:ea typeface="Noto Sans" pitchFamily="34" charset="-122"/>
                <a:cs typeface="Noto Sans" pitchFamily="34" charset="-120"/>
              </a:rPr>
              <a:t>Good</a:t>
            </a:r>
            <a:endParaRPr lang="en-US" sz="1250" dirty="0"/>
          </a:p>
        </p:txBody>
      </p:sp>
      <p:sp>
        <p:nvSpPr>
          <p:cNvPr id="58" name="Text 56"/>
          <p:cNvSpPr/>
          <p:nvPr/>
        </p:nvSpPr>
        <p:spPr>
          <a:xfrm>
            <a:off x="8865172" y="5653980"/>
            <a:ext cx="1693225" cy="237728"/>
          </a:xfrm>
          <a:prstGeom prst="rect">
            <a:avLst/>
          </a:prstGeom>
          <a:noFill/>
          <a:ln/>
        </p:spPr>
        <p:txBody>
          <a:bodyPr wrap="none" lIns="0" tIns="0" rIns="0" bIns="0" rtlCol="0" anchor="t"/>
          <a:lstStyle/>
          <a:p>
            <a:pPr algn="l" indent="0" marL="0">
              <a:lnSpc>
                <a:spcPct val="123000"/>
              </a:lnSpc>
              <a:buNone/>
            </a:pPr>
            <a:r>
              <a:rPr lang="en-US" sz="1250" dirty="0">
                <a:solidFill>
                  <a:srgbClr val="E0D6DE"/>
                </a:solidFill>
                <a:latin typeface="Noto Sans" pitchFamily="34" charset="0"/>
                <a:ea typeface="Noto Sans" pitchFamily="34" charset="-122"/>
                <a:cs typeface="Noto Sans" pitchFamily="34" charset="-120"/>
              </a:rPr>
              <a:t>Low</a:t>
            </a:r>
            <a:endParaRPr lang="en-US" sz="12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661475" y="816471"/>
            <a:ext cx="682906" cy="186630"/>
          </a:xfrm>
          <a:prstGeom prst="roundRect">
            <a:avLst>
              <a:gd name="adj" fmla="val 7900"/>
            </a:avLst>
          </a:prstGeom>
          <a:noFill/>
          <a:ln w="6350">
            <a:solidFill>
              <a:srgbClr val="97B8FF"/>
            </a:solidFill>
            <a:prstDash val="solid"/>
          </a:ln>
        </p:spPr>
        <p:txBody>
          <a:bodyPr/>
          <a:p/>
        </p:txBody>
      </p:sp>
      <p:sp>
        <p:nvSpPr>
          <p:cNvPr id="3" name="Text 1"/>
          <p:cNvSpPr/>
          <p:nvPr/>
        </p:nvSpPr>
        <p:spPr>
          <a:xfrm>
            <a:off x="735093" y="853281"/>
            <a:ext cx="1145253" cy="113010"/>
          </a:xfrm>
          <a:prstGeom prst="rect">
            <a:avLst/>
          </a:prstGeom>
          <a:noFill/>
          <a:ln/>
        </p:spPr>
        <p:txBody>
          <a:bodyPr wrap="none" lIns="0" tIns="0" rIns="0" bIns="0" rtlCol="0" anchor="t"/>
          <a:lstStyle/>
          <a:p>
            <a:pPr algn="l" indent="0" marL="0">
              <a:lnSpc>
                <a:spcPct val="96000"/>
              </a:lnSpc>
              <a:buNone/>
            </a:pPr>
            <a:r>
              <a:rPr lang="en-US" sz="750" dirty="0">
                <a:solidFill>
                  <a:srgbClr val="97B8FF"/>
                </a:solidFill>
                <a:latin typeface="Noto Sans" pitchFamily="34" charset="0"/>
                <a:ea typeface="Noto Sans" pitchFamily="34" charset="-122"/>
                <a:cs typeface="Noto Sans" pitchFamily="34" charset="-120"/>
              </a:rPr>
              <a:t>OUTCOMES</a:t>
            </a:r>
            <a:endParaRPr lang="en-US" sz="750" dirty="0"/>
          </a:p>
        </p:txBody>
      </p:sp>
      <p:sp>
        <p:nvSpPr>
          <p:cNvPr id="4" name="Text 2"/>
          <p:cNvSpPr/>
          <p:nvPr/>
        </p:nvSpPr>
        <p:spPr>
          <a:xfrm>
            <a:off x="661475" y="1034951"/>
            <a:ext cx="10868745" cy="383977"/>
          </a:xfrm>
          <a:prstGeom prst="rect">
            <a:avLst/>
          </a:prstGeom>
          <a:noFill/>
          <a:ln/>
        </p:spPr>
        <p:txBody>
          <a:bodyPr wrap="none" lIns="0" tIns="0" rIns="0" bIns="0" rtlCol="0" anchor="t"/>
          <a:lstStyle/>
          <a:p>
            <a:pPr algn="l" indent="0" marL="0">
              <a:lnSpc>
                <a:spcPct val="104000"/>
              </a:lnSpc>
              <a:buNone/>
            </a:pPr>
            <a:r>
              <a:rPr lang="en-US" sz="2400" dirty="0">
                <a:solidFill>
                  <a:srgbClr val="97B8FF"/>
                </a:solidFill>
                <a:latin typeface="Sora Medium" pitchFamily="34" charset="0"/>
                <a:ea typeface="Sora Medium" pitchFamily="34" charset="-122"/>
                <a:cs typeface="Sora Medium" pitchFamily="34" charset="-120"/>
              </a:rPr>
              <a:t>Expected Outcomes</a:t>
            </a:r>
            <a:endParaRPr lang="en-US" sz="2400" dirty="0"/>
          </a:p>
        </p:txBody>
      </p:sp>
      <p:sp>
        <p:nvSpPr>
          <p:cNvPr id="5" name="Shape 3"/>
          <p:cNvSpPr/>
          <p:nvPr/>
        </p:nvSpPr>
        <p:spPr>
          <a:xfrm>
            <a:off x="661475" y="1538684"/>
            <a:ext cx="5394488" cy="1095871"/>
          </a:xfrm>
          <a:prstGeom prst="roundRect">
            <a:avLst>
              <a:gd name="adj" fmla="val 1682"/>
            </a:avLst>
          </a:prstGeom>
          <a:solidFill>
            <a:srgbClr val="26262B"/>
          </a:solidFill>
          <a:ln/>
        </p:spPr>
        <p:txBody>
          <a:bodyPr/>
          <a:p/>
        </p:txBody>
      </p:sp>
      <p:sp>
        <p:nvSpPr>
          <p:cNvPr id="6" name="Shape 4"/>
          <p:cNvSpPr/>
          <p:nvPr/>
        </p:nvSpPr>
        <p:spPr>
          <a:xfrm>
            <a:off x="784305" y="1661517"/>
            <a:ext cx="368489" cy="368498"/>
          </a:xfrm>
          <a:prstGeom prst="ellipse">
            <a:avLst/>
          </a:prstGeom>
          <a:solidFill>
            <a:srgbClr val="B380FF"/>
          </a:solidFill>
          <a:ln/>
        </p:spPr>
        <p:txBody>
          <a:bodyPr/>
          <a:p/>
        </p:txBody>
      </p:sp>
      <p:pic>
        <p:nvPicPr>
          <p:cNvPr id="7"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885604" y="1762820"/>
            <a:ext cx="165790" cy="165795"/>
          </a:xfrm>
          <a:prstGeom prst="rect">
            <a:avLst/>
          </a:prstGeom>
        </p:spPr>
      </p:pic>
      <p:sp>
        <p:nvSpPr>
          <p:cNvPr id="8" name="Text 5"/>
          <p:cNvSpPr/>
          <p:nvPr/>
        </p:nvSpPr>
        <p:spPr>
          <a:xfrm>
            <a:off x="784305" y="2109788"/>
            <a:ext cx="5148828" cy="191988"/>
          </a:xfrm>
          <a:prstGeom prst="rect">
            <a:avLst/>
          </a:prstGeom>
          <a:noFill/>
          <a:ln/>
        </p:spPr>
        <p:txBody>
          <a:bodyPr wrap="none" lIns="0" tIns="0" rIns="0" bIns="0" rtlCol="0" anchor="t"/>
          <a:lstStyle/>
          <a:p>
            <a:pPr algn="l" indent="0" marL="0">
              <a:lnSpc>
                <a:spcPct val="104000"/>
              </a:lnSpc>
              <a:buNone/>
            </a:pPr>
            <a:r>
              <a:rPr lang="en-US" sz="1200" dirty="0">
                <a:solidFill>
                  <a:srgbClr val="E0D6DE"/>
                </a:solidFill>
                <a:latin typeface="Sora Medium" pitchFamily="34" charset="0"/>
                <a:ea typeface="Sora Medium" pitchFamily="34" charset="-122"/>
                <a:cs typeface="Sora Medium" pitchFamily="34" charset="-120"/>
              </a:rPr>
              <a:t>Early Risk Detection</a:t>
            </a:r>
            <a:endParaRPr lang="en-US" sz="1200" dirty="0"/>
          </a:p>
        </p:txBody>
      </p:sp>
      <p:sp>
        <p:nvSpPr>
          <p:cNvPr id="9" name="Text 6"/>
          <p:cNvSpPr/>
          <p:nvPr/>
        </p:nvSpPr>
        <p:spPr>
          <a:xfrm>
            <a:off x="784305" y="2349599"/>
            <a:ext cx="5148828" cy="162123"/>
          </a:xfrm>
          <a:prstGeom prst="rect">
            <a:avLst/>
          </a:prstGeom>
          <a:noFill/>
          <a:ln/>
        </p:spPr>
        <p:txBody>
          <a:bodyPr wrap="none" lIns="0" tIns="0" rIns="0" bIns="0" rtlCol="0" anchor="t"/>
          <a:lstStyle/>
          <a:p>
            <a:pPr algn="l" indent="0" marL="0">
              <a:lnSpc>
                <a:spcPct val="110000"/>
              </a:lnSpc>
              <a:buNone/>
            </a:pPr>
            <a:r>
              <a:rPr lang="en-US" sz="950" dirty="0">
                <a:solidFill>
                  <a:srgbClr val="E0D6DE"/>
                </a:solidFill>
                <a:latin typeface="Noto Sans" pitchFamily="34" charset="0"/>
                <a:ea typeface="Noto Sans" pitchFamily="34" charset="-122"/>
                <a:cs typeface="Noto Sans" pitchFamily="34" charset="-120"/>
              </a:rPr>
              <a:t>Identify at-risk students before critical failure points</a:t>
            </a:r>
            <a:endParaRPr lang="en-US" sz="950" dirty="0"/>
          </a:p>
        </p:txBody>
      </p:sp>
      <p:sp>
        <p:nvSpPr>
          <p:cNvPr id="10" name="Shape 7"/>
          <p:cNvSpPr/>
          <p:nvPr/>
        </p:nvSpPr>
        <p:spPr>
          <a:xfrm>
            <a:off x="6135732" y="1538684"/>
            <a:ext cx="5394488" cy="1095871"/>
          </a:xfrm>
          <a:prstGeom prst="roundRect">
            <a:avLst>
              <a:gd name="adj" fmla="val 1682"/>
            </a:avLst>
          </a:prstGeom>
          <a:solidFill>
            <a:srgbClr val="26262B"/>
          </a:solidFill>
          <a:ln/>
        </p:spPr>
        <p:txBody>
          <a:bodyPr/>
          <a:p/>
        </p:txBody>
      </p:sp>
      <p:sp>
        <p:nvSpPr>
          <p:cNvPr id="11" name="Shape 8"/>
          <p:cNvSpPr/>
          <p:nvPr/>
        </p:nvSpPr>
        <p:spPr>
          <a:xfrm>
            <a:off x="6258562" y="1661517"/>
            <a:ext cx="368489" cy="368498"/>
          </a:xfrm>
          <a:prstGeom prst="ellipse">
            <a:avLst/>
          </a:prstGeom>
          <a:solidFill>
            <a:srgbClr val="B380FF"/>
          </a:solidFill>
          <a:ln/>
        </p:spPr>
        <p:txBody>
          <a:bodyPr/>
          <a:p/>
        </p:txBody>
      </p:sp>
      <p:pic>
        <p:nvPicPr>
          <p:cNvPr id="12"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359862" y="1762820"/>
            <a:ext cx="165790" cy="165795"/>
          </a:xfrm>
          <a:prstGeom prst="rect">
            <a:avLst/>
          </a:prstGeom>
        </p:spPr>
      </p:pic>
      <p:sp>
        <p:nvSpPr>
          <p:cNvPr id="13" name="Text 9"/>
          <p:cNvSpPr/>
          <p:nvPr/>
        </p:nvSpPr>
        <p:spPr>
          <a:xfrm>
            <a:off x="6258562" y="2109788"/>
            <a:ext cx="5148828" cy="191988"/>
          </a:xfrm>
          <a:prstGeom prst="rect">
            <a:avLst/>
          </a:prstGeom>
          <a:noFill/>
          <a:ln/>
        </p:spPr>
        <p:txBody>
          <a:bodyPr wrap="none" lIns="0" tIns="0" rIns="0" bIns="0" rtlCol="0" anchor="t"/>
          <a:lstStyle/>
          <a:p>
            <a:pPr algn="l" indent="0" marL="0">
              <a:lnSpc>
                <a:spcPct val="104000"/>
              </a:lnSpc>
              <a:buNone/>
            </a:pPr>
            <a:r>
              <a:rPr lang="en-US" sz="1200" dirty="0">
                <a:solidFill>
                  <a:srgbClr val="E0D6DE"/>
                </a:solidFill>
                <a:latin typeface="Sora Medium" pitchFamily="34" charset="0"/>
                <a:ea typeface="Sora Medium" pitchFamily="34" charset="-122"/>
                <a:cs typeface="Sora Medium" pitchFamily="34" charset="-120"/>
              </a:rPr>
              <a:t>High Prediction Accuracy</a:t>
            </a:r>
            <a:endParaRPr lang="en-US" sz="1200" dirty="0"/>
          </a:p>
        </p:txBody>
      </p:sp>
      <p:sp>
        <p:nvSpPr>
          <p:cNvPr id="14" name="Text 10"/>
          <p:cNvSpPr/>
          <p:nvPr/>
        </p:nvSpPr>
        <p:spPr>
          <a:xfrm>
            <a:off x="6258562" y="2349599"/>
            <a:ext cx="5148828" cy="162123"/>
          </a:xfrm>
          <a:prstGeom prst="rect">
            <a:avLst/>
          </a:prstGeom>
          <a:noFill/>
          <a:ln/>
        </p:spPr>
        <p:txBody>
          <a:bodyPr wrap="none" lIns="0" tIns="0" rIns="0" bIns="0" rtlCol="0" anchor="t"/>
          <a:lstStyle/>
          <a:p>
            <a:pPr algn="l" indent="0" marL="0">
              <a:lnSpc>
                <a:spcPct val="110000"/>
              </a:lnSpc>
              <a:buNone/>
            </a:pPr>
            <a:r>
              <a:rPr lang="en-US" sz="950" dirty="0">
                <a:solidFill>
                  <a:srgbClr val="E0D6DE"/>
                </a:solidFill>
                <a:latin typeface="Noto Sans" pitchFamily="34" charset="0"/>
                <a:ea typeface="Noto Sans" pitchFamily="34" charset="-122"/>
                <a:cs typeface="Noto Sans" pitchFamily="34" charset="-120"/>
              </a:rPr>
              <a:t>RF and XGBoost targeting 90%+ classification accuracy</a:t>
            </a:r>
            <a:endParaRPr lang="en-US" sz="950" dirty="0"/>
          </a:p>
        </p:txBody>
      </p:sp>
      <p:sp>
        <p:nvSpPr>
          <p:cNvPr id="15" name="Shape 11"/>
          <p:cNvSpPr/>
          <p:nvPr/>
        </p:nvSpPr>
        <p:spPr>
          <a:xfrm>
            <a:off x="661475" y="2714327"/>
            <a:ext cx="5394488" cy="1095871"/>
          </a:xfrm>
          <a:prstGeom prst="roundRect">
            <a:avLst>
              <a:gd name="adj" fmla="val 1682"/>
            </a:avLst>
          </a:prstGeom>
          <a:solidFill>
            <a:srgbClr val="26262B"/>
          </a:solidFill>
          <a:ln/>
        </p:spPr>
        <p:txBody>
          <a:bodyPr/>
          <a:p/>
        </p:txBody>
      </p:sp>
      <p:sp>
        <p:nvSpPr>
          <p:cNvPr id="16" name="Shape 12"/>
          <p:cNvSpPr/>
          <p:nvPr/>
        </p:nvSpPr>
        <p:spPr>
          <a:xfrm>
            <a:off x="784305" y="2837160"/>
            <a:ext cx="368489" cy="368498"/>
          </a:xfrm>
          <a:prstGeom prst="ellipse">
            <a:avLst/>
          </a:prstGeom>
          <a:solidFill>
            <a:srgbClr val="B380FF"/>
          </a:solidFill>
          <a:ln/>
        </p:spPr>
        <p:txBody>
          <a:bodyPr/>
          <a:p/>
        </p:txBody>
      </p:sp>
      <p:pic>
        <p:nvPicPr>
          <p:cNvPr id="17"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85604" y="2938463"/>
            <a:ext cx="165790" cy="165795"/>
          </a:xfrm>
          <a:prstGeom prst="rect">
            <a:avLst/>
          </a:prstGeom>
        </p:spPr>
      </p:pic>
      <p:sp>
        <p:nvSpPr>
          <p:cNvPr id="18" name="Text 13"/>
          <p:cNvSpPr/>
          <p:nvPr/>
        </p:nvSpPr>
        <p:spPr>
          <a:xfrm>
            <a:off x="784305" y="3285430"/>
            <a:ext cx="5148828" cy="191988"/>
          </a:xfrm>
          <a:prstGeom prst="rect">
            <a:avLst/>
          </a:prstGeom>
          <a:noFill/>
          <a:ln/>
        </p:spPr>
        <p:txBody>
          <a:bodyPr wrap="none" lIns="0" tIns="0" rIns="0" bIns="0" rtlCol="0" anchor="t"/>
          <a:lstStyle/>
          <a:p>
            <a:pPr algn="l" indent="0" marL="0">
              <a:lnSpc>
                <a:spcPct val="104000"/>
              </a:lnSpc>
              <a:buNone/>
            </a:pPr>
            <a:r>
              <a:rPr lang="en-US" sz="1200" dirty="0">
                <a:solidFill>
                  <a:srgbClr val="E0D6DE"/>
                </a:solidFill>
                <a:latin typeface="Sora Medium" pitchFamily="34" charset="0"/>
                <a:ea typeface="Sora Medium" pitchFamily="34" charset="-122"/>
                <a:cs typeface="Sora Medium" pitchFamily="34" charset="-120"/>
              </a:rPr>
              <a:t>Explainable Predictions</a:t>
            </a:r>
            <a:endParaRPr lang="en-US" sz="1200" dirty="0"/>
          </a:p>
        </p:txBody>
      </p:sp>
      <p:sp>
        <p:nvSpPr>
          <p:cNvPr id="19" name="Text 14"/>
          <p:cNvSpPr/>
          <p:nvPr/>
        </p:nvSpPr>
        <p:spPr>
          <a:xfrm>
            <a:off x="784305" y="3525242"/>
            <a:ext cx="5148828" cy="162123"/>
          </a:xfrm>
          <a:prstGeom prst="rect">
            <a:avLst/>
          </a:prstGeom>
          <a:noFill/>
          <a:ln/>
        </p:spPr>
        <p:txBody>
          <a:bodyPr wrap="none" lIns="0" tIns="0" rIns="0" bIns="0" rtlCol="0" anchor="t"/>
          <a:lstStyle/>
          <a:p>
            <a:pPr algn="l" indent="0" marL="0">
              <a:lnSpc>
                <a:spcPct val="110000"/>
              </a:lnSpc>
              <a:buNone/>
            </a:pPr>
            <a:r>
              <a:rPr lang="en-US" sz="950" dirty="0">
                <a:solidFill>
                  <a:srgbClr val="E0D6DE"/>
                </a:solidFill>
                <a:latin typeface="Noto Sans" pitchFamily="34" charset="0"/>
                <a:ea typeface="Noto Sans" pitchFamily="34" charset="-122"/>
                <a:cs typeface="Noto Sans" pitchFamily="34" charset="-120"/>
              </a:rPr>
              <a:t>SHAP values providing transparent, interpretable model outputs</a:t>
            </a:r>
            <a:endParaRPr lang="en-US" sz="950" dirty="0"/>
          </a:p>
        </p:txBody>
      </p:sp>
      <p:sp>
        <p:nvSpPr>
          <p:cNvPr id="20" name="Shape 15"/>
          <p:cNvSpPr/>
          <p:nvPr/>
        </p:nvSpPr>
        <p:spPr>
          <a:xfrm>
            <a:off x="6135732" y="2714327"/>
            <a:ext cx="5394488" cy="1095871"/>
          </a:xfrm>
          <a:prstGeom prst="roundRect">
            <a:avLst>
              <a:gd name="adj" fmla="val 1682"/>
            </a:avLst>
          </a:prstGeom>
          <a:solidFill>
            <a:srgbClr val="26262B"/>
          </a:solidFill>
          <a:ln/>
        </p:spPr>
        <p:txBody>
          <a:bodyPr/>
          <a:p/>
        </p:txBody>
      </p:sp>
      <p:sp>
        <p:nvSpPr>
          <p:cNvPr id="21" name="Shape 16"/>
          <p:cNvSpPr/>
          <p:nvPr/>
        </p:nvSpPr>
        <p:spPr>
          <a:xfrm>
            <a:off x="6258562" y="2837160"/>
            <a:ext cx="368489" cy="368498"/>
          </a:xfrm>
          <a:prstGeom prst="ellipse">
            <a:avLst/>
          </a:prstGeom>
          <a:solidFill>
            <a:srgbClr val="B380FF"/>
          </a:solidFill>
          <a:ln/>
        </p:spPr>
        <p:txBody>
          <a:bodyPr/>
          <a:p/>
        </p:txBody>
      </p:sp>
      <p:pic>
        <p:nvPicPr>
          <p:cNvPr id="22"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6359862" y="2938463"/>
            <a:ext cx="165790" cy="165795"/>
          </a:xfrm>
          <a:prstGeom prst="rect">
            <a:avLst/>
          </a:prstGeom>
        </p:spPr>
      </p:pic>
      <p:sp>
        <p:nvSpPr>
          <p:cNvPr id="23" name="Text 17"/>
          <p:cNvSpPr/>
          <p:nvPr/>
        </p:nvSpPr>
        <p:spPr>
          <a:xfrm>
            <a:off x="6258562" y="3285430"/>
            <a:ext cx="5148828" cy="191988"/>
          </a:xfrm>
          <a:prstGeom prst="rect">
            <a:avLst/>
          </a:prstGeom>
          <a:noFill/>
          <a:ln/>
        </p:spPr>
        <p:txBody>
          <a:bodyPr wrap="none" lIns="0" tIns="0" rIns="0" bIns="0" rtlCol="0" anchor="t"/>
          <a:lstStyle/>
          <a:p>
            <a:pPr algn="l" indent="0" marL="0">
              <a:lnSpc>
                <a:spcPct val="104000"/>
              </a:lnSpc>
              <a:buNone/>
            </a:pPr>
            <a:r>
              <a:rPr lang="en-US" sz="1200" dirty="0">
                <a:solidFill>
                  <a:srgbClr val="E0D6DE"/>
                </a:solidFill>
                <a:latin typeface="Sora Medium" pitchFamily="34" charset="0"/>
                <a:ea typeface="Sora Medium" pitchFamily="34" charset="-122"/>
                <a:cs typeface="Sora Medium" pitchFamily="34" charset="-120"/>
              </a:rPr>
              <a:t>Personalized Recommendations</a:t>
            </a:r>
            <a:endParaRPr lang="en-US" sz="1200" dirty="0"/>
          </a:p>
        </p:txBody>
      </p:sp>
      <p:sp>
        <p:nvSpPr>
          <p:cNvPr id="24" name="Text 18"/>
          <p:cNvSpPr/>
          <p:nvPr/>
        </p:nvSpPr>
        <p:spPr>
          <a:xfrm>
            <a:off x="6258562" y="3525242"/>
            <a:ext cx="5148828" cy="162123"/>
          </a:xfrm>
          <a:prstGeom prst="rect">
            <a:avLst/>
          </a:prstGeom>
          <a:noFill/>
          <a:ln/>
        </p:spPr>
        <p:txBody>
          <a:bodyPr wrap="none" lIns="0" tIns="0" rIns="0" bIns="0" rtlCol="0" anchor="t"/>
          <a:lstStyle/>
          <a:p>
            <a:pPr algn="l" indent="0" marL="0">
              <a:lnSpc>
                <a:spcPct val="110000"/>
              </a:lnSpc>
              <a:buNone/>
            </a:pPr>
            <a:r>
              <a:rPr lang="en-US" sz="950" dirty="0">
                <a:solidFill>
                  <a:srgbClr val="E0D6DE"/>
                </a:solidFill>
                <a:latin typeface="Noto Sans" pitchFamily="34" charset="0"/>
                <a:ea typeface="Noto Sans" pitchFamily="34" charset="-122"/>
                <a:cs typeface="Noto Sans" pitchFamily="34" charset="-120"/>
              </a:rPr>
              <a:t>Actionable, student-specific improvement suggestions</a:t>
            </a:r>
            <a:endParaRPr lang="en-US" sz="950" dirty="0"/>
          </a:p>
        </p:txBody>
      </p:sp>
      <p:sp>
        <p:nvSpPr>
          <p:cNvPr id="25" name="Shape 19"/>
          <p:cNvSpPr/>
          <p:nvPr/>
        </p:nvSpPr>
        <p:spPr>
          <a:xfrm>
            <a:off x="661475" y="3889970"/>
            <a:ext cx="5394488" cy="1095871"/>
          </a:xfrm>
          <a:prstGeom prst="roundRect">
            <a:avLst>
              <a:gd name="adj" fmla="val 1682"/>
            </a:avLst>
          </a:prstGeom>
          <a:solidFill>
            <a:srgbClr val="26262B"/>
          </a:solidFill>
          <a:ln/>
        </p:spPr>
        <p:txBody>
          <a:bodyPr/>
          <a:p/>
        </p:txBody>
      </p:sp>
      <p:sp>
        <p:nvSpPr>
          <p:cNvPr id="26" name="Shape 20"/>
          <p:cNvSpPr/>
          <p:nvPr/>
        </p:nvSpPr>
        <p:spPr>
          <a:xfrm>
            <a:off x="784305" y="4012803"/>
            <a:ext cx="368489" cy="368498"/>
          </a:xfrm>
          <a:prstGeom prst="ellipse">
            <a:avLst/>
          </a:prstGeom>
          <a:solidFill>
            <a:srgbClr val="B380FF"/>
          </a:solidFill>
          <a:ln/>
        </p:spPr>
        <p:txBody>
          <a:bodyPr/>
          <a:p/>
        </p:txBody>
      </p:sp>
      <p:pic>
        <p:nvPicPr>
          <p:cNvPr id="27" name="Image 4" descr="preencoded.png">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885604" y="4114105"/>
            <a:ext cx="165790" cy="165795"/>
          </a:xfrm>
          <a:prstGeom prst="rect">
            <a:avLst/>
          </a:prstGeom>
        </p:spPr>
      </p:pic>
      <p:sp>
        <p:nvSpPr>
          <p:cNvPr id="28" name="Text 21"/>
          <p:cNvSpPr/>
          <p:nvPr/>
        </p:nvSpPr>
        <p:spPr>
          <a:xfrm>
            <a:off x="784305" y="4461073"/>
            <a:ext cx="5148828" cy="191988"/>
          </a:xfrm>
          <a:prstGeom prst="rect">
            <a:avLst/>
          </a:prstGeom>
          <a:noFill/>
          <a:ln/>
        </p:spPr>
        <p:txBody>
          <a:bodyPr wrap="none" lIns="0" tIns="0" rIns="0" bIns="0" rtlCol="0" anchor="t"/>
          <a:lstStyle/>
          <a:p>
            <a:pPr algn="l" indent="0" marL="0">
              <a:lnSpc>
                <a:spcPct val="104000"/>
              </a:lnSpc>
              <a:buNone/>
            </a:pPr>
            <a:r>
              <a:rPr lang="en-US" sz="1200" dirty="0">
                <a:solidFill>
                  <a:srgbClr val="E0D6DE"/>
                </a:solidFill>
                <a:latin typeface="Sora Medium" pitchFamily="34" charset="0"/>
                <a:ea typeface="Sora Medium" pitchFamily="34" charset="-122"/>
                <a:cs typeface="Sora Medium" pitchFamily="34" charset="-120"/>
              </a:rPr>
              <a:t>REST API Deployment</a:t>
            </a:r>
            <a:endParaRPr lang="en-US" sz="1200" dirty="0"/>
          </a:p>
        </p:txBody>
      </p:sp>
      <p:sp>
        <p:nvSpPr>
          <p:cNvPr id="29" name="Text 22"/>
          <p:cNvSpPr/>
          <p:nvPr/>
        </p:nvSpPr>
        <p:spPr>
          <a:xfrm>
            <a:off x="784305" y="4700885"/>
            <a:ext cx="5148828" cy="162123"/>
          </a:xfrm>
          <a:prstGeom prst="rect">
            <a:avLst/>
          </a:prstGeom>
          <a:noFill/>
          <a:ln/>
        </p:spPr>
        <p:txBody>
          <a:bodyPr wrap="none" lIns="0" tIns="0" rIns="0" bIns="0" rtlCol="0" anchor="t"/>
          <a:lstStyle/>
          <a:p>
            <a:pPr algn="l" indent="0" marL="0">
              <a:lnSpc>
                <a:spcPct val="110000"/>
              </a:lnSpc>
              <a:buNone/>
            </a:pPr>
            <a:r>
              <a:rPr lang="en-US" sz="950" dirty="0">
                <a:solidFill>
                  <a:srgbClr val="E0D6DE"/>
                </a:solidFill>
                <a:latin typeface="Noto Sans" pitchFamily="34" charset="0"/>
                <a:ea typeface="Noto Sans" pitchFamily="34" charset="-122"/>
                <a:cs typeface="Noto Sans" pitchFamily="34" charset="-120"/>
              </a:rPr>
              <a:t>FastAPI-based real-time inference with scalable architecture</a:t>
            </a:r>
            <a:endParaRPr lang="en-US" sz="950" dirty="0"/>
          </a:p>
        </p:txBody>
      </p:sp>
      <p:sp>
        <p:nvSpPr>
          <p:cNvPr id="30" name="Shape 23"/>
          <p:cNvSpPr/>
          <p:nvPr/>
        </p:nvSpPr>
        <p:spPr>
          <a:xfrm>
            <a:off x="6135732" y="3889970"/>
            <a:ext cx="5394488" cy="1095871"/>
          </a:xfrm>
          <a:prstGeom prst="roundRect">
            <a:avLst>
              <a:gd name="adj" fmla="val 1682"/>
            </a:avLst>
          </a:prstGeom>
          <a:solidFill>
            <a:srgbClr val="26262B"/>
          </a:solidFill>
          <a:ln/>
        </p:spPr>
        <p:txBody>
          <a:bodyPr/>
          <a:p/>
        </p:txBody>
      </p:sp>
      <p:sp>
        <p:nvSpPr>
          <p:cNvPr id="31" name="Shape 24"/>
          <p:cNvSpPr/>
          <p:nvPr/>
        </p:nvSpPr>
        <p:spPr>
          <a:xfrm>
            <a:off x="6258562" y="4012803"/>
            <a:ext cx="368489" cy="368498"/>
          </a:xfrm>
          <a:prstGeom prst="ellipse">
            <a:avLst/>
          </a:prstGeom>
          <a:solidFill>
            <a:srgbClr val="B380FF"/>
          </a:solidFill>
          <a:ln/>
        </p:spPr>
        <p:txBody>
          <a:bodyPr/>
          <a:p/>
        </p:txBody>
      </p:sp>
      <p:pic>
        <p:nvPicPr>
          <p:cNvPr id="32" name="Image 5" descr="preencoded.png">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6359862" y="4114105"/>
            <a:ext cx="165790" cy="165795"/>
          </a:xfrm>
          <a:prstGeom prst="rect">
            <a:avLst/>
          </a:prstGeom>
        </p:spPr>
      </p:pic>
      <p:sp>
        <p:nvSpPr>
          <p:cNvPr id="33" name="Text 25"/>
          <p:cNvSpPr/>
          <p:nvPr/>
        </p:nvSpPr>
        <p:spPr>
          <a:xfrm>
            <a:off x="6258562" y="4461073"/>
            <a:ext cx="5148828" cy="191988"/>
          </a:xfrm>
          <a:prstGeom prst="rect">
            <a:avLst/>
          </a:prstGeom>
          <a:noFill/>
          <a:ln/>
        </p:spPr>
        <p:txBody>
          <a:bodyPr wrap="none" lIns="0" tIns="0" rIns="0" bIns="0" rtlCol="0" anchor="t"/>
          <a:lstStyle/>
          <a:p>
            <a:pPr algn="l" indent="0" marL="0">
              <a:lnSpc>
                <a:spcPct val="104000"/>
              </a:lnSpc>
              <a:buNone/>
            </a:pPr>
            <a:r>
              <a:rPr lang="en-US" sz="1200" dirty="0">
                <a:solidFill>
                  <a:srgbClr val="E0D6DE"/>
                </a:solidFill>
                <a:latin typeface="Sora Medium" pitchFamily="34" charset="0"/>
                <a:ea typeface="Sora Medium" pitchFamily="34" charset="-122"/>
                <a:cs typeface="Sora Medium" pitchFamily="34" charset="-120"/>
              </a:rPr>
              <a:t>Automated MLOps Pipeline</a:t>
            </a:r>
            <a:endParaRPr lang="en-US" sz="1200" dirty="0"/>
          </a:p>
        </p:txBody>
      </p:sp>
      <p:sp>
        <p:nvSpPr>
          <p:cNvPr id="34" name="Text 26"/>
          <p:cNvSpPr/>
          <p:nvPr/>
        </p:nvSpPr>
        <p:spPr>
          <a:xfrm>
            <a:off x="6258562" y="4700885"/>
            <a:ext cx="5148828" cy="162123"/>
          </a:xfrm>
          <a:prstGeom prst="rect">
            <a:avLst/>
          </a:prstGeom>
          <a:noFill/>
          <a:ln/>
        </p:spPr>
        <p:txBody>
          <a:bodyPr wrap="none" lIns="0" tIns="0" rIns="0" bIns="0" rtlCol="0" anchor="t"/>
          <a:lstStyle/>
          <a:p>
            <a:pPr algn="l" indent="0" marL="0">
              <a:lnSpc>
                <a:spcPct val="110000"/>
              </a:lnSpc>
              <a:buNone/>
            </a:pPr>
            <a:r>
              <a:rPr lang="en-US" sz="950" dirty="0">
                <a:solidFill>
                  <a:srgbClr val="E0D6DE"/>
                </a:solidFill>
                <a:latin typeface="Noto Sans" pitchFamily="34" charset="0"/>
                <a:ea typeface="Noto Sans" pitchFamily="34" charset="-122"/>
                <a:cs typeface="Noto Sans" pitchFamily="34" charset="-120"/>
              </a:rPr>
              <a:t>Continuous monitoring, drift detection, and automatic retraining</a:t>
            </a:r>
            <a:endParaRPr lang="en-US" sz="950" dirty="0"/>
          </a:p>
        </p:txBody>
      </p:sp>
      <p:sp>
        <p:nvSpPr>
          <p:cNvPr id="35" name="Shape 27"/>
          <p:cNvSpPr/>
          <p:nvPr/>
        </p:nvSpPr>
        <p:spPr>
          <a:xfrm>
            <a:off x="661475" y="5075634"/>
            <a:ext cx="10868745" cy="375047"/>
          </a:xfrm>
          <a:prstGeom prst="roundRect">
            <a:avLst>
              <a:gd name="adj" fmla="val 4914"/>
            </a:avLst>
          </a:prstGeom>
          <a:solidFill>
            <a:srgbClr val="183A13"/>
          </a:solidFill>
          <a:ln/>
        </p:spPr>
        <p:txBody>
          <a:bodyPr/>
          <a:p/>
        </p:txBody>
      </p:sp>
      <p:pic>
        <p:nvPicPr>
          <p:cNvPr id="36" name="Image 6" descr="preencoded.png">    </p:cNvPr>
          <p:cNvPicPr>
            <a:picLocks noChangeAspect="1"/>
          </p:cNvPicPr>
          <p:nvPr/>
        </p:nvPicPr>
        <p:blipFill>
          <a:blip r:embed="rId13"/>
          <a:stretch>
            <a:fillRect/>
          </a:stretch>
        </p:blipFill>
        <p:spPr>
          <a:xfrm>
            <a:off x="784305" y="5235873"/>
            <a:ext cx="153488" cy="122833"/>
          </a:xfrm>
          <a:prstGeom prst="rect">
            <a:avLst/>
          </a:prstGeom>
        </p:spPr>
      </p:pic>
      <p:sp>
        <p:nvSpPr>
          <p:cNvPr id="37" name="Text 28"/>
          <p:cNvSpPr/>
          <p:nvPr/>
        </p:nvSpPr>
        <p:spPr>
          <a:xfrm>
            <a:off x="1060622" y="5186065"/>
            <a:ext cx="10956353" cy="162123"/>
          </a:xfrm>
          <a:prstGeom prst="rect">
            <a:avLst/>
          </a:prstGeom>
          <a:noFill/>
          <a:ln/>
        </p:spPr>
        <p:txBody>
          <a:bodyPr wrap="none" lIns="0" tIns="0" rIns="0" bIns="0" rtlCol="0" anchor="t"/>
          <a:lstStyle/>
          <a:p>
            <a:pPr algn="l" indent="0" marL="0">
              <a:lnSpc>
                <a:spcPct val="110000"/>
              </a:lnSpc>
              <a:buNone/>
            </a:pPr>
            <a:r>
              <a:rPr lang="en-US" sz="950" dirty="0">
                <a:solidFill>
                  <a:srgbClr val="FFFFFF"/>
                </a:solidFill>
                <a:latin typeface="Noto Sans" pitchFamily="34" charset="0"/>
                <a:ea typeface="Noto Sans" pitchFamily="34" charset="-122"/>
                <a:cs typeface="Noto Sans" pitchFamily="34" charset="-120"/>
              </a:rPr>
              <a:t>Expected impact: Reduced dropout rates, improved academic performance, and a scalable ML engineering pipeline for educational institutions.</a:t>
            </a:r>
            <a:endParaRPr lang="en-US" sz="950" dirty="0"/>
          </a:p>
        </p:txBody>
      </p:sp>
      <p:sp>
        <p:nvSpPr>
          <p:cNvPr id="38" name="Shape 29"/>
          <p:cNvSpPr/>
          <p:nvPr/>
        </p:nvSpPr>
        <p:spPr>
          <a:xfrm>
            <a:off x="661475" y="5571133"/>
            <a:ext cx="10868745" cy="12700"/>
          </a:xfrm>
          <a:prstGeom prst="roundRect">
            <a:avLst>
              <a:gd name="adj" fmla="val 49999"/>
            </a:avLst>
          </a:prstGeom>
          <a:solidFill>
            <a:srgbClr val="E0D6DE">
              <a:alpha val="50000"/>
            </a:srgbClr>
          </a:solidFill>
          <a:ln/>
        </p:spPr>
        <p:txBody>
          <a:bodyPr/>
          <a:p/>
        </p:txBody>
      </p:sp>
      <p:sp>
        <p:nvSpPr>
          <p:cNvPr id="39" name="Text 30"/>
          <p:cNvSpPr/>
          <p:nvPr/>
        </p:nvSpPr>
        <p:spPr>
          <a:xfrm>
            <a:off x="661475" y="5734248"/>
            <a:ext cx="10868745" cy="307181"/>
          </a:xfrm>
          <a:prstGeom prst="rect">
            <a:avLst/>
          </a:prstGeom>
          <a:noFill/>
          <a:ln/>
        </p:spPr>
        <p:txBody>
          <a:bodyPr wrap="none" lIns="0" tIns="0" rIns="0" bIns="0" rtlCol="0" anchor="t"/>
          <a:lstStyle/>
          <a:p>
            <a:pPr algn="l" indent="0" marL="0">
              <a:lnSpc>
                <a:spcPct val="104000"/>
              </a:lnSpc>
              <a:buNone/>
            </a:pPr>
            <a:endParaRPr lang="en-US" sz="1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2026-08-05T16:13:58Z</dcterms:created>
  <dcterms:modified xsi:type="dcterms:W3CDTF">2026-08-05T16:13:58Z</dcterms:modified>
</cp:coreProperties>
</file>